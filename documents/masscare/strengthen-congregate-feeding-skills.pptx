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ppt/comments/modernComment_108_CBE0564C.xml" ContentType="application/vnd.ms-powerpoint.comments+xml"/>
  <Override PartName="/ppt/comments/modernComment_109_90E61B40.xml" ContentType="application/vnd.ms-powerpoint.comments+xml"/>
  <Override PartName="/ppt/comments/modernComment_104_F23743DD.xml" ContentType="application/vnd.ms-powerpoint.comments+xml"/>
  <Override PartName="/ppt/comments/modernComment_105_2E09EBCA.xml" ContentType="application/vnd.ms-powerpoint.comment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57" r:id="rId3"/>
    <p:sldId id="272" r:id="rId4"/>
    <p:sldId id="273" r:id="rId5"/>
    <p:sldId id="285" r:id="rId6"/>
    <p:sldId id="275" r:id="rId7"/>
    <p:sldId id="274" r:id="rId8"/>
    <p:sldId id="276" r:id="rId9"/>
    <p:sldId id="281" r:id="rId10"/>
    <p:sldId id="269" r:id="rId11"/>
    <p:sldId id="266" r:id="rId12"/>
    <p:sldId id="282" r:id="rId13"/>
    <p:sldId id="283" r:id="rId14"/>
    <p:sldId id="268" r:id="rId15"/>
    <p:sldId id="270" r:id="rId16"/>
    <p:sldId id="280" r:id="rId17"/>
    <p:sldId id="279" r:id="rId18"/>
    <p:sldId id="271" r:id="rId19"/>
    <p:sldId id="264" r:id="rId20"/>
    <p:sldId id="265" r:id="rId21"/>
    <p:sldId id="260" r:id="rId22"/>
    <p:sldId id="261" r:id="rId23"/>
    <p:sldId id="284" r:id="rId24"/>
    <p:sldId id="262" r:id="rId25"/>
  </p:sldIdLst>
  <p:sldSz cx="9144000" cy="6858000" type="screen4x3"/>
  <p:notesSz cx="6950075"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B1F01E-6189-7C05-AEDA-5A5517826A99}" name="Hughes, Joe" initials="JH" userId="S::joe.hughes@redcross.org::47dd5502-5a9f-47ae-b22c-7f774bf1e93a" providerId="AD"/>
  <p188:author id="{8D582343-9D6C-3DA1-C256-34C9ED7DE64A}" name="Barbara Kelley" initials="BK" userId="9f767c666373623c" providerId="Windows Live"/>
  <p188:author id="{56BA30E9-E4A6-DA7B-2D7E-0F78EE5BD32B}" name="Heard, Dianne" initials="HD" userId="S::dianne.heard@redcross.org::54110ac5-003b-4754-a00c-dd7143257a5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27820"/>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896"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comments/modernComment_104_F23743DD.xml><?xml version="1.0" encoding="utf-8"?>
<p188:cmLst xmlns:a="http://schemas.openxmlformats.org/drawingml/2006/main" xmlns:r="http://schemas.openxmlformats.org/officeDocument/2006/relationships" xmlns:p188="http://schemas.microsoft.com/office/powerpoint/2018/8/main">
  <p188:cm id="{49E65EAB-51E5-405B-B479-D21291D2BF8E}" authorId="{C7B1F01E-6189-7C05-AEDA-5A5517826A99}" created="2025-08-31T14:40:41.454">
    <pc:sldMkLst xmlns:pc="http://schemas.microsoft.com/office/powerpoint/2013/main/command">
      <pc:docMk/>
      <pc:sldMk cId="4063708125" sldId="260"/>
    </pc:sldMkLst>
    <p188:txBody>
      <a:bodyPr/>
      <a:lstStyle/>
      <a:p>
        <a:r>
          <a:rPr lang="en-US"/>
          <a:t>Update as needed</a:t>
        </a:r>
      </a:p>
    </p188:txBody>
  </p188:cm>
  <p188:cm id="{7D76C060-5CED-4DF3-9144-8A97208EB969}" authorId="{56BA30E9-E4A6-DA7B-2D7E-0F78EE5BD32B}" created="2025-10-22T02:44:15.037">
    <pc:sldMkLst xmlns:pc="http://schemas.microsoft.com/office/powerpoint/2013/main/command">
      <pc:docMk/>
      <pc:sldMk cId="4063708125" sldId="260"/>
    </pc:sldMkLst>
    <p188:txBody>
      <a:bodyPr/>
      <a:lstStyle/>
      <a:p>
        <a:r>
          <a:rPr lang="en-US"/>
          <a:t>Missing temp'ing the food
Need to at least sweep floors, whether or not covered
Cooler - drinks should NEVER have tops below the ice/water line due to safety. It's best when possible to 'serve' from the cooler instead of self-serve.
Note that for large DRs with kitchens, should receive serving size instructions with the food. Spoodles are specific sizes for portion sizing.</a:t>
        </a:r>
      </a:p>
    </p188:txBody>
  </p188:cm>
</p188:cmLst>
</file>

<file path=ppt/comments/modernComment_105_2E09EBCA.xml><?xml version="1.0" encoding="utf-8"?>
<p188:cmLst xmlns:a="http://schemas.openxmlformats.org/drawingml/2006/main" xmlns:r="http://schemas.openxmlformats.org/officeDocument/2006/relationships" xmlns:p188="http://schemas.microsoft.com/office/powerpoint/2018/8/main">
  <p188:cm id="{382F5AEE-9ACC-46DA-B328-09CD6FA1D9CB}" authorId="{C7B1F01E-6189-7C05-AEDA-5A5517826A99}" created="2025-08-31T14:45:33.784">
    <pc:sldMkLst xmlns:pc="http://schemas.microsoft.com/office/powerpoint/2013/main/command">
      <pc:docMk/>
      <pc:sldMk cId="772402122" sldId="261"/>
    </pc:sldMkLst>
    <p188:txBody>
      <a:bodyPr/>
      <a:lstStyle/>
      <a:p>
        <a:r>
          <a:rPr lang="en-US"/>
          <a:t>Update as needed</a:t>
        </a:r>
      </a:p>
    </p188:txBody>
  </p188:cm>
  <p188:cm id="{342ED558-9426-4886-AAB0-768E2C4BE523}" authorId="{56BA30E9-E4A6-DA7B-2D7E-0F78EE5BD32B}" created="2025-10-22T03:06:51.507">
    <ac:txMkLst xmlns:ac="http://schemas.microsoft.com/office/drawing/2013/main/command">
      <pc:docMk xmlns:pc="http://schemas.microsoft.com/office/powerpoint/2013/main/command"/>
      <pc:sldMk xmlns:pc="http://schemas.microsoft.com/office/powerpoint/2013/main/command" cId="772402122" sldId="261"/>
      <ac:spMk id="3" creationId="{045E8188-638A-BD02-24BA-9BC355D64D25}"/>
      <ac:txMk cp="66">
        <ac:context len="989" hash="2303771436"/>
      </ac:txMk>
    </ac:txMkLst>
    <p188:pos x="5121519" y="219807"/>
    <p188:txBody>
      <a:bodyPr/>
      <a:lstStyle/>
      <a:p>
        <a:r>
          <a:rPr lang="en-US"/>
          <a:t>Frequently drinks are not on ice. This is extra weight and storage space. We do not have large coolers for the ERV, as that's not standard.</a:t>
        </a:r>
      </a:p>
    </p188:txBody>
  </p188:cm>
  <p188:cm id="{F4C3C3F5-D644-431B-975F-1B849CA246B1}" authorId="{56BA30E9-E4A6-DA7B-2D7E-0F78EE5BD32B}" created="2025-10-22T03:08:18.293">
    <ac:deMkLst xmlns:ac="http://schemas.microsoft.com/office/drawing/2013/main/command">
      <pc:docMk xmlns:pc="http://schemas.microsoft.com/office/powerpoint/2013/main/command"/>
      <pc:sldMk xmlns:pc="http://schemas.microsoft.com/office/powerpoint/2013/main/command" cId="772402122" sldId="261"/>
      <ac:spMk id="3" creationId="{045E8188-638A-BD02-24BA-9BC355D64D25}"/>
    </ac:deMkLst>
    <p188:txBody>
      <a:bodyPr/>
      <a:lstStyle/>
      <a:p>
        <a:r>
          <a:rPr lang="en-US"/>
          <a:t>Added blurb to confer with feeding lead on remaining food, as there are multiple factors in play for if it is trashed or can be used elsewhere.</a:t>
        </a:r>
      </a:p>
    </p188:txBody>
  </p188:cm>
</p188:cmLst>
</file>

<file path=ppt/comments/modernComment_108_CBE0564C.xml><?xml version="1.0" encoding="utf-8"?>
<p188:cmLst xmlns:a="http://schemas.openxmlformats.org/drawingml/2006/main" xmlns:r="http://schemas.openxmlformats.org/officeDocument/2006/relationships" xmlns:p188="http://schemas.microsoft.com/office/powerpoint/2018/8/main">
  <p188:cm id="{3A87E4DA-B7CC-4849-B53C-B5F7374354A5}" authorId="{C7B1F01E-6189-7C05-AEDA-5A5517826A99}" created="2025-09-21T20:11:38.231">
    <ac:txMkLst xmlns:ac="http://schemas.microsoft.com/office/drawing/2013/main/command">
      <pc:docMk xmlns:pc="http://schemas.microsoft.com/office/powerpoint/2013/main/command"/>
      <pc:sldMk xmlns:pc="http://schemas.microsoft.com/office/powerpoint/2013/main/command" cId="3420477004" sldId="264"/>
      <ac:spMk id="2" creationId="{B0EA6027-0170-6562-130F-402AD3A6FE3D}"/>
      <ac:txMk cp="0" len="31">
        <ac:context len="32" hash="1998266759"/>
      </ac:txMk>
    </ac:txMkLst>
    <p188:pos x="7491768" y="685752"/>
    <p188:replyLst>
      <p188:reply id="{4DF412C9-2C5B-4F4A-B8AA-F5997C6B7900}" authorId="{C7B1F01E-6189-7C05-AEDA-5A5517826A99}" created="2025-10-22T12:45:21.070">
        <p188:txBody>
          <a:bodyPr/>
          <a:lstStyle/>
          <a:p>
            <a:r>
              <a:rPr lang="en-US"/>
              <a:t>Slide 18 &amp; 19 came from Feeding Procedure documents</a:t>
            </a:r>
          </a:p>
        </p188:txBody>
      </p188:reply>
    </p188:replyLst>
    <p188:txBody>
      <a:bodyPr/>
      <a:lstStyle/>
      <a:p>
        <a:r>
          <a:rPr lang="en-US"/>
          <a:t>Joe Hughes to present</a:t>
        </a:r>
      </a:p>
    </p188:txBody>
  </p188:cm>
  <p188:cm id="{075F6286-6554-4202-B29A-C2A2EA526048}" authorId="{56BA30E9-E4A6-DA7B-2D7E-0F78EE5BD32B}" created="2025-10-22T02:29:28.489">
    <pc:sldMkLst xmlns:pc="http://schemas.microsoft.com/office/powerpoint/2013/main/command">
      <pc:docMk/>
      <pc:sldMk cId="3420477004" sldId="264"/>
    </pc:sldMkLst>
    <p188:txBody>
      <a:bodyPr/>
      <a:lstStyle/>
      <a:p>
        <a:r>
          <a:rPr lang="en-US"/>
          <a:t>There's canteening, and there's mobile feeding. We might be requested to do mobile feeding as well. Canteening is not normally meals.
How does this really differ from the rest of the feeding information in the workshop?</a:t>
        </a:r>
      </a:p>
    </p188:txBody>
  </p188:cm>
</p188:cmLst>
</file>

<file path=ppt/comments/modernComment_109_90E61B40.xml><?xml version="1.0" encoding="utf-8"?>
<p188:cmLst xmlns:a="http://schemas.openxmlformats.org/drawingml/2006/main" xmlns:r="http://schemas.openxmlformats.org/officeDocument/2006/relationships" xmlns:p188="http://schemas.microsoft.com/office/powerpoint/2018/8/main">
  <p188:cm id="{F4EBAFB1-24B4-4840-B1A6-B0C41A932DCC}" authorId="{C7B1F01E-6189-7C05-AEDA-5A5517826A99}" created="2025-09-21T20:12:04.660">
    <ac:txMkLst xmlns:ac="http://schemas.microsoft.com/office/drawing/2013/main/command">
      <pc:docMk xmlns:pc="http://schemas.microsoft.com/office/powerpoint/2013/main/command"/>
      <pc:sldMk xmlns:pc="http://schemas.microsoft.com/office/powerpoint/2013/main/command" cId="2430999360" sldId="265"/>
      <ac:spMk id="2" creationId="{752EED7C-9B7F-8732-8D2D-88CF1E10C76A}"/>
      <ac:txMk cp="0" len="31">
        <ac:context len="32" hash="1998266759"/>
      </ac:txMk>
    </ac:txMkLst>
    <p188:pos x="7491768" y="685752"/>
    <p188:replyLst>
      <p188:reply id="{F979784C-D3F7-4851-997D-0BB3A3F558EA}" authorId="{56BA30E9-E4A6-DA7B-2D7E-0F78EE5BD32B}" created="2025-10-22T02:32:32.686">
        <p188:txBody>
          <a:bodyPr/>
          <a:lstStyle/>
          <a:p>
            <a:r>
              <a:rPr lang="en-US"/>
              <a:t>Only feeding leads &amp; managers will be handling meal choices in MCI. 
Funny, I don't recall rice as being taboo for MCI. Definitely BBQ, spaghetti, tomato sauce, and chicken on the bone. I'd personally avoid stew as well, depending on the circumstances.</a:t>
            </a:r>
          </a:p>
        </p188:txBody>
      </p188:reply>
    </p188:replyLst>
    <p188:txBody>
      <a:bodyPr/>
      <a:lstStyle/>
      <a:p>
        <a:r>
          <a:rPr lang="en-US"/>
          <a:t>Joe Hughes to present</a:t>
        </a:r>
      </a:p>
    </p188:txBody>
  </p188:cm>
  <p188:cm id="{AAE0AC8E-0637-4473-A381-136766D6388E}" authorId="{56BA30E9-E4A6-DA7B-2D7E-0F78EE5BD32B}" created="2025-10-22T02:35:24.007">
    <pc:sldMkLst xmlns:pc="http://schemas.microsoft.com/office/powerpoint/2013/main/command">
      <pc:docMk/>
      <pc:sldMk cId="2430999360" sldId="265"/>
    </pc:sldMkLst>
    <p188:txBody>
      <a:bodyPr/>
      <a:lstStyle/>
      <a:p>
        <a:r>
          <a:rPr lang="en-US"/>
          <a:t>The last bullet about days off, shorter times, is guidance for MCI. I wouldn't include in the slide as not feeding-specific. Perhaps take the last two bullets and replace with info pertaining to DMH &amp; DSC support available to all staff &amp; volunteers on all responses, especially for MCIs.</a:t>
        </a:r>
      </a:p>
    </p188:txBody>
  </p188:cm>
  <p188:cm id="{7BCA458F-ED9D-4CFE-847F-091E904C7AFA}" authorId="{C7B1F01E-6189-7C05-AEDA-5A5517826A99}" created="2025-10-22T12:46:54.737">
    <pc:sldMkLst xmlns:pc="http://schemas.microsoft.com/office/powerpoint/2013/main/command">
      <pc:docMk/>
      <pc:sldMk cId="2430999360" sldId="265"/>
    </pc:sldMkLst>
    <p188:txBody>
      <a:bodyPr/>
      <a:lstStyle/>
      <a:p>
        <a:r>
          <a:rPr lang="en-US"/>
          <a:t>Concur. Added notes on resources</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19E4D0-EC8F-436F-B6F3-4C0DDDA917D3}"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CBD638A-BE2A-416C-A610-6953482C0359}">
      <dgm:prSet/>
      <dgm:spPr/>
      <dgm:t>
        <a:bodyPr/>
        <a:lstStyle/>
        <a:p>
          <a:pPr>
            <a:lnSpc>
              <a:spcPct val="100000"/>
            </a:lnSpc>
            <a:defRPr b="1"/>
          </a:pPr>
          <a:r>
            <a:rPr lang="en-US" dirty="0"/>
            <a:t>Initial load of feeding equipment &amp; supplies delivered in the trailer or by Logistics:</a:t>
          </a:r>
        </a:p>
      </dgm:t>
    </dgm:pt>
    <dgm:pt modelId="{3D4EBE59-0701-4850-AD8C-7C4134E7DFCC}" type="parTrans" cxnId="{56263CE2-8C84-4A47-8C07-94C1FA8BE6C4}">
      <dgm:prSet/>
      <dgm:spPr/>
      <dgm:t>
        <a:bodyPr/>
        <a:lstStyle/>
        <a:p>
          <a:endParaRPr lang="en-US"/>
        </a:p>
      </dgm:t>
    </dgm:pt>
    <dgm:pt modelId="{5ACF1FD0-B6DC-489B-A558-C18AE04E6CA9}" type="sibTrans" cxnId="{56263CE2-8C84-4A47-8C07-94C1FA8BE6C4}">
      <dgm:prSet/>
      <dgm:spPr/>
      <dgm:t>
        <a:bodyPr/>
        <a:lstStyle/>
        <a:p>
          <a:endParaRPr lang="en-US"/>
        </a:p>
      </dgm:t>
    </dgm:pt>
    <dgm:pt modelId="{6D24A7C6-1048-4385-9E4F-2FD4FF05BF55}">
      <dgm:prSet/>
      <dgm:spPr/>
      <dgm:t>
        <a:bodyPr/>
        <a:lstStyle/>
        <a:p>
          <a:pPr>
            <a:lnSpc>
              <a:spcPct val="100000"/>
            </a:lnSpc>
          </a:pPr>
          <a:r>
            <a:rPr lang="en-US" dirty="0"/>
            <a:t>Box #1 on the Shelter Pallet</a:t>
          </a:r>
        </a:p>
      </dgm:t>
    </dgm:pt>
    <dgm:pt modelId="{3CFC0BC6-AD05-4787-BE83-6FF4E079EC7E}" type="parTrans" cxnId="{83A4C761-E42A-4555-9309-502CE4CFAFA2}">
      <dgm:prSet/>
      <dgm:spPr/>
      <dgm:t>
        <a:bodyPr/>
        <a:lstStyle/>
        <a:p>
          <a:endParaRPr lang="en-US"/>
        </a:p>
      </dgm:t>
    </dgm:pt>
    <dgm:pt modelId="{6FA9FACF-FC66-4FB4-9867-E55D65C6924D}" type="sibTrans" cxnId="{83A4C761-E42A-4555-9309-502CE4CFAFA2}">
      <dgm:prSet/>
      <dgm:spPr/>
      <dgm:t>
        <a:bodyPr/>
        <a:lstStyle/>
        <a:p>
          <a:endParaRPr lang="en-US"/>
        </a:p>
      </dgm:t>
    </dgm:pt>
    <dgm:pt modelId="{FBED3184-2C1A-4AA2-B3F0-37297941E191}">
      <dgm:prSet/>
      <dgm:spPr/>
      <dgm:t>
        <a:bodyPr/>
        <a:lstStyle/>
        <a:p>
          <a:pPr>
            <a:lnSpc>
              <a:spcPct val="100000"/>
            </a:lnSpc>
          </a:pPr>
          <a:r>
            <a:rPr lang="en-US" dirty="0"/>
            <a:t>Equipment &amp; Supplies in an initial 6409</a:t>
          </a:r>
        </a:p>
      </dgm:t>
    </dgm:pt>
    <dgm:pt modelId="{D3732604-EEB2-4F7C-99FE-A6D7ECED17DC}" type="parTrans" cxnId="{8B40AFB0-FB73-4E03-80FC-54F1A9F72181}">
      <dgm:prSet/>
      <dgm:spPr/>
      <dgm:t>
        <a:bodyPr/>
        <a:lstStyle/>
        <a:p>
          <a:endParaRPr lang="en-US"/>
        </a:p>
      </dgm:t>
    </dgm:pt>
    <dgm:pt modelId="{A7BE6824-0360-433A-981C-D30606663C70}" type="sibTrans" cxnId="{8B40AFB0-FB73-4E03-80FC-54F1A9F72181}">
      <dgm:prSet/>
      <dgm:spPr/>
      <dgm:t>
        <a:bodyPr/>
        <a:lstStyle/>
        <a:p>
          <a:endParaRPr lang="en-US"/>
        </a:p>
      </dgm:t>
    </dgm:pt>
    <dgm:pt modelId="{87665BC6-55F2-41B5-B10E-592A1410B280}">
      <dgm:prSet/>
      <dgm:spPr/>
      <dgm:t>
        <a:bodyPr/>
        <a:lstStyle/>
        <a:p>
          <a:pPr>
            <a:lnSpc>
              <a:spcPct val="100000"/>
            </a:lnSpc>
            <a:defRPr b="1"/>
          </a:pPr>
          <a:r>
            <a:rPr lang="en-US" dirty="0"/>
            <a:t>The NRT goals are changing those quantities</a:t>
          </a:r>
        </a:p>
      </dgm:t>
    </dgm:pt>
    <dgm:pt modelId="{9BD9DFAC-FF76-41D2-8F75-80EA94B9C22C}" type="parTrans" cxnId="{AF56ABF0-EEF7-4B4C-BCD8-681DD1806C27}">
      <dgm:prSet/>
      <dgm:spPr/>
      <dgm:t>
        <a:bodyPr/>
        <a:lstStyle/>
        <a:p>
          <a:endParaRPr lang="en-US"/>
        </a:p>
      </dgm:t>
    </dgm:pt>
    <dgm:pt modelId="{7C3947A9-6090-478E-8115-1521D5CA257A}" type="sibTrans" cxnId="{AF56ABF0-EEF7-4B4C-BCD8-681DD1806C27}">
      <dgm:prSet/>
      <dgm:spPr/>
      <dgm:t>
        <a:bodyPr/>
        <a:lstStyle/>
        <a:p>
          <a:endParaRPr lang="en-US"/>
        </a:p>
      </dgm:t>
    </dgm:pt>
    <dgm:pt modelId="{CF6BED9B-1F7E-451D-968B-ABFC87586893}">
      <dgm:prSet/>
      <dgm:spPr/>
      <dgm:t>
        <a:bodyPr/>
        <a:lstStyle/>
        <a:p>
          <a:pPr>
            <a:lnSpc>
              <a:spcPct val="100000"/>
            </a:lnSpc>
          </a:pPr>
          <a:r>
            <a:rPr lang="en-US" dirty="0"/>
            <a:t>Shelter and Feeding Lead met with Logistics Lead on 10/29 to establish game plan</a:t>
          </a:r>
        </a:p>
      </dgm:t>
    </dgm:pt>
    <dgm:pt modelId="{895CFA96-FA1B-49AD-A9C2-8804BDB14DF5}" type="parTrans" cxnId="{F0A376C8-47BD-4958-AA8F-67D797803EB5}">
      <dgm:prSet/>
      <dgm:spPr/>
      <dgm:t>
        <a:bodyPr/>
        <a:lstStyle/>
        <a:p>
          <a:endParaRPr lang="en-US"/>
        </a:p>
      </dgm:t>
    </dgm:pt>
    <dgm:pt modelId="{2884ED27-E93E-4A03-8430-7B61D5EB1516}" type="sibTrans" cxnId="{F0A376C8-47BD-4958-AA8F-67D797803EB5}">
      <dgm:prSet/>
      <dgm:spPr/>
      <dgm:t>
        <a:bodyPr/>
        <a:lstStyle/>
        <a:p>
          <a:endParaRPr lang="en-US"/>
        </a:p>
      </dgm:t>
    </dgm:pt>
    <dgm:pt modelId="{048361CC-B351-41EA-8794-1D360F779B94}">
      <dgm:prSet/>
      <dgm:spPr/>
      <dgm:t>
        <a:bodyPr/>
        <a:lstStyle/>
        <a:p>
          <a:pPr>
            <a:lnSpc>
              <a:spcPct val="100000"/>
            </a:lnSpc>
          </a:pPr>
          <a:r>
            <a:rPr lang="en-US" dirty="0"/>
            <a:t>Storage of all things necessary for six 200-bed shelters is a huge problem.</a:t>
          </a:r>
        </a:p>
      </dgm:t>
    </dgm:pt>
    <dgm:pt modelId="{C0F8C6B6-E227-484B-AF95-EFD50186215E}" type="parTrans" cxnId="{14963B97-F1EF-4DF2-A897-FC17152A232C}">
      <dgm:prSet/>
      <dgm:spPr/>
      <dgm:t>
        <a:bodyPr/>
        <a:lstStyle/>
        <a:p>
          <a:endParaRPr lang="en-US"/>
        </a:p>
      </dgm:t>
    </dgm:pt>
    <dgm:pt modelId="{C0F77AED-6A5E-4AC6-9359-D4A8C1373ADB}" type="sibTrans" cxnId="{14963B97-F1EF-4DF2-A897-FC17152A232C}">
      <dgm:prSet/>
      <dgm:spPr/>
      <dgm:t>
        <a:bodyPr/>
        <a:lstStyle/>
        <a:p>
          <a:endParaRPr lang="en-US"/>
        </a:p>
      </dgm:t>
    </dgm:pt>
    <dgm:pt modelId="{80C242C0-8D96-493D-9443-6EE0084FA945}">
      <dgm:prSet/>
      <dgm:spPr/>
      <dgm:t>
        <a:bodyPr/>
        <a:lstStyle/>
        <a:p>
          <a:pPr>
            <a:lnSpc>
              <a:spcPct val="100000"/>
            </a:lnSpc>
          </a:pPr>
          <a:r>
            <a:rPr lang="en-US" dirty="0"/>
            <a:t>Solutions will be worked in Nov and Dec. Might include:</a:t>
          </a:r>
        </a:p>
      </dgm:t>
    </dgm:pt>
    <dgm:pt modelId="{58E26F89-6989-4C00-8B06-1218F096AD78}" type="parTrans" cxnId="{1F028D53-0E71-4E9E-983D-4A43B3457547}">
      <dgm:prSet/>
      <dgm:spPr/>
      <dgm:t>
        <a:bodyPr/>
        <a:lstStyle/>
        <a:p>
          <a:endParaRPr lang="en-US"/>
        </a:p>
      </dgm:t>
    </dgm:pt>
    <dgm:pt modelId="{66415EE5-B4E3-4E15-B028-0A3AD15E21A3}" type="sibTrans" cxnId="{1F028D53-0E71-4E9E-983D-4A43B3457547}">
      <dgm:prSet/>
      <dgm:spPr/>
      <dgm:t>
        <a:bodyPr/>
        <a:lstStyle/>
        <a:p>
          <a:endParaRPr lang="en-US"/>
        </a:p>
      </dgm:t>
    </dgm:pt>
    <dgm:pt modelId="{DD1A3442-0A48-40C3-AED0-E294A2A51383}">
      <dgm:prSet phldr="0"/>
      <dgm:spPr/>
      <dgm:t>
        <a:bodyPr/>
        <a:lstStyle/>
        <a:p>
          <a:r>
            <a:rPr lang="en-US" sz="1400" dirty="0">
              <a:latin typeface="Aptos Display" panose="02110004020202020204"/>
            </a:rPr>
            <a:t>Additional storage space</a:t>
          </a:r>
        </a:p>
      </dgm:t>
    </dgm:pt>
    <dgm:pt modelId="{BBF991CC-C5DC-48BB-B3D3-3DC6FDF200D0}" type="parTrans" cxnId="{D6458B01-6679-4DC7-B07E-E5C47BC10073}">
      <dgm:prSet/>
      <dgm:spPr/>
    </dgm:pt>
    <dgm:pt modelId="{8AD9A355-904A-498B-9E2E-3E94C3B2ADD1}" type="sibTrans" cxnId="{D6458B01-6679-4DC7-B07E-E5C47BC10073}">
      <dgm:prSet/>
      <dgm:spPr/>
    </dgm:pt>
    <dgm:pt modelId="{627777A3-2909-4446-8274-62D28511330F}">
      <dgm:prSet phldr="0"/>
      <dgm:spPr/>
      <dgm:t>
        <a:bodyPr/>
        <a:lstStyle/>
        <a:p>
          <a:r>
            <a:rPr lang="en-US" sz="1400" dirty="0">
              <a:latin typeface="Aptos Display" panose="02110004020202020204"/>
            </a:rPr>
            <a:t>Prearranged orders to Division or National</a:t>
          </a:r>
        </a:p>
      </dgm:t>
    </dgm:pt>
    <dgm:pt modelId="{027A2CD9-7E3C-400B-BF6E-F6527B8A2A4F}" type="parTrans" cxnId="{E5D628BB-0F61-46D7-86F3-03ECD96B03FA}">
      <dgm:prSet/>
      <dgm:spPr/>
    </dgm:pt>
    <dgm:pt modelId="{8F46B8FA-FA45-4BC9-8450-DD38745B58F0}" type="sibTrans" cxnId="{E5D628BB-0F61-46D7-86F3-03ECD96B03FA}">
      <dgm:prSet/>
      <dgm:spPr/>
    </dgm:pt>
    <dgm:pt modelId="{A860B3AF-09C5-4C55-AB0A-94891F453AE7}">
      <dgm:prSet phldr="0"/>
      <dgm:spPr/>
      <dgm:t>
        <a:bodyPr/>
        <a:lstStyle/>
        <a:p>
          <a:pPr rtl="0"/>
          <a:r>
            <a:rPr lang="en-US" sz="1400" dirty="0">
              <a:latin typeface="Aptos Display" panose="02110004020202020204"/>
            </a:rPr>
            <a:t>Prearranged purchase orders with vendors</a:t>
          </a:r>
        </a:p>
      </dgm:t>
    </dgm:pt>
    <dgm:pt modelId="{BBB12C7C-4B78-4442-90D5-2DC444F3DB9E}" type="parTrans" cxnId="{D220E652-F607-45C4-87D6-02AF57FF06F7}">
      <dgm:prSet/>
      <dgm:spPr/>
    </dgm:pt>
    <dgm:pt modelId="{247B620A-17F1-4E86-B14F-B63DF389B227}" type="sibTrans" cxnId="{D220E652-F607-45C4-87D6-02AF57FF06F7}">
      <dgm:prSet/>
      <dgm:spPr/>
    </dgm:pt>
    <dgm:pt modelId="{AF9170E3-A5D4-4ED5-8655-854E7834CD33}" type="pres">
      <dgm:prSet presAssocID="{2119E4D0-EC8F-436F-B6F3-4C0DDDA917D3}" presName="root" presStyleCnt="0">
        <dgm:presLayoutVars>
          <dgm:dir/>
          <dgm:resizeHandles val="exact"/>
        </dgm:presLayoutVars>
      </dgm:prSet>
      <dgm:spPr/>
    </dgm:pt>
    <dgm:pt modelId="{47F02A5B-9D83-485D-8859-6154A49AF860}" type="pres">
      <dgm:prSet presAssocID="{4CBD638A-BE2A-416C-A610-6953482C0359}" presName="compNode" presStyleCnt="0"/>
      <dgm:spPr/>
    </dgm:pt>
    <dgm:pt modelId="{7DD34F67-9F8F-4A13-BE3C-825BB89B4C61}" type="pres">
      <dgm:prSet presAssocID="{4CBD638A-BE2A-416C-A610-6953482C035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ailer"/>
        </a:ext>
      </dgm:extLst>
    </dgm:pt>
    <dgm:pt modelId="{281BD4C9-FCE1-4DCC-A8D5-5BED40707EFB}" type="pres">
      <dgm:prSet presAssocID="{4CBD638A-BE2A-416C-A610-6953482C0359}" presName="iconSpace" presStyleCnt="0"/>
      <dgm:spPr/>
    </dgm:pt>
    <dgm:pt modelId="{B753CC13-BFF5-4B58-8A25-84AA95F56891}" type="pres">
      <dgm:prSet presAssocID="{4CBD638A-BE2A-416C-A610-6953482C0359}" presName="parTx" presStyleLbl="revTx" presStyleIdx="0" presStyleCnt="4">
        <dgm:presLayoutVars>
          <dgm:chMax val="0"/>
          <dgm:chPref val="0"/>
        </dgm:presLayoutVars>
      </dgm:prSet>
      <dgm:spPr/>
    </dgm:pt>
    <dgm:pt modelId="{BFC32B5F-D2A4-4397-A88B-06926C13D8E2}" type="pres">
      <dgm:prSet presAssocID="{4CBD638A-BE2A-416C-A610-6953482C0359}" presName="txSpace" presStyleCnt="0"/>
      <dgm:spPr/>
    </dgm:pt>
    <dgm:pt modelId="{F5B8A449-410D-4CED-819F-1E9357B5E467}" type="pres">
      <dgm:prSet presAssocID="{4CBD638A-BE2A-416C-A610-6953482C0359}" presName="desTx" presStyleLbl="revTx" presStyleIdx="1" presStyleCnt="4">
        <dgm:presLayoutVars/>
      </dgm:prSet>
      <dgm:spPr/>
    </dgm:pt>
    <dgm:pt modelId="{DFC27E38-40C0-4ADA-ABD7-2F0D40591C3E}" type="pres">
      <dgm:prSet presAssocID="{5ACF1FD0-B6DC-489B-A558-C18AE04E6CA9}" presName="sibTrans" presStyleCnt="0"/>
      <dgm:spPr/>
    </dgm:pt>
    <dgm:pt modelId="{98F0601A-4333-4E83-8625-867036FB0E32}" type="pres">
      <dgm:prSet presAssocID="{87665BC6-55F2-41B5-B10E-592A1410B280}" presName="compNode" presStyleCnt="0"/>
      <dgm:spPr/>
    </dgm:pt>
    <dgm:pt modelId="{500A349F-0294-40CB-B407-E1099BF832FF}" type="pres">
      <dgm:prSet presAssocID="{87665BC6-55F2-41B5-B10E-592A1410B28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48555BF5-7C0C-49A8-9142-B7756452A5AE}" type="pres">
      <dgm:prSet presAssocID="{87665BC6-55F2-41B5-B10E-592A1410B280}" presName="iconSpace" presStyleCnt="0"/>
      <dgm:spPr/>
    </dgm:pt>
    <dgm:pt modelId="{A44D6C84-75A6-486F-9119-733A4991F1FC}" type="pres">
      <dgm:prSet presAssocID="{87665BC6-55F2-41B5-B10E-592A1410B280}" presName="parTx" presStyleLbl="revTx" presStyleIdx="2" presStyleCnt="4">
        <dgm:presLayoutVars>
          <dgm:chMax val="0"/>
          <dgm:chPref val="0"/>
        </dgm:presLayoutVars>
      </dgm:prSet>
      <dgm:spPr/>
    </dgm:pt>
    <dgm:pt modelId="{CCB33DCF-2A63-4970-AE08-E58D50F58D99}" type="pres">
      <dgm:prSet presAssocID="{87665BC6-55F2-41B5-B10E-592A1410B280}" presName="txSpace" presStyleCnt="0"/>
      <dgm:spPr/>
    </dgm:pt>
    <dgm:pt modelId="{009C3FC0-7ED5-440C-BFC2-0A23D0ADB67E}" type="pres">
      <dgm:prSet presAssocID="{87665BC6-55F2-41B5-B10E-592A1410B280}" presName="desTx" presStyleLbl="revTx" presStyleIdx="3" presStyleCnt="4">
        <dgm:presLayoutVars/>
      </dgm:prSet>
      <dgm:spPr/>
    </dgm:pt>
  </dgm:ptLst>
  <dgm:cxnLst>
    <dgm:cxn modelId="{D6458B01-6679-4DC7-B07E-E5C47BC10073}" srcId="{80C242C0-8D96-493D-9443-6EE0084FA945}" destId="{DD1A3442-0A48-40C3-AED0-E294A2A51383}" srcOrd="0" destOrd="0" parTransId="{BBF991CC-C5DC-48BB-B3D3-3DC6FDF200D0}" sibTransId="{8AD9A355-904A-498B-9E2E-3E94C3B2ADD1}"/>
    <dgm:cxn modelId="{F11EE31A-3096-4B43-BC3C-D98C18F639BC}" type="presOf" srcId="{2119E4D0-EC8F-436F-B6F3-4C0DDDA917D3}" destId="{AF9170E3-A5D4-4ED5-8655-854E7834CD33}" srcOrd="0" destOrd="0" presId="urn:microsoft.com/office/officeart/2018/2/layout/IconLabelDescriptionList"/>
    <dgm:cxn modelId="{D9DCC82C-8F34-45FD-AAEE-90EFFAF783A4}" type="presOf" srcId="{4CBD638A-BE2A-416C-A610-6953482C0359}" destId="{B753CC13-BFF5-4B58-8A25-84AA95F56891}" srcOrd="0" destOrd="0" presId="urn:microsoft.com/office/officeart/2018/2/layout/IconLabelDescriptionList"/>
    <dgm:cxn modelId="{7467663B-929E-4A68-A1BE-5E999D1B3728}" type="presOf" srcId="{A860B3AF-09C5-4C55-AB0A-94891F453AE7}" destId="{009C3FC0-7ED5-440C-BFC2-0A23D0ADB67E}" srcOrd="0" destOrd="5" presId="urn:microsoft.com/office/officeart/2018/2/layout/IconLabelDescriptionList"/>
    <dgm:cxn modelId="{627DA65C-C309-429B-958B-95B960B8579E}" type="presOf" srcId="{80C242C0-8D96-493D-9443-6EE0084FA945}" destId="{009C3FC0-7ED5-440C-BFC2-0A23D0ADB67E}" srcOrd="0" destOrd="2" presId="urn:microsoft.com/office/officeart/2018/2/layout/IconLabelDescriptionList"/>
    <dgm:cxn modelId="{83A4C761-E42A-4555-9309-502CE4CFAFA2}" srcId="{4CBD638A-BE2A-416C-A610-6953482C0359}" destId="{6D24A7C6-1048-4385-9E4F-2FD4FF05BF55}" srcOrd="0" destOrd="0" parTransId="{3CFC0BC6-AD05-4787-BE83-6FF4E079EC7E}" sibTransId="{6FA9FACF-FC66-4FB4-9867-E55D65C6924D}"/>
    <dgm:cxn modelId="{64108246-AFAF-4792-BC25-5FDC3C19D714}" type="presOf" srcId="{CF6BED9B-1F7E-451D-968B-ABFC87586893}" destId="{009C3FC0-7ED5-440C-BFC2-0A23D0ADB67E}" srcOrd="0" destOrd="0" presId="urn:microsoft.com/office/officeart/2018/2/layout/IconLabelDescriptionList"/>
    <dgm:cxn modelId="{8D74A36B-E741-4DEE-871D-35A7A11AC7EB}" type="presOf" srcId="{87665BC6-55F2-41B5-B10E-592A1410B280}" destId="{A44D6C84-75A6-486F-9119-733A4991F1FC}" srcOrd="0" destOrd="0" presId="urn:microsoft.com/office/officeart/2018/2/layout/IconLabelDescriptionList"/>
    <dgm:cxn modelId="{D220E652-F607-45C4-87D6-02AF57FF06F7}" srcId="{80C242C0-8D96-493D-9443-6EE0084FA945}" destId="{A860B3AF-09C5-4C55-AB0A-94891F453AE7}" srcOrd="2" destOrd="0" parTransId="{BBB12C7C-4B78-4442-90D5-2DC444F3DB9E}" sibTransId="{247B620A-17F1-4E86-B14F-B63DF389B227}"/>
    <dgm:cxn modelId="{1F028D53-0E71-4E9E-983D-4A43B3457547}" srcId="{87665BC6-55F2-41B5-B10E-592A1410B280}" destId="{80C242C0-8D96-493D-9443-6EE0084FA945}" srcOrd="2" destOrd="0" parTransId="{58E26F89-6989-4C00-8B06-1218F096AD78}" sibTransId="{66415EE5-B4E3-4E15-B028-0A3AD15E21A3}"/>
    <dgm:cxn modelId="{34FC307F-54E7-4903-8C05-1B618174FA1F}" type="presOf" srcId="{627777A3-2909-4446-8274-62D28511330F}" destId="{009C3FC0-7ED5-440C-BFC2-0A23D0ADB67E}" srcOrd="0" destOrd="4" presId="urn:microsoft.com/office/officeart/2018/2/layout/IconLabelDescriptionList"/>
    <dgm:cxn modelId="{14963B97-F1EF-4DF2-A897-FC17152A232C}" srcId="{87665BC6-55F2-41B5-B10E-592A1410B280}" destId="{048361CC-B351-41EA-8794-1D360F779B94}" srcOrd="1" destOrd="0" parTransId="{C0F8C6B6-E227-484B-AF95-EFD50186215E}" sibTransId="{C0F77AED-6A5E-4AC6-9359-D4A8C1373ADB}"/>
    <dgm:cxn modelId="{C45769A3-8145-425B-B683-212FCB3BE667}" type="presOf" srcId="{048361CC-B351-41EA-8794-1D360F779B94}" destId="{009C3FC0-7ED5-440C-BFC2-0A23D0ADB67E}" srcOrd="0" destOrd="1" presId="urn:microsoft.com/office/officeart/2018/2/layout/IconLabelDescriptionList"/>
    <dgm:cxn modelId="{8B40AFB0-FB73-4E03-80FC-54F1A9F72181}" srcId="{4CBD638A-BE2A-416C-A610-6953482C0359}" destId="{FBED3184-2C1A-4AA2-B3F0-37297941E191}" srcOrd="1" destOrd="0" parTransId="{D3732604-EEB2-4F7C-99FE-A6D7ECED17DC}" sibTransId="{A7BE6824-0360-433A-981C-D30606663C70}"/>
    <dgm:cxn modelId="{E5D628BB-0F61-46D7-86F3-03ECD96B03FA}" srcId="{80C242C0-8D96-493D-9443-6EE0084FA945}" destId="{627777A3-2909-4446-8274-62D28511330F}" srcOrd="1" destOrd="0" parTransId="{027A2CD9-7E3C-400B-BF6E-F6527B8A2A4F}" sibTransId="{8F46B8FA-FA45-4BC9-8450-DD38745B58F0}"/>
    <dgm:cxn modelId="{56B082BB-783D-4A65-8846-CE67F824971C}" type="presOf" srcId="{DD1A3442-0A48-40C3-AED0-E294A2A51383}" destId="{009C3FC0-7ED5-440C-BFC2-0A23D0ADB67E}" srcOrd="0" destOrd="3" presId="urn:microsoft.com/office/officeart/2018/2/layout/IconLabelDescriptionList"/>
    <dgm:cxn modelId="{F572FABE-712B-4EED-87F2-85D6C1BC062C}" type="presOf" srcId="{6D24A7C6-1048-4385-9E4F-2FD4FF05BF55}" destId="{F5B8A449-410D-4CED-819F-1E9357B5E467}" srcOrd="0" destOrd="0" presId="urn:microsoft.com/office/officeart/2018/2/layout/IconLabelDescriptionList"/>
    <dgm:cxn modelId="{D7B00BC2-D17A-4F20-BD28-C66B028AA344}" type="presOf" srcId="{FBED3184-2C1A-4AA2-B3F0-37297941E191}" destId="{F5B8A449-410D-4CED-819F-1E9357B5E467}" srcOrd="0" destOrd="1" presId="urn:microsoft.com/office/officeart/2018/2/layout/IconLabelDescriptionList"/>
    <dgm:cxn modelId="{F0A376C8-47BD-4958-AA8F-67D797803EB5}" srcId="{87665BC6-55F2-41B5-B10E-592A1410B280}" destId="{CF6BED9B-1F7E-451D-968B-ABFC87586893}" srcOrd="0" destOrd="0" parTransId="{895CFA96-FA1B-49AD-A9C2-8804BDB14DF5}" sibTransId="{2884ED27-E93E-4A03-8430-7B61D5EB1516}"/>
    <dgm:cxn modelId="{56263CE2-8C84-4A47-8C07-94C1FA8BE6C4}" srcId="{2119E4D0-EC8F-436F-B6F3-4C0DDDA917D3}" destId="{4CBD638A-BE2A-416C-A610-6953482C0359}" srcOrd="0" destOrd="0" parTransId="{3D4EBE59-0701-4850-AD8C-7C4134E7DFCC}" sibTransId="{5ACF1FD0-B6DC-489B-A558-C18AE04E6CA9}"/>
    <dgm:cxn modelId="{AF56ABF0-EEF7-4B4C-BCD8-681DD1806C27}" srcId="{2119E4D0-EC8F-436F-B6F3-4C0DDDA917D3}" destId="{87665BC6-55F2-41B5-B10E-592A1410B280}" srcOrd="1" destOrd="0" parTransId="{9BD9DFAC-FF76-41D2-8F75-80EA94B9C22C}" sibTransId="{7C3947A9-6090-478E-8115-1521D5CA257A}"/>
    <dgm:cxn modelId="{A3080287-DCAB-4126-868D-C45E6F055B2C}" type="presParOf" srcId="{AF9170E3-A5D4-4ED5-8655-854E7834CD33}" destId="{47F02A5B-9D83-485D-8859-6154A49AF860}" srcOrd="0" destOrd="0" presId="urn:microsoft.com/office/officeart/2018/2/layout/IconLabelDescriptionList"/>
    <dgm:cxn modelId="{72A8D9F3-02E9-4263-9A55-469AF91869A9}" type="presParOf" srcId="{47F02A5B-9D83-485D-8859-6154A49AF860}" destId="{7DD34F67-9F8F-4A13-BE3C-825BB89B4C61}" srcOrd="0" destOrd="0" presId="urn:microsoft.com/office/officeart/2018/2/layout/IconLabelDescriptionList"/>
    <dgm:cxn modelId="{BF81B0D6-8EF5-442C-987C-9258C66ED370}" type="presParOf" srcId="{47F02A5B-9D83-485D-8859-6154A49AF860}" destId="{281BD4C9-FCE1-4DCC-A8D5-5BED40707EFB}" srcOrd="1" destOrd="0" presId="urn:microsoft.com/office/officeart/2018/2/layout/IconLabelDescriptionList"/>
    <dgm:cxn modelId="{86652B2A-9124-4AE8-95AB-69663C1F1C65}" type="presParOf" srcId="{47F02A5B-9D83-485D-8859-6154A49AF860}" destId="{B753CC13-BFF5-4B58-8A25-84AA95F56891}" srcOrd="2" destOrd="0" presId="urn:microsoft.com/office/officeart/2018/2/layout/IconLabelDescriptionList"/>
    <dgm:cxn modelId="{8A61F1D9-8C17-42CF-92FA-7249D8CA8253}" type="presParOf" srcId="{47F02A5B-9D83-485D-8859-6154A49AF860}" destId="{BFC32B5F-D2A4-4397-A88B-06926C13D8E2}" srcOrd="3" destOrd="0" presId="urn:microsoft.com/office/officeart/2018/2/layout/IconLabelDescriptionList"/>
    <dgm:cxn modelId="{4023AC5B-D353-424F-A945-9618A5A0691F}" type="presParOf" srcId="{47F02A5B-9D83-485D-8859-6154A49AF860}" destId="{F5B8A449-410D-4CED-819F-1E9357B5E467}" srcOrd="4" destOrd="0" presId="urn:microsoft.com/office/officeart/2018/2/layout/IconLabelDescriptionList"/>
    <dgm:cxn modelId="{DDA719D9-1C43-40E8-B730-42DC4E2869E7}" type="presParOf" srcId="{AF9170E3-A5D4-4ED5-8655-854E7834CD33}" destId="{DFC27E38-40C0-4ADA-ABD7-2F0D40591C3E}" srcOrd="1" destOrd="0" presId="urn:microsoft.com/office/officeart/2018/2/layout/IconLabelDescriptionList"/>
    <dgm:cxn modelId="{A011FC84-05E3-467A-BBC1-8A5BE55C4F43}" type="presParOf" srcId="{AF9170E3-A5D4-4ED5-8655-854E7834CD33}" destId="{98F0601A-4333-4E83-8625-867036FB0E32}" srcOrd="2" destOrd="0" presId="urn:microsoft.com/office/officeart/2018/2/layout/IconLabelDescriptionList"/>
    <dgm:cxn modelId="{2F84B4DE-BF6D-4423-AC00-C27069A2D6D3}" type="presParOf" srcId="{98F0601A-4333-4E83-8625-867036FB0E32}" destId="{500A349F-0294-40CB-B407-E1099BF832FF}" srcOrd="0" destOrd="0" presId="urn:microsoft.com/office/officeart/2018/2/layout/IconLabelDescriptionList"/>
    <dgm:cxn modelId="{A9DA21A8-3A4E-432F-AA54-53F39347FA8B}" type="presParOf" srcId="{98F0601A-4333-4E83-8625-867036FB0E32}" destId="{48555BF5-7C0C-49A8-9142-B7756452A5AE}" srcOrd="1" destOrd="0" presId="urn:microsoft.com/office/officeart/2018/2/layout/IconLabelDescriptionList"/>
    <dgm:cxn modelId="{743514E0-10D6-4E82-AFDD-1F3D8DC1406B}" type="presParOf" srcId="{98F0601A-4333-4E83-8625-867036FB0E32}" destId="{A44D6C84-75A6-486F-9119-733A4991F1FC}" srcOrd="2" destOrd="0" presId="urn:microsoft.com/office/officeart/2018/2/layout/IconLabelDescriptionList"/>
    <dgm:cxn modelId="{ED3C4123-B70A-498F-8D9C-A41C70D1712E}" type="presParOf" srcId="{98F0601A-4333-4E83-8625-867036FB0E32}" destId="{CCB33DCF-2A63-4970-AE08-E58D50F58D99}" srcOrd="3" destOrd="0" presId="urn:microsoft.com/office/officeart/2018/2/layout/IconLabelDescriptionList"/>
    <dgm:cxn modelId="{570B344A-41A6-4E88-BC06-E46B8D509FF8}" type="presParOf" srcId="{98F0601A-4333-4E83-8625-867036FB0E32}" destId="{009C3FC0-7ED5-440C-BFC2-0A23D0ADB67E}"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D34F67-9F8F-4A13-BE3C-825BB89B4C61}">
      <dsp:nvSpPr>
        <dsp:cNvPr id="0" name=""/>
        <dsp:cNvSpPr/>
      </dsp:nvSpPr>
      <dsp:spPr>
        <a:xfrm>
          <a:off x="2351" y="371821"/>
          <a:ext cx="1268367" cy="12683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53CC13-BFF5-4B58-8A25-84AA95F56891}">
      <dsp:nvSpPr>
        <dsp:cNvPr id="0" name=""/>
        <dsp:cNvSpPr/>
      </dsp:nvSpPr>
      <dsp:spPr>
        <a:xfrm>
          <a:off x="2351" y="1795585"/>
          <a:ext cx="3623906" cy="543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Initial load of feeding equipment &amp; supplies delivered in the trailer or by Logistics:</a:t>
          </a:r>
        </a:p>
      </dsp:txBody>
      <dsp:txXfrm>
        <a:off x="2351" y="1795585"/>
        <a:ext cx="3623906" cy="543585"/>
      </dsp:txXfrm>
    </dsp:sp>
    <dsp:sp modelId="{F5B8A449-410D-4CED-819F-1E9357B5E467}">
      <dsp:nvSpPr>
        <dsp:cNvPr id="0" name=""/>
        <dsp:cNvSpPr/>
      </dsp:nvSpPr>
      <dsp:spPr>
        <a:xfrm>
          <a:off x="2351" y="2411449"/>
          <a:ext cx="3623906" cy="15742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dirty="0"/>
            <a:t>Box #1 on the Shelter Pallet</a:t>
          </a:r>
        </a:p>
        <a:p>
          <a:pPr marL="0" lvl="0" indent="0" algn="l" defTabSz="488950">
            <a:lnSpc>
              <a:spcPct val="100000"/>
            </a:lnSpc>
            <a:spcBef>
              <a:spcPct val="0"/>
            </a:spcBef>
            <a:spcAft>
              <a:spcPct val="35000"/>
            </a:spcAft>
            <a:buNone/>
          </a:pPr>
          <a:r>
            <a:rPr lang="en-US" sz="1100" kern="1200" dirty="0"/>
            <a:t>Equipment &amp; Supplies in an initial 6409</a:t>
          </a:r>
        </a:p>
      </dsp:txBody>
      <dsp:txXfrm>
        <a:off x="2351" y="2411449"/>
        <a:ext cx="3623906" cy="1574253"/>
      </dsp:txXfrm>
    </dsp:sp>
    <dsp:sp modelId="{500A349F-0294-40CB-B407-E1099BF832FF}">
      <dsp:nvSpPr>
        <dsp:cNvPr id="0" name=""/>
        <dsp:cNvSpPr/>
      </dsp:nvSpPr>
      <dsp:spPr>
        <a:xfrm>
          <a:off x="4260441" y="371821"/>
          <a:ext cx="1268367" cy="12683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4D6C84-75A6-486F-9119-733A4991F1FC}">
      <dsp:nvSpPr>
        <dsp:cNvPr id="0" name=""/>
        <dsp:cNvSpPr/>
      </dsp:nvSpPr>
      <dsp:spPr>
        <a:xfrm>
          <a:off x="4260441" y="1795585"/>
          <a:ext cx="3623906" cy="543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The NRT goals are changing those quantities</a:t>
          </a:r>
        </a:p>
      </dsp:txBody>
      <dsp:txXfrm>
        <a:off x="4260441" y="1795585"/>
        <a:ext cx="3623906" cy="543585"/>
      </dsp:txXfrm>
    </dsp:sp>
    <dsp:sp modelId="{009C3FC0-7ED5-440C-BFC2-0A23D0ADB67E}">
      <dsp:nvSpPr>
        <dsp:cNvPr id="0" name=""/>
        <dsp:cNvSpPr/>
      </dsp:nvSpPr>
      <dsp:spPr>
        <a:xfrm>
          <a:off x="4260441" y="2411449"/>
          <a:ext cx="3623906" cy="15742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dirty="0"/>
            <a:t>Shelter and Feeding Lead met with Logistics Lead on 10/29 to establish game plan</a:t>
          </a:r>
        </a:p>
        <a:p>
          <a:pPr marL="0" lvl="0" indent="0" algn="l" defTabSz="488950">
            <a:lnSpc>
              <a:spcPct val="100000"/>
            </a:lnSpc>
            <a:spcBef>
              <a:spcPct val="0"/>
            </a:spcBef>
            <a:spcAft>
              <a:spcPct val="35000"/>
            </a:spcAft>
            <a:buNone/>
          </a:pPr>
          <a:r>
            <a:rPr lang="en-US" sz="1100" kern="1200" dirty="0"/>
            <a:t>Storage of all things necessary for six 200-bed shelters is a huge problem.</a:t>
          </a:r>
        </a:p>
        <a:p>
          <a:pPr marL="0" lvl="0" indent="0" algn="l" defTabSz="488950">
            <a:lnSpc>
              <a:spcPct val="100000"/>
            </a:lnSpc>
            <a:spcBef>
              <a:spcPct val="0"/>
            </a:spcBef>
            <a:spcAft>
              <a:spcPct val="35000"/>
            </a:spcAft>
            <a:buNone/>
          </a:pPr>
          <a:r>
            <a:rPr lang="en-US" sz="1100" kern="1200" dirty="0"/>
            <a:t>Solutions will be worked in Nov and Dec. Might include:</a:t>
          </a:r>
        </a:p>
        <a:p>
          <a:pPr marL="57150" lvl="1" indent="-57150" algn="l" defTabSz="488950">
            <a:lnSpc>
              <a:spcPct val="90000"/>
            </a:lnSpc>
            <a:spcBef>
              <a:spcPct val="0"/>
            </a:spcBef>
            <a:spcAft>
              <a:spcPct val="15000"/>
            </a:spcAft>
            <a:buChar char="•"/>
          </a:pPr>
          <a:r>
            <a:rPr lang="en-US" sz="1100" kern="1200" dirty="0">
              <a:latin typeface="Aptos Display" panose="02110004020202020204"/>
            </a:rPr>
            <a:t>Additional storage space</a:t>
          </a:r>
        </a:p>
        <a:p>
          <a:pPr marL="57150" lvl="1" indent="-57150" algn="l" defTabSz="488950">
            <a:lnSpc>
              <a:spcPct val="90000"/>
            </a:lnSpc>
            <a:spcBef>
              <a:spcPct val="0"/>
            </a:spcBef>
            <a:spcAft>
              <a:spcPct val="15000"/>
            </a:spcAft>
            <a:buChar char="•"/>
          </a:pPr>
          <a:r>
            <a:rPr lang="en-US" sz="1100" kern="1200" dirty="0">
              <a:latin typeface="Aptos Display" panose="02110004020202020204"/>
            </a:rPr>
            <a:t>Prearranged orders to Division or National</a:t>
          </a:r>
        </a:p>
        <a:p>
          <a:pPr marL="57150" lvl="1" indent="-57150" algn="l" defTabSz="488950" rtl="0">
            <a:lnSpc>
              <a:spcPct val="90000"/>
            </a:lnSpc>
            <a:spcBef>
              <a:spcPct val="0"/>
            </a:spcBef>
            <a:spcAft>
              <a:spcPct val="15000"/>
            </a:spcAft>
            <a:buChar char="•"/>
          </a:pPr>
          <a:r>
            <a:rPr lang="en-US" sz="1100" kern="1200" dirty="0">
              <a:latin typeface="Aptos Display" panose="02110004020202020204"/>
            </a:rPr>
            <a:t>Prearranged purchase orders with vendors</a:t>
          </a:r>
        </a:p>
      </dsp:txBody>
      <dsp:txXfrm>
        <a:off x="4260441" y="2411449"/>
        <a:ext cx="3623906" cy="1574253"/>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3408"/>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3408"/>
          </a:xfrm>
          <a:prstGeom prst="rect">
            <a:avLst/>
          </a:prstGeom>
        </p:spPr>
        <p:txBody>
          <a:bodyPr vert="horz" lIns="92492" tIns="46246" rIns="92492" bIns="46246" rtlCol="0"/>
          <a:lstStyle>
            <a:lvl1pPr algn="r">
              <a:defRPr sz="1200"/>
            </a:lvl1pPr>
          </a:lstStyle>
          <a:p>
            <a:fld id="{C992A5D4-0626-4F7F-9970-C8A7BF16C787}" type="datetimeFigureOut">
              <a:rPr lang="en-US" smtClean="0"/>
              <a:t>10/28/2025</a:t>
            </a:fld>
            <a:endParaRPr lang="en-US"/>
          </a:p>
        </p:txBody>
      </p:sp>
      <p:sp>
        <p:nvSpPr>
          <p:cNvPr id="4" name="Slide Image Placeholder 3"/>
          <p:cNvSpPr>
            <a:spLocks noGrp="1" noRot="1" noChangeAspect="1"/>
          </p:cNvSpPr>
          <p:nvPr>
            <p:ph type="sldImg" idx="2"/>
          </p:nvPr>
        </p:nvSpPr>
        <p:spPr>
          <a:xfrm>
            <a:off x="1397000" y="1154113"/>
            <a:ext cx="4156075" cy="3117850"/>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444861"/>
            <a:ext cx="5560060" cy="3636705"/>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3407"/>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3407"/>
          </a:xfrm>
          <a:prstGeom prst="rect">
            <a:avLst/>
          </a:prstGeom>
        </p:spPr>
        <p:txBody>
          <a:bodyPr vert="horz" lIns="92492" tIns="46246" rIns="92492" bIns="46246" rtlCol="0" anchor="b"/>
          <a:lstStyle>
            <a:lvl1pPr algn="r">
              <a:defRPr sz="1200"/>
            </a:lvl1pPr>
          </a:lstStyle>
          <a:p>
            <a:fld id="{F59EEA3D-462F-4CB7-95F3-99BD25514042}" type="slidenum">
              <a:rPr lang="en-US" smtClean="0"/>
              <a:t>‹#›</a:t>
            </a:fld>
            <a:endParaRPr lang="en-US"/>
          </a:p>
        </p:txBody>
      </p:sp>
    </p:spTree>
    <p:extLst>
      <p:ext uri="{BB962C8B-B14F-4D97-AF65-F5344CB8AC3E}">
        <p14:creationId xmlns:p14="http://schemas.microsoft.com/office/powerpoint/2010/main" val="2016346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59EEA3D-462F-4CB7-95F3-99BD25514042}" type="slidenum">
              <a:rPr lang="en-US" smtClean="0"/>
              <a:t>11</a:t>
            </a:fld>
            <a:endParaRPr lang="en-US"/>
          </a:p>
        </p:txBody>
      </p:sp>
    </p:spTree>
    <p:extLst>
      <p:ext uri="{BB962C8B-B14F-4D97-AF65-F5344CB8AC3E}">
        <p14:creationId xmlns:p14="http://schemas.microsoft.com/office/powerpoint/2010/main" val="2764851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54323-DE02-F1F8-7C81-AC1B594E9D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827AE-256B-9EE7-4282-F490B5C16D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944A4D-A71D-9ED2-11C5-51E9C19709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ECC60A3-433B-BB43-AC5D-0A28F34CF5E3}"/>
              </a:ext>
            </a:extLst>
          </p:cNvPr>
          <p:cNvSpPr>
            <a:spLocks noGrp="1"/>
          </p:cNvSpPr>
          <p:nvPr>
            <p:ph type="sldNum" sz="quarter" idx="5"/>
          </p:nvPr>
        </p:nvSpPr>
        <p:spPr/>
        <p:txBody>
          <a:bodyPr/>
          <a:lstStyle/>
          <a:p>
            <a:fld id="{F59EEA3D-462F-4CB7-95F3-99BD25514042}" type="slidenum">
              <a:rPr lang="en-US" smtClean="0"/>
              <a:t>12</a:t>
            </a:fld>
            <a:endParaRPr lang="en-US"/>
          </a:p>
        </p:txBody>
      </p:sp>
    </p:spTree>
    <p:extLst>
      <p:ext uri="{BB962C8B-B14F-4D97-AF65-F5344CB8AC3E}">
        <p14:creationId xmlns:p14="http://schemas.microsoft.com/office/powerpoint/2010/main" val="669543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4AE00-298C-F50B-FA29-2560B1230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3399A-EFD1-2C16-D747-514CD240FE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19DF7-BF36-7519-931C-336C2C0EDD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095C3B-FAD7-9F81-97B5-C501B5E0B259}"/>
              </a:ext>
            </a:extLst>
          </p:cNvPr>
          <p:cNvSpPr>
            <a:spLocks noGrp="1"/>
          </p:cNvSpPr>
          <p:nvPr>
            <p:ph type="sldNum" sz="quarter" idx="5"/>
          </p:nvPr>
        </p:nvSpPr>
        <p:spPr/>
        <p:txBody>
          <a:bodyPr/>
          <a:lstStyle/>
          <a:p>
            <a:fld id="{F59EEA3D-462F-4CB7-95F3-99BD25514042}" type="slidenum">
              <a:rPr lang="en-US" smtClean="0"/>
              <a:t>13</a:t>
            </a:fld>
            <a:endParaRPr lang="en-US"/>
          </a:p>
        </p:txBody>
      </p:sp>
    </p:spTree>
    <p:extLst>
      <p:ext uri="{BB962C8B-B14F-4D97-AF65-F5344CB8AC3E}">
        <p14:creationId xmlns:p14="http://schemas.microsoft.com/office/powerpoint/2010/main" val="1014540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are adding slides behind this slide as requested by TL to provide. </a:t>
            </a:r>
          </a:p>
        </p:txBody>
      </p:sp>
      <p:sp>
        <p:nvSpPr>
          <p:cNvPr id="4" name="Slide Number Placeholder 3"/>
          <p:cNvSpPr>
            <a:spLocks noGrp="1"/>
          </p:cNvSpPr>
          <p:nvPr>
            <p:ph type="sldNum" sz="quarter" idx="5"/>
          </p:nvPr>
        </p:nvSpPr>
        <p:spPr/>
        <p:txBody>
          <a:bodyPr/>
          <a:lstStyle/>
          <a:p>
            <a:fld id="{F59EEA3D-462F-4CB7-95F3-99BD25514042}" type="slidenum">
              <a:rPr lang="en-US" smtClean="0"/>
              <a:t>15</a:t>
            </a:fld>
            <a:endParaRPr lang="en-US"/>
          </a:p>
        </p:txBody>
      </p:sp>
    </p:spTree>
    <p:extLst>
      <p:ext uri="{BB962C8B-B14F-4D97-AF65-F5344CB8AC3E}">
        <p14:creationId xmlns:p14="http://schemas.microsoft.com/office/powerpoint/2010/main" val="3617013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29159-D4BF-E735-E661-9312200316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171F8-CF58-0E91-64F4-F25277565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91437A-549D-5D2E-0E6A-CE840AC36B90}"/>
              </a:ext>
            </a:extLst>
          </p:cNvPr>
          <p:cNvSpPr>
            <a:spLocks noGrp="1"/>
          </p:cNvSpPr>
          <p:nvPr>
            <p:ph type="body" idx="1"/>
          </p:nvPr>
        </p:nvSpPr>
        <p:spPr/>
        <p:txBody>
          <a:bodyPr/>
          <a:lstStyle/>
          <a:p>
            <a:r>
              <a:rPr lang="en-US"/>
              <a:t>We are adding slides behind this slide as requested by TL to provide. </a:t>
            </a:r>
          </a:p>
        </p:txBody>
      </p:sp>
      <p:sp>
        <p:nvSpPr>
          <p:cNvPr id="4" name="Slide Number Placeholder 3">
            <a:extLst>
              <a:ext uri="{FF2B5EF4-FFF2-40B4-BE49-F238E27FC236}">
                <a16:creationId xmlns:a16="http://schemas.microsoft.com/office/drawing/2014/main" id="{0B8FFD7E-CCBE-614D-BC89-566F2E3D5D33}"/>
              </a:ext>
            </a:extLst>
          </p:cNvPr>
          <p:cNvSpPr>
            <a:spLocks noGrp="1"/>
          </p:cNvSpPr>
          <p:nvPr>
            <p:ph type="sldNum" sz="quarter" idx="5"/>
          </p:nvPr>
        </p:nvSpPr>
        <p:spPr/>
        <p:txBody>
          <a:bodyPr/>
          <a:lstStyle/>
          <a:p>
            <a:fld id="{F59EEA3D-462F-4CB7-95F3-99BD25514042}" type="slidenum">
              <a:rPr lang="en-US" smtClean="0"/>
              <a:t>16</a:t>
            </a:fld>
            <a:endParaRPr lang="en-US"/>
          </a:p>
        </p:txBody>
      </p:sp>
    </p:spTree>
    <p:extLst>
      <p:ext uri="{BB962C8B-B14F-4D97-AF65-F5344CB8AC3E}">
        <p14:creationId xmlns:p14="http://schemas.microsoft.com/office/powerpoint/2010/main" val="2435293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C4FD98E-E4AD-4A33-BE69-22BC39127AC8}" type="datetime1">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66F282-3B2E-4770-B8F7-3A3BF1EE6D34}" type="slidenum">
              <a:rPr lang="en-US" smtClean="0"/>
              <a:t>‹#›</a:t>
            </a:fld>
            <a:endParaRPr lang="en-US"/>
          </a:p>
        </p:txBody>
      </p:sp>
    </p:spTree>
    <p:extLst>
      <p:ext uri="{BB962C8B-B14F-4D97-AF65-F5344CB8AC3E}">
        <p14:creationId xmlns:p14="http://schemas.microsoft.com/office/powerpoint/2010/main" val="620640294"/>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CD3308-0906-4456-8BBD-7A714888E4B1}" type="datetime1">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66F282-3B2E-4770-B8F7-3A3BF1EE6D34}" type="slidenum">
              <a:rPr lang="en-US" smtClean="0"/>
              <a:t>‹#›</a:t>
            </a:fld>
            <a:endParaRPr lang="en-US"/>
          </a:p>
        </p:txBody>
      </p:sp>
    </p:spTree>
    <p:extLst>
      <p:ext uri="{BB962C8B-B14F-4D97-AF65-F5344CB8AC3E}">
        <p14:creationId xmlns:p14="http://schemas.microsoft.com/office/powerpoint/2010/main" val="92378699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45F53A-B955-4CAA-BC61-7B85055C8EDF}" type="datetime1">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66F282-3B2E-4770-B8F7-3A3BF1EE6D34}" type="slidenum">
              <a:rPr lang="en-US" smtClean="0"/>
              <a:t>‹#›</a:t>
            </a:fld>
            <a:endParaRPr lang="en-US"/>
          </a:p>
        </p:txBody>
      </p:sp>
    </p:spTree>
    <p:extLst>
      <p:ext uri="{BB962C8B-B14F-4D97-AF65-F5344CB8AC3E}">
        <p14:creationId xmlns:p14="http://schemas.microsoft.com/office/powerpoint/2010/main" val="246425333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ED76778-B5D6-4BC5-A4EE-ED454EA849A3}" type="datetime1">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66F282-3B2E-4770-B8F7-3A3BF1EE6D34}" type="slidenum">
              <a:rPr lang="en-US" smtClean="0"/>
              <a:t>‹#›</a:t>
            </a:fld>
            <a:endParaRPr lang="en-US"/>
          </a:p>
        </p:txBody>
      </p:sp>
    </p:spTree>
    <p:extLst>
      <p:ext uri="{BB962C8B-B14F-4D97-AF65-F5344CB8AC3E}">
        <p14:creationId xmlns:p14="http://schemas.microsoft.com/office/powerpoint/2010/main" val="1160680293"/>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4A2EFD0-D5B2-459B-B746-1A2FB5F3DA61}" type="datetime1">
              <a:rPr lang="en-US" smtClean="0"/>
              <a:t>10/28/2025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66F282-3B2E-4770-B8F7-3A3BF1EE6D34}" type="slidenum">
              <a:rPr lang="en-US" smtClean="0"/>
              <a:t>‹#›</a:t>
            </a:fld>
            <a:endParaRPr lang="en-US"/>
          </a:p>
        </p:txBody>
      </p:sp>
    </p:spTree>
    <p:extLst>
      <p:ext uri="{BB962C8B-B14F-4D97-AF65-F5344CB8AC3E}">
        <p14:creationId xmlns:p14="http://schemas.microsoft.com/office/powerpoint/2010/main" val="20302318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3ECC50A-DC89-4B86-8F28-102272E50297}" type="datetime1">
              <a:rPr lang="en-US" smtClean="0"/>
              <a:t>10/28/2025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66F282-3B2E-4770-B8F7-3A3BF1EE6D34}" type="slidenum">
              <a:rPr lang="en-US" smtClean="0"/>
              <a:t>‹#›</a:t>
            </a:fld>
            <a:endParaRPr lang="en-US"/>
          </a:p>
        </p:txBody>
      </p:sp>
    </p:spTree>
    <p:extLst>
      <p:ext uri="{BB962C8B-B14F-4D97-AF65-F5344CB8AC3E}">
        <p14:creationId xmlns:p14="http://schemas.microsoft.com/office/powerpoint/2010/main" val="214383843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774850-6BE3-4B0B-9A66-975B8CDD1FAF}" type="datetime1">
              <a:rPr lang="en-US" smtClean="0"/>
              <a:t>10/28/2025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466F282-3B2E-4770-B8F7-3A3BF1EE6D34}" type="slidenum">
              <a:rPr lang="en-US" smtClean="0"/>
              <a:t>‹#›</a:t>
            </a:fld>
            <a:endParaRPr lang="en-US"/>
          </a:p>
        </p:txBody>
      </p:sp>
    </p:spTree>
    <p:extLst>
      <p:ext uri="{BB962C8B-B14F-4D97-AF65-F5344CB8AC3E}">
        <p14:creationId xmlns:p14="http://schemas.microsoft.com/office/powerpoint/2010/main" val="33288073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98014C-7ABB-4AE1-BF77-19412FB9D849}" type="datetime1">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66F282-3B2E-4770-B8F7-3A3BF1EE6D34}" type="slidenum">
              <a:rPr lang="en-US" smtClean="0"/>
              <a:t>‹#›</a:t>
            </a:fld>
            <a:endParaRPr lang="en-US"/>
          </a:p>
        </p:txBody>
      </p:sp>
    </p:spTree>
    <p:extLst>
      <p:ext uri="{BB962C8B-B14F-4D97-AF65-F5344CB8AC3E}">
        <p14:creationId xmlns:p14="http://schemas.microsoft.com/office/powerpoint/2010/main" val="180828217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9894E1F-BB13-4C50-A3AF-F704BFFF471B}" type="datetime1">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66F282-3B2E-4770-B8F7-3A3BF1EE6D34}" type="slidenum">
              <a:rPr lang="en-US" smtClean="0"/>
              <a:t>‹#›</a:t>
            </a:fld>
            <a:endParaRPr lang="en-US"/>
          </a:p>
        </p:txBody>
      </p:sp>
    </p:spTree>
    <p:extLst>
      <p:ext uri="{BB962C8B-B14F-4D97-AF65-F5344CB8AC3E}">
        <p14:creationId xmlns:p14="http://schemas.microsoft.com/office/powerpoint/2010/main" val="412162142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62EA7E-30BE-49CB-A858-3941954D93AC}" type="datetime1">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66F282-3B2E-4770-B8F7-3A3BF1EE6D34}" type="slidenum">
              <a:rPr lang="en-US" smtClean="0"/>
              <a:t>‹#›</a:t>
            </a:fld>
            <a:endParaRPr lang="en-US"/>
          </a:p>
        </p:txBody>
      </p:sp>
    </p:spTree>
    <p:extLst>
      <p:ext uri="{BB962C8B-B14F-4D97-AF65-F5344CB8AC3E}">
        <p14:creationId xmlns:p14="http://schemas.microsoft.com/office/powerpoint/2010/main" val="260469533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40610A-8EEF-443A-9725-C827912239B1}" type="datetime1">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66F282-3B2E-4770-B8F7-3A3BF1EE6D34}" type="slidenum">
              <a:rPr lang="en-US" smtClean="0"/>
              <a:t>‹#›</a:t>
            </a:fld>
            <a:endParaRPr lang="en-US"/>
          </a:p>
        </p:txBody>
      </p:sp>
    </p:spTree>
    <p:extLst>
      <p:ext uri="{BB962C8B-B14F-4D97-AF65-F5344CB8AC3E}">
        <p14:creationId xmlns:p14="http://schemas.microsoft.com/office/powerpoint/2010/main" val="991841759"/>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0126D6-1BD0-456E-8661-FDA481BCC987}" type="datetime1">
              <a:rPr lang="en-US" smtClean="0"/>
              <a:t>10/28/2025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66F282-3B2E-4770-B8F7-3A3BF1EE6D34}" type="slidenum">
              <a:rPr lang="en-US" smtClean="0"/>
              <a:t>‹#›</a:t>
            </a:fld>
            <a:endParaRPr lang="en-US"/>
          </a:p>
        </p:txBody>
      </p:sp>
    </p:spTree>
    <p:extLst>
      <p:ext uri="{BB962C8B-B14F-4D97-AF65-F5344CB8AC3E}">
        <p14:creationId xmlns:p14="http://schemas.microsoft.com/office/powerpoint/2010/main" val="21358773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flickr.com/photos/elainevigneault/351169448/"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microsoft.com/office/2018/10/relationships/comments" Target="../comments/modernComment_108_CBE0564C.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microsoft.com/office/2018/10/relationships/comments" Target="../comments/modernComment_109_90E61B4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microsoft.com/office/2018/10/relationships/comments" Target="../comments/modernComment_104_F23743DD.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microsoft.com/office/2018/10/relationships/comments" Target="../comments/modernComment_105_2E09EBCA.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onesource.redcross.org/page/3674?SearchId=11429736" TargetMode="External"/><Relationship Id="rId7" Type="http://schemas.openxmlformats.org/officeDocument/2006/relationships/hyperlink" Target="https://onesource.redcross.org/page/14275?SearchId=4858451" TargetMode="External"/><Relationship Id="rId2" Type="http://schemas.openxmlformats.org/officeDocument/2006/relationships/hyperlink" Target="https://onesource.redcross.org/page/2397?SearchId=11429674" TargetMode="External"/><Relationship Id="rId1" Type="http://schemas.openxmlformats.org/officeDocument/2006/relationships/slideLayout" Target="../slideLayouts/slideLayout2.xml"/><Relationship Id="rId6" Type="http://schemas.openxmlformats.org/officeDocument/2006/relationships/hyperlink" Target="https://americanredcross-my.sharepoint.com/personal/laurynn_myers_redcross_org/_layouts/15/stream.aspx?id=%2Fpersonal%2Flaurynn%5Fmyers%5Fredcross%5Forg%2FDocuments%2FRecordings%2FSeasonal%20Feeding%20and%20DES%20Webinar%2D20250528%5F203956%2DMeeting%20Recording%2Emp4&amp;nav=eyJyZWZlcnJhbEluZm8iOnsicmVmZXJyYWxBcHAiOiJTdHJlYW1XZWJBcHAiLCJyZWZlcnJhbFZpZXciOiJTaGFyZURpYWxvZy1MaW5rIiwicmVmZXJyYWxBcHBQbGF0Zm9ybSI6IldlYiIsInJlZmVycmFsTW9kZSI6InZpZXcifX0&amp;ga=1&amp;LOF=1&amp;referrer=StreamWebApp%2EWeb&amp;referrerScenario=AddressBarCopied%2Eview%2E6b732165%2Dfeeb%2D4a0d%2Dbb78%2D19031a6ea02a" TargetMode="External"/><Relationship Id="rId5" Type="http://schemas.openxmlformats.org/officeDocument/2006/relationships/hyperlink" Target="https://onesource.redcross.org/page/14863?SearchId=4951678" TargetMode="External"/><Relationship Id="rId4" Type="http://schemas.openxmlformats.org/officeDocument/2006/relationships/hyperlink" Target="https://onesource.redcross.org/page/14274?SearchId=114297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27E3B-ABCD-2D68-CD79-3EC775137AC2}"/>
              </a:ext>
            </a:extLst>
          </p:cNvPr>
          <p:cNvSpPr>
            <a:spLocks noGrp="1"/>
          </p:cNvSpPr>
          <p:nvPr>
            <p:ph type="ctrTitle"/>
          </p:nvPr>
        </p:nvSpPr>
        <p:spPr/>
        <p:txBody>
          <a:bodyPr>
            <a:normAutofit/>
          </a:bodyPr>
          <a:lstStyle/>
          <a:p>
            <a:r>
              <a:rPr lang="en-US" dirty="0"/>
              <a:t>Strengthen Your Feeding and </a:t>
            </a:r>
            <a:r>
              <a:rPr lang="en-US" dirty="0" err="1"/>
              <a:t>Canteening</a:t>
            </a:r>
            <a:r>
              <a:rPr lang="en-US" dirty="0"/>
              <a:t> Skills</a:t>
            </a:r>
          </a:p>
        </p:txBody>
      </p:sp>
      <p:sp>
        <p:nvSpPr>
          <p:cNvPr id="3" name="Subtitle 2">
            <a:extLst>
              <a:ext uri="{FF2B5EF4-FFF2-40B4-BE49-F238E27FC236}">
                <a16:creationId xmlns:a16="http://schemas.microsoft.com/office/drawing/2014/main" id="{A57A79DC-E03A-70C3-4A84-ACD663B46F15}"/>
              </a:ext>
            </a:extLst>
          </p:cNvPr>
          <p:cNvSpPr>
            <a:spLocks noGrp="1"/>
          </p:cNvSpPr>
          <p:nvPr>
            <p:ph type="subTitle" idx="1"/>
          </p:nvPr>
        </p:nvSpPr>
        <p:spPr>
          <a:xfrm>
            <a:off x="310171" y="3602038"/>
            <a:ext cx="7690829" cy="1655762"/>
          </a:xfrm>
        </p:spPr>
        <p:txBody>
          <a:bodyPr/>
          <a:lstStyle/>
          <a:p>
            <a:r>
              <a:rPr lang="en-US"/>
              <a:t>Are Your Feeding Skills Ready for the Next Disaster?</a:t>
            </a:r>
          </a:p>
        </p:txBody>
      </p:sp>
      <p:pic>
        <p:nvPicPr>
          <p:cNvPr id="5" name="Picture 4" descr="A close-up of a white and red sign&#10;&#10;AI-generated content may be incorrect.">
            <a:extLst>
              <a:ext uri="{FF2B5EF4-FFF2-40B4-BE49-F238E27FC236}">
                <a16:creationId xmlns:a16="http://schemas.microsoft.com/office/drawing/2014/main" id="{0F948797-0240-FAB5-D865-5888D939FEB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638467" y="4206065"/>
            <a:ext cx="3430694" cy="2356182"/>
          </a:xfrm>
          <a:prstGeom prst="rect">
            <a:avLst/>
          </a:prstGeom>
        </p:spPr>
      </p:pic>
      <p:sp>
        <p:nvSpPr>
          <p:cNvPr id="4" name="Slide Number Placeholder 3">
            <a:extLst>
              <a:ext uri="{FF2B5EF4-FFF2-40B4-BE49-F238E27FC236}">
                <a16:creationId xmlns:a16="http://schemas.microsoft.com/office/drawing/2014/main" id="{42DCCF50-14FD-69D0-24AF-0B3F19D028D5}"/>
              </a:ext>
            </a:extLst>
          </p:cNvPr>
          <p:cNvSpPr>
            <a:spLocks noGrp="1"/>
          </p:cNvSpPr>
          <p:nvPr>
            <p:ph type="sldNum" sz="quarter" idx="12"/>
          </p:nvPr>
        </p:nvSpPr>
        <p:spPr/>
        <p:txBody>
          <a:bodyPr/>
          <a:lstStyle/>
          <a:p>
            <a:fld id="{1466F282-3B2E-4770-B8F7-3A3BF1EE6D34}" type="slidenum">
              <a:rPr lang="en-US" smtClean="0"/>
              <a:t>1</a:t>
            </a:fld>
            <a:endParaRPr lang="en-US"/>
          </a:p>
        </p:txBody>
      </p:sp>
    </p:spTree>
    <p:extLst>
      <p:ext uri="{BB962C8B-B14F-4D97-AF65-F5344CB8AC3E}">
        <p14:creationId xmlns:p14="http://schemas.microsoft.com/office/powerpoint/2010/main" val="2551978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B00BE-3AA1-6BC8-9467-6E8C5810E946}"/>
              </a:ext>
            </a:extLst>
          </p:cNvPr>
          <p:cNvSpPr>
            <a:spLocks noGrp="1"/>
          </p:cNvSpPr>
          <p:nvPr>
            <p:ph type="title"/>
          </p:nvPr>
        </p:nvSpPr>
        <p:spPr/>
        <p:txBody>
          <a:bodyPr/>
          <a:lstStyle/>
          <a:p>
            <a:pPr algn="ctr"/>
            <a:r>
              <a:rPr lang="en-US"/>
              <a:t>Agenda</a:t>
            </a:r>
          </a:p>
        </p:txBody>
      </p:sp>
      <p:sp>
        <p:nvSpPr>
          <p:cNvPr id="3" name="Content Placeholder 2">
            <a:extLst>
              <a:ext uri="{FF2B5EF4-FFF2-40B4-BE49-F238E27FC236}">
                <a16:creationId xmlns:a16="http://schemas.microsoft.com/office/drawing/2014/main" id="{C657AB7D-506B-4247-8396-D47B458E5066}"/>
              </a:ext>
            </a:extLst>
          </p:cNvPr>
          <p:cNvSpPr>
            <a:spLocks noGrp="1"/>
          </p:cNvSpPr>
          <p:nvPr>
            <p:ph idx="1"/>
          </p:nvPr>
        </p:nvSpPr>
        <p:spPr>
          <a:xfrm>
            <a:off x="628650" y="1450150"/>
            <a:ext cx="7886700" cy="4726813"/>
          </a:xfrm>
        </p:spPr>
        <p:txBody>
          <a:bodyPr vert="horz" lIns="91440" tIns="45720" rIns="91440" bIns="45720" rtlCol="0" anchor="t">
            <a:normAutofit fontScale="92500" lnSpcReduction="20000"/>
          </a:bodyPr>
          <a:lstStyle/>
          <a:p>
            <a:r>
              <a:rPr lang="en-US" dirty="0"/>
              <a:t>Introduction – What have you experienced and what do you expect?</a:t>
            </a:r>
            <a:endParaRPr lang="en-US" sz="1600" dirty="0"/>
          </a:p>
          <a:p>
            <a:r>
              <a:rPr lang="en-US" dirty="0"/>
              <a:t>Feeding Method Overview – What have we seen, what might the future look like, and how are we getting ready?</a:t>
            </a:r>
            <a:endParaRPr lang="en-US" sz="1600" dirty="0"/>
          </a:p>
          <a:p>
            <a:r>
              <a:rPr lang="en-US" dirty="0"/>
              <a:t>Preparation</a:t>
            </a:r>
          </a:p>
          <a:p>
            <a:r>
              <a:rPr lang="en-US" dirty="0"/>
              <a:t>Event Set Up </a:t>
            </a:r>
          </a:p>
          <a:p>
            <a:r>
              <a:rPr lang="en-US" dirty="0"/>
              <a:t>Mass Casualty Incident Feeding</a:t>
            </a:r>
          </a:p>
          <a:p>
            <a:r>
              <a:rPr lang="en-US" dirty="0"/>
              <a:t>Congregate Feeding</a:t>
            </a:r>
          </a:p>
          <a:p>
            <a:r>
              <a:rPr lang="en-US" dirty="0"/>
              <a:t>Outreach Feeding</a:t>
            </a:r>
          </a:p>
          <a:p>
            <a:r>
              <a:rPr lang="en-US" dirty="0" err="1"/>
              <a:t>Canteening</a:t>
            </a:r>
            <a:r>
              <a:rPr lang="en-US" dirty="0"/>
              <a:t> &amp; Mobile Feeding</a:t>
            </a:r>
          </a:p>
          <a:p>
            <a:r>
              <a:rPr lang="en-US" dirty="0"/>
              <a:t>Wrap up &amp; Next Steps</a:t>
            </a:r>
          </a:p>
        </p:txBody>
      </p:sp>
      <p:sp>
        <p:nvSpPr>
          <p:cNvPr id="4" name="Slide Number Placeholder 3">
            <a:extLst>
              <a:ext uri="{FF2B5EF4-FFF2-40B4-BE49-F238E27FC236}">
                <a16:creationId xmlns:a16="http://schemas.microsoft.com/office/drawing/2014/main" id="{F3CF94C9-A966-AF73-4E9C-CC8B8292511B}"/>
              </a:ext>
            </a:extLst>
          </p:cNvPr>
          <p:cNvSpPr>
            <a:spLocks noGrp="1"/>
          </p:cNvSpPr>
          <p:nvPr>
            <p:ph type="sldNum" sz="quarter" idx="12"/>
          </p:nvPr>
        </p:nvSpPr>
        <p:spPr/>
        <p:txBody>
          <a:bodyPr/>
          <a:lstStyle/>
          <a:p>
            <a:fld id="{1466F282-3B2E-4770-B8F7-3A3BF1EE6D34}" type="slidenum">
              <a:rPr lang="en-US" smtClean="0"/>
              <a:t>2</a:t>
            </a:fld>
            <a:endParaRPr lang="en-US"/>
          </a:p>
        </p:txBody>
      </p:sp>
    </p:spTree>
    <p:extLst>
      <p:ext uri="{BB962C8B-B14F-4D97-AF65-F5344CB8AC3E}">
        <p14:creationId xmlns:p14="http://schemas.microsoft.com/office/powerpoint/2010/main" val="417867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9D336CDD-3727-3F36-9171-09E96B85D1EB}"/>
              </a:ext>
            </a:extLst>
          </p:cNvPr>
          <p:cNvPicPr>
            <a:picLocks noGrp="1" noChangeAspect="1"/>
          </p:cNvPicPr>
          <p:nvPr>
            <p:ph idx="1"/>
          </p:nvPr>
        </p:nvPicPr>
        <p:blipFill>
          <a:blip r:embed="rId2"/>
          <a:srcRect b="19"/>
          <a:stretch>
            <a:fillRect/>
          </a:stretch>
        </p:blipFill>
        <p:spPr>
          <a:xfrm>
            <a:off x="20" y="1282"/>
            <a:ext cx="9143980" cy="6856718"/>
          </a:xfrm>
          <a:prstGeom prst="rect">
            <a:avLst/>
          </a:prstGeom>
        </p:spPr>
      </p:pic>
      <p:sp>
        <p:nvSpPr>
          <p:cNvPr id="5" name="TextBox 4">
            <a:extLst>
              <a:ext uri="{FF2B5EF4-FFF2-40B4-BE49-F238E27FC236}">
                <a16:creationId xmlns:a16="http://schemas.microsoft.com/office/drawing/2014/main" id="{9962B005-3E0F-7375-5AF8-8FDA420604BD}"/>
              </a:ext>
            </a:extLst>
          </p:cNvPr>
          <p:cNvSpPr txBox="1"/>
          <p:nvPr/>
        </p:nvSpPr>
        <p:spPr>
          <a:xfrm>
            <a:off x="1705969" y="6428096"/>
            <a:ext cx="6522487" cy="369332"/>
          </a:xfrm>
          <a:prstGeom prst="rect">
            <a:avLst/>
          </a:prstGeom>
          <a:noFill/>
        </p:spPr>
        <p:txBody>
          <a:bodyPr wrap="square" rtlCol="0">
            <a:spAutoFit/>
          </a:bodyPr>
          <a:lstStyle/>
          <a:p>
            <a:r>
              <a:rPr lang="en-US"/>
              <a:t>Source: Feeding Fundamentals V2 Course Presentation</a:t>
            </a:r>
          </a:p>
        </p:txBody>
      </p:sp>
      <p:sp>
        <p:nvSpPr>
          <p:cNvPr id="6" name="Rectangle 5">
            <a:extLst>
              <a:ext uri="{FF2B5EF4-FFF2-40B4-BE49-F238E27FC236}">
                <a16:creationId xmlns:a16="http://schemas.microsoft.com/office/drawing/2014/main" id="{35B8E49F-2438-FEF4-1E7B-0D3D2DE58619}"/>
              </a:ext>
            </a:extLst>
          </p:cNvPr>
          <p:cNvSpPr/>
          <p:nvPr/>
        </p:nvSpPr>
        <p:spPr>
          <a:xfrm>
            <a:off x="8393373" y="6428096"/>
            <a:ext cx="749484" cy="4299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Slide Number Placeholder 1">
            <a:extLst>
              <a:ext uri="{FF2B5EF4-FFF2-40B4-BE49-F238E27FC236}">
                <a16:creationId xmlns:a16="http://schemas.microsoft.com/office/drawing/2014/main" id="{454A290E-1132-D7E3-045F-1EA27F65BD18}"/>
              </a:ext>
            </a:extLst>
          </p:cNvPr>
          <p:cNvSpPr>
            <a:spLocks noGrp="1"/>
          </p:cNvSpPr>
          <p:nvPr>
            <p:ph type="sldNum" sz="quarter" idx="12"/>
          </p:nvPr>
        </p:nvSpPr>
        <p:spPr/>
        <p:txBody>
          <a:bodyPr/>
          <a:lstStyle/>
          <a:p>
            <a:fld id="{1466F282-3B2E-4770-B8F7-3A3BF1EE6D34}" type="slidenum">
              <a:rPr lang="en-US" smtClean="0"/>
              <a:t>3</a:t>
            </a:fld>
            <a:endParaRPr lang="en-US"/>
          </a:p>
        </p:txBody>
      </p:sp>
    </p:spTree>
    <p:extLst>
      <p:ext uri="{BB962C8B-B14F-4D97-AF65-F5344CB8AC3E}">
        <p14:creationId xmlns:p14="http://schemas.microsoft.com/office/powerpoint/2010/main" val="1996120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07C92A91-70D6-0313-A0D2-A1EB15DD9E49}"/>
              </a:ext>
            </a:extLst>
          </p:cNvPr>
          <p:cNvPicPr>
            <a:picLocks noGrp="1" noChangeAspect="1"/>
          </p:cNvPicPr>
          <p:nvPr>
            <p:ph idx="1"/>
          </p:nvPr>
        </p:nvPicPr>
        <p:blipFill>
          <a:blip r:embed="rId2"/>
          <a:srcRect b="19"/>
          <a:stretch>
            <a:fillRect/>
          </a:stretch>
        </p:blipFill>
        <p:spPr>
          <a:xfrm>
            <a:off x="20" y="1282"/>
            <a:ext cx="9143980" cy="6856718"/>
          </a:xfrm>
          <a:prstGeom prst="rect">
            <a:avLst/>
          </a:prstGeom>
        </p:spPr>
      </p:pic>
      <p:sp>
        <p:nvSpPr>
          <p:cNvPr id="5" name="TextBox 4">
            <a:extLst>
              <a:ext uri="{FF2B5EF4-FFF2-40B4-BE49-F238E27FC236}">
                <a16:creationId xmlns:a16="http://schemas.microsoft.com/office/drawing/2014/main" id="{37169885-00A9-A356-38A6-CA0116AA9FDE}"/>
              </a:ext>
            </a:extLst>
          </p:cNvPr>
          <p:cNvSpPr txBox="1"/>
          <p:nvPr/>
        </p:nvSpPr>
        <p:spPr>
          <a:xfrm>
            <a:off x="1705969" y="6428096"/>
            <a:ext cx="6522487" cy="369332"/>
          </a:xfrm>
          <a:prstGeom prst="rect">
            <a:avLst/>
          </a:prstGeom>
          <a:noFill/>
        </p:spPr>
        <p:txBody>
          <a:bodyPr wrap="square" rtlCol="0">
            <a:spAutoFit/>
          </a:bodyPr>
          <a:lstStyle/>
          <a:p>
            <a:r>
              <a:rPr lang="en-US"/>
              <a:t>Source: Feeding Fundamentals V2 Course Presentation</a:t>
            </a:r>
          </a:p>
        </p:txBody>
      </p:sp>
      <p:sp>
        <p:nvSpPr>
          <p:cNvPr id="6" name="TextBox 5">
            <a:extLst>
              <a:ext uri="{FF2B5EF4-FFF2-40B4-BE49-F238E27FC236}">
                <a16:creationId xmlns:a16="http://schemas.microsoft.com/office/drawing/2014/main" id="{75175339-9933-C203-16FD-4F7CCFDB7D04}"/>
              </a:ext>
            </a:extLst>
          </p:cNvPr>
          <p:cNvSpPr txBox="1"/>
          <p:nvPr/>
        </p:nvSpPr>
        <p:spPr>
          <a:xfrm>
            <a:off x="709684" y="3138985"/>
            <a:ext cx="7724632" cy="1938992"/>
          </a:xfrm>
          <a:prstGeom prst="rect">
            <a:avLst/>
          </a:prstGeom>
          <a:noFill/>
        </p:spPr>
        <p:txBody>
          <a:bodyPr wrap="square" rtlCol="0">
            <a:spAutoFit/>
          </a:bodyPr>
          <a:lstStyle/>
          <a:p>
            <a:pPr marL="285750" indent="-285750">
              <a:buFont typeface="Arial" panose="020B0604020202020204" pitchFamily="34" charset="0"/>
              <a:buChar char="•"/>
            </a:pPr>
            <a:r>
              <a:rPr lang="en-US" sz="2400"/>
              <a:t>In this workshop your instructors will provide actual lessons learned in SEPA operations.</a:t>
            </a:r>
          </a:p>
          <a:p>
            <a:endParaRPr lang="en-US" sz="2400"/>
          </a:p>
          <a:p>
            <a:pPr marL="285750" indent="-285750">
              <a:buFont typeface="Arial" panose="020B0604020202020204" pitchFamily="34" charset="0"/>
              <a:buChar char="•"/>
            </a:pPr>
            <a:r>
              <a:rPr lang="en-US" sz="2400"/>
              <a:t>Discuss the types of feeding, diagrams, set up and coordination.</a:t>
            </a:r>
          </a:p>
        </p:txBody>
      </p:sp>
      <p:sp>
        <p:nvSpPr>
          <p:cNvPr id="8" name="Rectangle 7">
            <a:extLst>
              <a:ext uri="{FF2B5EF4-FFF2-40B4-BE49-F238E27FC236}">
                <a16:creationId xmlns:a16="http://schemas.microsoft.com/office/drawing/2014/main" id="{28C4871D-0AD7-4D64-6AF2-63A98BB0C00C}"/>
              </a:ext>
            </a:extLst>
          </p:cNvPr>
          <p:cNvSpPr/>
          <p:nvPr/>
        </p:nvSpPr>
        <p:spPr>
          <a:xfrm>
            <a:off x="8393373" y="6428096"/>
            <a:ext cx="749484" cy="4299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Slide Number Placeholder 1">
            <a:extLst>
              <a:ext uri="{FF2B5EF4-FFF2-40B4-BE49-F238E27FC236}">
                <a16:creationId xmlns:a16="http://schemas.microsoft.com/office/drawing/2014/main" id="{29084CFD-595B-3BE8-83D1-9ED167A9BA72}"/>
              </a:ext>
            </a:extLst>
          </p:cNvPr>
          <p:cNvSpPr>
            <a:spLocks noGrp="1"/>
          </p:cNvSpPr>
          <p:nvPr>
            <p:ph type="sldNum" sz="quarter" idx="12"/>
          </p:nvPr>
        </p:nvSpPr>
        <p:spPr/>
        <p:txBody>
          <a:bodyPr/>
          <a:lstStyle/>
          <a:p>
            <a:fld id="{1466F282-3B2E-4770-B8F7-3A3BF1EE6D34}" type="slidenum">
              <a:rPr lang="en-US" smtClean="0"/>
              <a:t>4</a:t>
            </a:fld>
            <a:endParaRPr lang="en-US"/>
          </a:p>
        </p:txBody>
      </p:sp>
    </p:spTree>
    <p:extLst>
      <p:ext uri="{BB962C8B-B14F-4D97-AF65-F5344CB8AC3E}">
        <p14:creationId xmlns:p14="http://schemas.microsoft.com/office/powerpoint/2010/main" val="4054992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D71E3-8F32-5BB2-9207-A5D696597C4C}"/>
              </a:ext>
            </a:extLst>
          </p:cNvPr>
          <p:cNvSpPr>
            <a:spLocks noGrp="1"/>
          </p:cNvSpPr>
          <p:nvPr>
            <p:ph type="title"/>
          </p:nvPr>
        </p:nvSpPr>
        <p:spPr/>
        <p:txBody>
          <a:bodyPr/>
          <a:lstStyle/>
          <a:p>
            <a:r>
              <a:rPr lang="en-US" dirty="0"/>
              <a:t>Before We Get There...</a:t>
            </a:r>
          </a:p>
        </p:txBody>
      </p:sp>
      <p:sp>
        <p:nvSpPr>
          <p:cNvPr id="3" name="Content Placeholder 2">
            <a:extLst>
              <a:ext uri="{FF2B5EF4-FFF2-40B4-BE49-F238E27FC236}">
                <a16:creationId xmlns:a16="http://schemas.microsoft.com/office/drawing/2014/main" id="{921D8C05-63B5-1477-C791-CF023ED8145B}"/>
              </a:ext>
            </a:extLst>
          </p:cNvPr>
          <p:cNvSpPr>
            <a:spLocks noGrp="1"/>
          </p:cNvSpPr>
          <p:nvPr>
            <p:ph idx="1"/>
          </p:nvPr>
        </p:nvSpPr>
        <p:spPr/>
        <p:txBody>
          <a:bodyPr vert="horz" lIns="91440" tIns="45720" rIns="91440" bIns="45720" rtlCol="0" anchor="t">
            <a:normAutofit fontScale="92500" lnSpcReduction="20000"/>
          </a:bodyPr>
          <a:lstStyle/>
          <a:p>
            <a:r>
              <a:rPr lang="en-US" dirty="0"/>
              <a:t>Let's focus on our</a:t>
            </a:r>
            <a:r>
              <a:rPr lang="en-US"/>
              <a:t> nation and local challenges</a:t>
            </a:r>
          </a:p>
          <a:p>
            <a:r>
              <a:rPr lang="en-US" dirty="0"/>
              <a:t>National Readiness Targets</a:t>
            </a:r>
          </a:p>
          <a:p>
            <a:pPr lvl="1">
              <a:buFont typeface="Courier New" panose="020B0604020202020204" pitchFamily="34" charset="0"/>
              <a:buChar char="o"/>
            </a:pPr>
            <a:r>
              <a:rPr lang="en-US"/>
              <a:t>Near constant large-scale operations nationally</a:t>
            </a:r>
          </a:p>
          <a:p>
            <a:pPr lvl="1">
              <a:buFont typeface="Courier New" panose="020B0604020202020204" pitchFamily="34" charset="0"/>
              <a:buChar char="o"/>
            </a:pPr>
            <a:r>
              <a:rPr lang="en-US" dirty="0"/>
              <a:t>Each Region has been assigned goals to achieve</a:t>
            </a:r>
          </a:p>
          <a:p>
            <a:pPr lvl="1">
              <a:buFont typeface="Courier New" panose="020B0604020202020204" pitchFamily="34" charset="0"/>
              <a:buChar char="o"/>
            </a:pPr>
            <a:r>
              <a:rPr lang="en-US"/>
              <a:t>SEPA's Goal = operate six 200-bed shelters </a:t>
            </a:r>
            <a:r>
              <a:rPr lang="en-US" dirty="0"/>
              <a:t>simultaneously for over 3 days before help arrives</a:t>
            </a:r>
          </a:p>
          <a:p>
            <a:pPr lvl="2">
              <a:buFont typeface="Wingdings" panose="020B0604020202020204" pitchFamily="34" charset="0"/>
              <a:buChar char="§"/>
            </a:pPr>
            <a:r>
              <a:rPr lang="en-US" dirty="0"/>
              <a:t>720 shelter guests (in FY2026)</a:t>
            </a:r>
          </a:p>
          <a:p>
            <a:pPr lvl="2">
              <a:buFont typeface="Wingdings" panose="020B0604020202020204" pitchFamily="34" charset="0"/>
              <a:buChar char="§"/>
            </a:pPr>
            <a:r>
              <a:rPr lang="en-US" dirty="0"/>
              <a:t>Over 10,152 meals served in 4 days (in FY2026)</a:t>
            </a:r>
          </a:p>
          <a:p>
            <a:r>
              <a:rPr lang="en-US" dirty="0"/>
              <a:t>To meet these </a:t>
            </a:r>
            <a:r>
              <a:rPr lang="en-US"/>
              <a:t>challenges,</a:t>
            </a:r>
            <a:r>
              <a:rPr lang="en-US" dirty="0"/>
              <a:t> we need:</a:t>
            </a:r>
          </a:p>
          <a:p>
            <a:pPr lvl="1">
              <a:buFont typeface="Courier New" panose="020B0604020202020204" pitchFamily="34" charset="0"/>
              <a:buChar char="o"/>
            </a:pPr>
            <a:r>
              <a:rPr lang="en-US" dirty="0"/>
              <a:t>More trained volunteers or partners</a:t>
            </a:r>
          </a:p>
          <a:p>
            <a:pPr lvl="1">
              <a:buFont typeface="Courier New" panose="020B0604020202020204" pitchFamily="34" charset="0"/>
              <a:buChar char="o"/>
            </a:pPr>
            <a:r>
              <a:rPr lang="en-US" dirty="0"/>
              <a:t>More feeding partners and vendors</a:t>
            </a:r>
          </a:p>
          <a:p>
            <a:pPr lvl="1">
              <a:buFont typeface="Courier New" panose="020B0604020202020204" pitchFamily="34" charset="0"/>
              <a:buChar char="o"/>
            </a:pPr>
            <a:r>
              <a:rPr lang="en-US" dirty="0"/>
              <a:t>More equipment</a:t>
            </a:r>
          </a:p>
          <a:p>
            <a:pPr lvl="1">
              <a:buFont typeface="Courier New" panose="020B0604020202020204" pitchFamily="34" charset="0"/>
              <a:buChar char="o"/>
            </a:pPr>
            <a:r>
              <a:rPr lang="en-US" dirty="0"/>
              <a:t>More supplies</a:t>
            </a:r>
          </a:p>
          <a:p>
            <a:pPr lvl="2">
              <a:buFont typeface="Wingdings" panose="020B0604020202020204" pitchFamily="34" charset="0"/>
              <a:buChar char="§"/>
            </a:pPr>
            <a:endParaRPr lang="en-US" dirty="0"/>
          </a:p>
          <a:p>
            <a:pPr lvl="2">
              <a:buFont typeface="Wingdings"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383211E-2015-2C44-4C80-86405969BAA2}"/>
              </a:ext>
            </a:extLst>
          </p:cNvPr>
          <p:cNvSpPr>
            <a:spLocks noGrp="1"/>
          </p:cNvSpPr>
          <p:nvPr>
            <p:ph type="sldNum" sz="quarter" idx="12"/>
          </p:nvPr>
        </p:nvSpPr>
        <p:spPr/>
        <p:txBody>
          <a:bodyPr/>
          <a:lstStyle/>
          <a:p>
            <a:fld id="{1466F282-3B2E-4770-B8F7-3A3BF1EE6D34}" type="slidenum">
              <a:rPr lang="en-US" smtClean="0"/>
              <a:t>5</a:t>
            </a:fld>
            <a:endParaRPr lang="en-US"/>
          </a:p>
        </p:txBody>
      </p:sp>
    </p:spTree>
    <p:extLst>
      <p:ext uri="{BB962C8B-B14F-4D97-AF65-F5344CB8AC3E}">
        <p14:creationId xmlns:p14="http://schemas.microsoft.com/office/powerpoint/2010/main" val="1230634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4553E00F-6C47-3E6C-F112-17662ED47AB1}"/>
              </a:ext>
            </a:extLst>
          </p:cNvPr>
          <p:cNvPicPr>
            <a:picLocks noChangeAspect="1"/>
          </p:cNvPicPr>
          <p:nvPr/>
        </p:nvPicPr>
        <p:blipFill>
          <a:blip r:embed="rId2"/>
          <a:srcRect b="19"/>
          <a:stretch>
            <a:fillRect/>
          </a:stretch>
        </p:blipFill>
        <p:spPr>
          <a:xfrm>
            <a:off x="20" y="1282"/>
            <a:ext cx="9143980" cy="6856718"/>
          </a:xfrm>
          <a:prstGeom prst="rect">
            <a:avLst/>
          </a:prstGeom>
        </p:spPr>
      </p:pic>
      <p:sp>
        <p:nvSpPr>
          <p:cNvPr id="3" name="TextBox 2">
            <a:extLst>
              <a:ext uri="{FF2B5EF4-FFF2-40B4-BE49-F238E27FC236}">
                <a16:creationId xmlns:a16="http://schemas.microsoft.com/office/drawing/2014/main" id="{28555A9A-C15F-3812-50C7-6C7828745553}"/>
              </a:ext>
            </a:extLst>
          </p:cNvPr>
          <p:cNvSpPr txBox="1"/>
          <p:nvPr/>
        </p:nvSpPr>
        <p:spPr>
          <a:xfrm>
            <a:off x="1705969" y="6428096"/>
            <a:ext cx="6522487" cy="369332"/>
          </a:xfrm>
          <a:prstGeom prst="rect">
            <a:avLst/>
          </a:prstGeom>
          <a:noFill/>
        </p:spPr>
        <p:txBody>
          <a:bodyPr wrap="square" rtlCol="0">
            <a:spAutoFit/>
          </a:bodyPr>
          <a:lstStyle/>
          <a:p>
            <a:r>
              <a:rPr lang="en-US"/>
              <a:t>Source: Feeding Fundamentals V2 Course Presentation</a:t>
            </a:r>
          </a:p>
        </p:txBody>
      </p:sp>
      <p:sp>
        <p:nvSpPr>
          <p:cNvPr id="4" name="Rectangle 3">
            <a:extLst>
              <a:ext uri="{FF2B5EF4-FFF2-40B4-BE49-F238E27FC236}">
                <a16:creationId xmlns:a16="http://schemas.microsoft.com/office/drawing/2014/main" id="{78325479-73D9-9254-9945-CCA80279890F}"/>
              </a:ext>
            </a:extLst>
          </p:cNvPr>
          <p:cNvSpPr/>
          <p:nvPr/>
        </p:nvSpPr>
        <p:spPr>
          <a:xfrm>
            <a:off x="8393373" y="6428096"/>
            <a:ext cx="749484" cy="4299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Slide Number Placeholder 4">
            <a:extLst>
              <a:ext uri="{FF2B5EF4-FFF2-40B4-BE49-F238E27FC236}">
                <a16:creationId xmlns:a16="http://schemas.microsoft.com/office/drawing/2014/main" id="{78A812D3-2743-66B5-3BF6-A49EC75BE653}"/>
              </a:ext>
            </a:extLst>
          </p:cNvPr>
          <p:cNvSpPr>
            <a:spLocks noGrp="1"/>
          </p:cNvSpPr>
          <p:nvPr>
            <p:ph type="sldNum" sz="quarter" idx="12"/>
          </p:nvPr>
        </p:nvSpPr>
        <p:spPr/>
        <p:txBody>
          <a:bodyPr/>
          <a:lstStyle/>
          <a:p>
            <a:fld id="{1466F282-3B2E-4770-B8F7-3A3BF1EE6D34}" type="slidenum">
              <a:rPr lang="en-US" smtClean="0"/>
              <a:t>6</a:t>
            </a:fld>
            <a:endParaRPr lang="en-US"/>
          </a:p>
        </p:txBody>
      </p:sp>
    </p:spTree>
    <p:extLst>
      <p:ext uri="{BB962C8B-B14F-4D97-AF65-F5344CB8AC3E}">
        <p14:creationId xmlns:p14="http://schemas.microsoft.com/office/powerpoint/2010/main" val="494573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8F6B1B6F-EB1B-8BCE-1830-4F2A8DF5DEB9}"/>
              </a:ext>
            </a:extLst>
          </p:cNvPr>
          <p:cNvPicPr>
            <a:picLocks noChangeAspect="1"/>
          </p:cNvPicPr>
          <p:nvPr/>
        </p:nvPicPr>
        <p:blipFill>
          <a:blip r:embed="rId2"/>
          <a:srcRect b="19"/>
          <a:stretch>
            <a:fillRect/>
          </a:stretch>
        </p:blipFill>
        <p:spPr>
          <a:xfrm>
            <a:off x="20" y="1282"/>
            <a:ext cx="9143980" cy="6856718"/>
          </a:xfrm>
          <a:prstGeom prst="rect">
            <a:avLst/>
          </a:prstGeom>
        </p:spPr>
      </p:pic>
      <p:sp>
        <p:nvSpPr>
          <p:cNvPr id="3" name="TextBox 2">
            <a:extLst>
              <a:ext uri="{FF2B5EF4-FFF2-40B4-BE49-F238E27FC236}">
                <a16:creationId xmlns:a16="http://schemas.microsoft.com/office/drawing/2014/main" id="{01664F08-625D-981E-0981-F2877ABDE9D9}"/>
              </a:ext>
            </a:extLst>
          </p:cNvPr>
          <p:cNvSpPr txBox="1"/>
          <p:nvPr/>
        </p:nvSpPr>
        <p:spPr>
          <a:xfrm>
            <a:off x="2879678" y="3319816"/>
            <a:ext cx="2770495" cy="646331"/>
          </a:xfrm>
          <a:prstGeom prst="rect">
            <a:avLst/>
          </a:prstGeom>
          <a:noFill/>
        </p:spPr>
        <p:txBody>
          <a:bodyPr wrap="square" rtlCol="0">
            <a:spAutoFit/>
          </a:bodyPr>
          <a:lstStyle/>
          <a:p>
            <a:r>
              <a:rPr lang="en-US" b="1">
                <a:solidFill>
                  <a:srgbClr val="FF0000"/>
                </a:solidFill>
              </a:rPr>
              <a:t>Sometimes Grab &amp; Go Breakfast</a:t>
            </a:r>
          </a:p>
        </p:txBody>
      </p:sp>
      <p:sp>
        <p:nvSpPr>
          <p:cNvPr id="4" name="TextBox 3">
            <a:extLst>
              <a:ext uri="{FF2B5EF4-FFF2-40B4-BE49-F238E27FC236}">
                <a16:creationId xmlns:a16="http://schemas.microsoft.com/office/drawing/2014/main" id="{77937274-8C9E-FAA9-B7E6-271342FC5CD6}"/>
              </a:ext>
            </a:extLst>
          </p:cNvPr>
          <p:cNvSpPr txBox="1"/>
          <p:nvPr/>
        </p:nvSpPr>
        <p:spPr>
          <a:xfrm>
            <a:off x="1165682" y="4599296"/>
            <a:ext cx="4956238" cy="646331"/>
          </a:xfrm>
          <a:prstGeom prst="rect">
            <a:avLst/>
          </a:prstGeom>
          <a:noFill/>
        </p:spPr>
        <p:txBody>
          <a:bodyPr wrap="square" lIns="91440" tIns="45720" rIns="91440" bIns="45720" rtlCol="0" anchor="t">
            <a:spAutoFit/>
          </a:bodyPr>
          <a:lstStyle/>
          <a:p>
            <a:r>
              <a:rPr lang="en-US" b="1">
                <a:solidFill>
                  <a:srgbClr val="FF0000"/>
                </a:solidFill>
              </a:rPr>
              <a:t>Reception or Community centers, gov’t buildings, church halls, ERV @ hotels.</a:t>
            </a:r>
          </a:p>
        </p:txBody>
      </p:sp>
      <p:sp>
        <p:nvSpPr>
          <p:cNvPr id="5" name="TextBox 4">
            <a:extLst>
              <a:ext uri="{FF2B5EF4-FFF2-40B4-BE49-F238E27FC236}">
                <a16:creationId xmlns:a16="http://schemas.microsoft.com/office/drawing/2014/main" id="{87D6B15E-0E3D-3255-DF8E-900301AE162A}"/>
              </a:ext>
            </a:extLst>
          </p:cNvPr>
          <p:cNvSpPr txBox="1"/>
          <p:nvPr/>
        </p:nvSpPr>
        <p:spPr>
          <a:xfrm>
            <a:off x="5036027" y="5245627"/>
            <a:ext cx="1583141" cy="923330"/>
          </a:xfrm>
          <a:prstGeom prst="rect">
            <a:avLst/>
          </a:prstGeom>
          <a:noFill/>
        </p:spPr>
        <p:txBody>
          <a:bodyPr wrap="square" rtlCol="0">
            <a:spAutoFit/>
          </a:bodyPr>
          <a:lstStyle/>
          <a:p>
            <a:r>
              <a:rPr lang="en-US" b="1">
                <a:solidFill>
                  <a:srgbClr val="FF0000"/>
                </a:solidFill>
              </a:rPr>
              <a:t>ERVs, MRVs, trucks, SUVs, etc.</a:t>
            </a:r>
          </a:p>
        </p:txBody>
      </p:sp>
      <p:sp>
        <p:nvSpPr>
          <p:cNvPr id="9" name="TextBox 8">
            <a:extLst>
              <a:ext uri="{FF2B5EF4-FFF2-40B4-BE49-F238E27FC236}">
                <a16:creationId xmlns:a16="http://schemas.microsoft.com/office/drawing/2014/main" id="{86EE392A-05E3-9BD7-D2F2-6684AD733A42}"/>
              </a:ext>
            </a:extLst>
          </p:cNvPr>
          <p:cNvSpPr txBox="1"/>
          <p:nvPr/>
        </p:nvSpPr>
        <p:spPr>
          <a:xfrm>
            <a:off x="1705969" y="6428096"/>
            <a:ext cx="6522487" cy="369332"/>
          </a:xfrm>
          <a:prstGeom prst="rect">
            <a:avLst/>
          </a:prstGeom>
          <a:noFill/>
        </p:spPr>
        <p:txBody>
          <a:bodyPr wrap="square" rtlCol="0">
            <a:spAutoFit/>
          </a:bodyPr>
          <a:lstStyle/>
          <a:p>
            <a:r>
              <a:rPr lang="en-US"/>
              <a:t>Source: Feeding Fundamentals V2 Course Presentation</a:t>
            </a:r>
          </a:p>
        </p:txBody>
      </p:sp>
      <p:sp>
        <p:nvSpPr>
          <p:cNvPr id="10" name="Rectangle 9">
            <a:extLst>
              <a:ext uri="{FF2B5EF4-FFF2-40B4-BE49-F238E27FC236}">
                <a16:creationId xmlns:a16="http://schemas.microsoft.com/office/drawing/2014/main" id="{672D1B0D-265B-88FF-3F8C-CFB6103489B1}"/>
              </a:ext>
            </a:extLst>
          </p:cNvPr>
          <p:cNvSpPr/>
          <p:nvPr/>
        </p:nvSpPr>
        <p:spPr>
          <a:xfrm>
            <a:off x="8393373" y="6428096"/>
            <a:ext cx="749484" cy="4299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Slide Number Placeholder 5">
            <a:extLst>
              <a:ext uri="{FF2B5EF4-FFF2-40B4-BE49-F238E27FC236}">
                <a16:creationId xmlns:a16="http://schemas.microsoft.com/office/drawing/2014/main" id="{D4015A01-1289-6B02-DEB9-0971ED3D50AC}"/>
              </a:ext>
            </a:extLst>
          </p:cNvPr>
          <p:cNvSpPr>
            <a:spLocks noGrp="1"/>
          </p:cNvSpPr>
          <p:nvPr>
            <p:ph type="sldNum" sz="quarter" idx="12"/>
          </p:nvPr>
        </p:nvSpPr>
        <p:spPr/>
        <p:txBody>
          <a:bodyPr/>
          <a:lstStyle/>
          <a:p>
            <a:fld id="{1466F282-3B2E-4770-B8F7-3A3BF1EE6D34}" type="slidenum">
              <a:rPr lang="en-US" smtClean="0"/>
              <a:t>7</a:t>
            </a:fld>
            <a:endParaRPr lang="en-US"/>
          </a:p>
        </p:txBody>
      </p:sp>
    </p:spTree>
    <p:extLst>
      <p:ext uri="{BB962C8B-B14F-4D97-AF65-F5344CB8AC3E}">
        <p14:creationId xmlns:p14="http://schemas.microsoft.com/office/powerpoint/2010/main" val="4228990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BCF71A46-E0D6-506D-2839-D42D8049FE15}"/>
              </a:ext>
            </a:extLst>
          </p:cNvPr>
          <p:cNvPicPr>
            <a:picLocks noChangeAspect="1"/>
          </p:cNvPicPr>
          <p:nvPr/>
        </p:nvPicPr>
        <p:blipFill>
          <a:blip r:embed="rId2"/>
          <a:srcRect b="19"/>
          <a:stretch>
            <a:fillRect/>
          </a:stretch>
        </p:blipFill>
        <p:spPr>
          <a:xfrm>
            <a:off x="20" y="1282"/>
            <a:ext cx="9143980" cy="6856718"/>
          </a:xfrm>
          <a:prstGeom prst="rect">
            <a:avLst/>
          </a:prstGeom>
        </p:spPr>
      </p:pic>
      <p:sp>
        <p:nvSpPr>
          <p:cNvPr id="3" name="TextBox 2">
            <a:extLst>
              <a:ext uri="{FF2B5EF4-FFF2-40B4-BE49-F238E27FC236}">
                <a16:creationId xmlns:a16="http://schemas.microsoft.com/office/drawing/2014/main" id="{E2EE4981-8AC3-94B9-F690-FA9D3E8D10D7}"/>
              </a:ext>
            </a:extLst>
          </p:cNvPr>
          <p:cNvSpPr txBox="1"/>
          <p:nvPr/>
        </p:nvSpPr>
        <p:spPr>
          <a:xfrm>
            <a:off x="4612943" y="5459105"/>
            <a:ext cx="4531057" cy="923330"/>
          </a:xfrm>
          <a:prstGeom prst="rect">
            <a:avLst/>
          </a:prstGeom>
          <a:noFill/>
        </p:spPr>
        <p:txBody>
          <a:bodyPr wrap="square" rtlCol="0">
            <a:spAutoFit/>
          </a:bodyPr>
          <a:lstStyle/>
          <a:p>
            <a:r>
              <a:rPr lang="en-US" b="1">
                <a:solidFill>
                  <a:srgbClr val="FF0000"/>
                </a:solidFill>
              </a:rPr>
              <a:t>More frequent in large scale disasters. If we see frequent Level 3 and above DROs we will have increased </a:t>
            </a:r>
            <a:r>
              <a:rPr lang="en-US" b="1" err="1">
                <a:solidFill>
                  <a:srgbClr val="FF0000"/>
                </a:solidFill>
              </a:rPr>
              <a:t>canteening</a:t>
            </a:r>
            <a:r>
              <a:rPr lang="en-US" b="1">
                <a:solidFill>
                  <a:srgbClr val="FF0000"/>
                </a:solidFill>
              </a:rPr>
              <a:t>.</a:t>
            </a:r>
          </a:p>
        </p:txBody>
      </p:sp>
      <p:sp>
        <p:nvSpPr>
          <p:cNvPr id="4" name="TextBox 3">
            <a:extLst>
              <a:ext uri="{FF2B5EF4-FFF2-40B4-BE49-F238E27FC236}">
                <a16:creationId xmlns:a16="http://schemas.microsoft.com/office/drawing/2014/main" id="{B3FB11AB-5AF6-9124-7D0A-79AB999B43C3}"/>
              </a:ext>
            </a:extLst>
          </p:cNvPr>
          <p:cNvSpPr txBox="1"/>
          <p:nvPr/>
        </p:nvSpPr>
        <p:spPr>
          <a:xfrm>
            <a:off x="1705969" y="6428096"/>
            <a:ext cx="6522487" cy="369332"/>
          </a:xfrm>
          <a:prstGeom prst="rect">
            <a:avLst/>
          </a:prstGeom>
          <a:noFill/>
        </p:spPr>
        <p:txBody>
          <a:bodyPr wrap="square" rtlCol="0">
            <a:spAutoFit/>
          </a:bodyPr>
          <a:lstStyle/>
          <a:p>
            <a:r>
              <a:rPr lang="en-US"/>
              <a:t>Source: Feeding Fundamentals V2 Course Presentation</a:t>
            </a:r>
          </a:p>
        </p:txBody>
      </p:sp>
      <p:sp>
        <p:nvSpPr>
          <p:cNvPr id="5" name="Rectangle 4">
            <a:extLst>
              <a:ext uri="{FF2B5EF4-FFF2-40B4-BE49-F238E27FC236}">
                <a16:creationId xmlns:a16="http://schemas.microsoft.com/office/drawing/2014/main" id="{C072930C-0240-937A-B6CC-AB31E6FEA362}"/>
              </a:ext>
            </a:extLst>
          </p:cNvPr>
          <p:cNvSpPr/>
          <p:nvPr/>
        </p:nvSpPr>
        <p:spPr>
          <a:xfrm>
            <a:off x="8393373" y="6428096"/>
            <a:ext cx="749484" cy="4299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Slide Number Placeholder 5">
            <a:extLst>
              <a:ext uri="{FF2B5EF4-FFF2-40B4-BE49-F238E27FC236}">
                <a16:creationId xmlns:a16="http://schemas.microsoft.com/office/drawing/2014/main" id="{AD3A0847-6659-24AD-AE30-9057D87AE050}"/>
              </a:ext>
            </a:extLst>
          </p:cNvPr>
          <p:cNvSpPr>
            <a:spLocks noGrp="1"/>
          </p:cNvSpPr>
          <p:nvPr>
            <p:ph type="sldNum" sz="quarter" idx="12"/>
          </p:nvPr>
        </p:nvSpPr>
        <p:spPr/>
        <p:txBody>
          <a:bodyPr/>
          <a:lstStyle/>
          <a:p>
            <a:fld id="{1466F282-3B2E-4770-B8F7-3A3BF1EE6D34}" type="slidenum">
              <a:rPr lang="en-US" smtClean="0"/>
              <a:t>8</a:t>
            </a:fld>
            <a:endParaRPr lang="en-US"/>
          </a:p>
        </p:txBody>
      </p:sp>
    </p:spTree>
    <p:extLst>
      <p:ext uri="{BB962C8B-B14F-4D97-AF65-F5344CB8AC3E}">
        <p14:creationId xmlns:p14="http://schemas.microsoft.com/office/powerpoint/2010/main" val="1319950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12673C1-4013-822B-E60B-4E91D26FC6EF}"/>
              </a:ext>
            </a:extLst>
          </p:cNvPr>
          <p:cNvPicPr>
            <a:picLocks noChangeAspect="1"/>
          </p:cNvPicPr>
          <p:nvPr/>
        </p:nvPicPr>
        <p:blipFill>
          <a:blip r:embed="rId2"/>
          <a:srcRect b="19"/>
          <a:stretch>
            <a:fillRect/>
          </a:stretch>
        </p:blipFill>
        <p:spPr>
          <a:xfrm>
            <a:off x="20" y="1282"/>
            <a:ext cx="9143980" cy="6856718"/>
          </a:xfrm>
          <a:prstGeom prst="rect">
            <a:avLst/>
          </a:prstGeom>
        </p:spPr>
      </p:pic>
      <p:sp>
        <p:nvSpPr>
          <p:cNvPr id="3" name="TextBox 2">
            <a:extLst>
              <a:ext uri="{FF2B5EF4-FFF2-40B4-BE49-F238E27FC236}">
                <a16:creationId xmlns:a16="http://schemas.microsoft.com/office/drawing/2014/main" id="{BCEA1848-AB4D-2A73-9D91-6BDB4C00087D}"/>
              </a:ext>
            </a:extLst>
          </p:cNvPr>
          <p:cNvSpPr txBox="1"/>
          <p:nvPr/>
        </p:nvSpPr>
        <p:spPr>
          <a:xfrm>
            <a:off x="7751928" y="1924334"/>
            <a:ext cx="1390929" cy="646331"/>
          </a:xfrm>
          <a:prstGeom prst="rect">
            <a:avLst/>
          </a:prstGeom>
          <a:noFill/>
        </p:spPr>
        <p:txBody>
          <a:bodyPr wrap="square" lIns="91440" tIns="45720" rIns="91440" bIns="45720" rtlCol="0" anchor="t">
            <a:spAutoFit/>
          </a:bodyPr>
          <a:lstStyle/>
          <a:p>
            <a:r>
              <a:rPr lang="en-US" b="1">
                <a:solidFill>
                  <a:srgbClr val="FF0000"/>
                </a:solidFill>
              </a:rPr>
              <a:t>Level 4 to 7?</a:t>
            </a:r>
          </a:p>
        </p:txBody>
      </p:sp>
      <p:sp>
        <p:nvSpPr>
          <p:cNvPr id="4" name="TextBox 3">
            <a:extLst>
              <a:ext uri="{FF2B5EF4-FFF2-40B4-BE49-F238E27FC236}">
                <a16:creationId xmlns:a16="http://schemas.microsoft.com/office/drawing/2014/main" id="{25630481-FC0D-AC6C-9B48-A028E110741D}"/>
              </a:ext>
            </a:extLst>
          </p:cNvPr>
          <p:cNvSpPr txBox="1"/>
          <p:nvPr/>
        </p:nvSpPr>
        <p:spPr>
          <a:xfrm>
            <a:off x="-77931" y="3302098"/>
            <a:ext cx="1189989" cy="1323439"/>
          </a:xfrm>
          <a:prstGeom prst="rect">
            <a:avLst/>
          </a:prstGeom>
          <a:noFill/>
        </p:spPr>
        <p:txBody>
          <a:bodyPr wrap="square" lIns="91440" tIns="45720" rIns="91440" bIns="45720" rtlCol="0" anchor="t">
            <a:spAutoFit/>
          </a:bodyPr>
          <a:lstStyle/>
          <a:p>
            <a:r>
              <a:rPr lang="en-US" sz="1600" b="1" dirty="0">
                <a:solidFill>
                  <a:srgbClr val="FF0000"/>
                </a:solidFill>
              </a:rPr>
              <a:t>Salvation Army and Wawa but we need more</a:t>
            </a:r>
          </a:p>
        </p:txBody>
      </p:sp>
      <p:sp>
        <p:nvSpPr>
          <p:cNvPr id="5" name="TextBox 4">
            <a:extLst>
              <a:ext uri="{FF2B5EF4-FFF2-40B4-BE49-F238E27FC236}">
                <a16:creationId xmlns:a16="http://schemas.microsoft.com/office/drawing/2014/main" id="{FAFB229B-57B6-EAB9-3441-434A7A0A7EFF}"/>
              </a:ext>
            </a:extLst>
          </p:cNvPr>
          <p:cNvSpPr txBox="1"/>
          <p:nvPr/>
        </p:nvSpPr>
        <p:spPr>
          <a:xfrm>
            <a:off x="6673755" y="6114197"/>
            <a:ext cx="2469102" cy="369332"/>
          </a:xfrm>
          <a:prstGeom prst="rect">
            <a:avLst/>
          </a:prstGeom>
          <a:noFill/>
        </p:spPr>
        <p:txBody>
          <a:bodyPr wrap="square" rtlCol="0">
            <a:spAutoFit/>
          </a:bodyPr>
          <a:lstStyle/>
          <a:p>
            <a:r>
              <a:rPr lang="en-US" b="1">
                <a:solidFill>
                  <a:srgbClr val="FF0000"/>
                </a:solidFill>
              </a:rPr>
              <a:t>MREs or _____________</a:t>
            </a:r>
          </a:p>
        </p:txBody>
      </p:sp>
      <p:sp>
        <p:nvSpPr>
          <p:cNvPr id="6" name="TextBox 5">
            <a:extLst>
              <a:ext uri="{FF2B5EF4-FFF2-40B4-BE49-F238E27FC236}">
                <a16:creationId xmlns:a16="http://schemas.microsoft.com/office/drawing/2014/main" id="{15231403-E7F2-48E8-6515-CD9E41332324}"/>
              </a:ext>
            </a:extLst>
          </p:cNvPr>
          <p:cNvSpPr txBox="1"/>
          <p:nvPr/>
        </p:nvSpPr>
        <p:spPr>
          <a:xfrm>
            <a:off x="3534770" y="4489439"/>
            <a:ext cx="5608087" cy="369332"/>
          </a:xfrm>
          <a:prstGeom prst="rect">
            <a:avLst/>
          </a:prstGeom>
          <a:noFill/>
        </p:spPr>
        <p:txBody>
          <a:bodyPr wrap="square" rtlCol="0">
            <a:spAutoFit/>
          </a:bodyPr>
          <a:lstStyle/>
          <a:p>
            <a:r>
              <a:rPr lang="en-US" b="1">
                <a:solidFill>
                  <a:srgbClr val="FF0000"/>
                </a:solidFill>
              </a:rPr>
              <a:t>Vendor Expansion Project – build partners thru 2030</a:t>
            </a:r>
          </a:p>
        </p:txBody>
      </p:sp>
      <p:sp>
        <p:nvSpPr>
          <p:cNvPr id="8" name="TextBox 7">
            <a:extLst>
              <a:ext uri="{FF2B5EF4-FFF2-40B4-BE49-F238E27FC236}">
                <a16:creationId xmlns:a16="http://schemas.microsoft.com/office/drawing/2014/main" id="{E9039C3B-8097-9E83-550D-710303CA9087}"/>
              </a:ext>
            </a:extLst>
          </p:cNvPr>
          <p:cNvSpPr txBox="1"/>
          <p:nvPr/>
        </p:nvSpPr>
        <p:spPr>
          <a:xfrm>
            <a:off x="1705969" y="6428096"/>
            <a:ext cx="6522487" cy="369332"/>
          </a:xfrm>
          <a:prstGeom prst="rect">
            <a:avLst/>
          </a:prstGeom>
          <a:noFill/>
        </p:spPr>
        <p:txBody>
          <a:bodyPr wrap="square" rtlCol="0">
            <a:spAutoFit/>
          </a:bodyPr>
          <a:lstStyle/>
          <a:p>
            <a:r>
              <a:rPr lang="en-US"/>
              <a:t>Source: Feeding Fundamentals V2 Course Presentation</a:t>
            </a:r>
          </a:p>
        </p:txBody>
      </p:sp>
      <p:sp>
        <p:nvSpPr>
          <p:cNvPr id="7" name="Rectangle 6">
            <a:extLst>
              <a:ext uri="{FF2B5EF4-FFF2-40B4-BE49-F238E27FC236}">
                <a16:creationId xmlns:a16="http://schemas.microsoft.com/office/drawing/2014/main" id="{ECF50413-3FA2-CBC5-1FA1-37B966958960}"/>
              </a:ext>
            </a:extLst>
          </p:cNvPr>
          <p:cNvSpPr/>
          <p:nvPr/>
        </p:nvSpPr>
        <p:spPr>
          <a:xfrm>
            <a:off x="8377670" y="6507306"/>
            <a:ext cx="753340" cy="31172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CFD3024D-EA48-51C9-56F9-F2BEB633E9C2}"/>
              </a:ext>
            </a:extLst>
          </p:cNvPr>
          <p:cNvSpPr>
            <a:spLocks noGrp="1"/>
          </p:cNvSpPr>
          <p:nvPr>
            <p:ph type="sldNum" sz="quarter" idx="12"/>
          </p:nvPr>
        </p:nvSpPr>
        <p:spPr/>
        <p:txBody>
          <a:bodyPr/>
          <a:lstStyle/>
          <a:p>
            <a:fld id="{1466F282-3B2E-4770-B8F7-3A3BF1EE6D34}" type="slidenum">
              <a:rPr lang="en-US" smtClean="0"/>
              <a:t>9</a:t>
            </a:fld>
            <a:endParaRPr lang="en-US"/>
          </a:p>
        </p:txBody>
      </p:sp>
      <p:sp>
        <p:nvSpPr>
          <p:cNvPr id="10" name="Rectangle 9">
            <a:extLst>
              <a:ext uri="{FF2B5EF4-FFF2-40B4-BE49-F238E27FC236}">
                <a16:creationId xmlns:a16="http://schemas.microsoft.com/office/drawing/2014/main" id="{E12B1394-2A0E-6FD0-C629-BAFB09B1F124}"/>
              </a:ext>
            </a:extLst>
          </p:cNvPr>
          <p:cNvSpPr/>
          <p:nvPr/>
        </p:nvSpPr>
        <p:spPr>
          <a:xfrm>
            <a:off x="-12988" y="3065318"/>
            <a:ext cx="9143999" cy="179243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9002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43BAE-93ED-DF5F-B092-507B7575BF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B1DD58-8E2A-53E4-4C34-C2B806519AA9}"/>
              </a:ext>
            </a:extLst>
          </p:cNvPr>
          <p:cNvSpPr>
            <a:spLocks noGrp="1"/>
          </p:cNvSpPr>
          <p:nvPr>
            <p:ph type="title"/>
          </p:nvPr>
        </p:nvSpPr>
        <p:spPr/>
        <p:txBody>
          <a:bodyPr/>
          <a:lstStyle/>
          <a:p>
            <a:r>
              <a:rPr lang="en-US"/>
              <a:t>Preparation - Personal </a:t>
            </a:r>
          </a:p>
        </p:txBody>
      </p:sp>
      <p:sp>
        <p:nvSpPr>
          <p:cNvPr id="3" name="Content Placeholder 2">
            <a:extLst>
              <a:ext uri="{FF2B5EF4-FFF2-40B4-BE49-F238E27FC236}">
                <a16:creationId xmlns:a16="http://schemas.microsoft.com/office/drawing/2014/main" id="{CBCB9016-74D6-1265-0ED8-98C5AFE8011D}"/>
              </a:ext>
            </a:extLst>
          </p:cNvPr>
          <p:cNvSpPr>
            <a:spLocks noGrp="1"/>
          </p:cNvSpPr>
          <p:nvPr>
            <p:ph idx="1"/>
          </p:nvPr>
        </p:nvSpPr>
        <p:spPr>
          <a:xfrm>
            <a:off x="628650" y="1416191"/>
            <a:ext cx="7886700" cy="4807187"/>
          </a:xfrm>
        </p:spPr>
        <p:txBody>
          <a:bodyPr vert="horz" lIns="91440" tIns="45720" rIns="91440" bIns="45720" rtlCol="0" anchor="t">
            <a:normAutofit fontScale="70000" lnSpcReduction="20000"/>
          </a:bodyPr>
          <a:lstStyle/>
          <a:p>
            <a:r>
              <a:rPr lang="en-US"/>
              <a:t>Training complete/refreshed</a:t>
            </a:r>
          </a:p>
          <a:p>
            <a:pPr lvl="1"/>
            <a:r>
              <a:rPr lang="en-US" sz="2300"/>
              <a:t>Talk to your Team Leaders – identify need for review of course material.</a:t>
            </a:r>
          </a:p>
          <a:p>
            <a:pPr lvl="1"/>
            <a:r>
              <a:rPr lang="en-US" sz="2400"/>
              <a:t>We </a:t>
            </a:r>
            <a:r>
              <a:rPr lang="en-US"/>
              <a:t>are looking </a:t>
            </a:r>
            <a:r>
              <a:rPr lang="en-US" sz="2400"/>
              <a:t> to promote 12 existing SAs </a:t>
            </a:r>
            <a:r>
              <a:rPr lang="en-US"/>
              <a:t>who have the appropriate knowledge and experience to</a:t>
            </a:r>
            <a:r>
              <a:rPr lang="en-US" sz="2400"/>
              <a:t> SV</a:t>
            </a:r>
            <a:r>
              <a:rPr lang="en-US"/>
              <a:t> level.</a:t>
            </a:r>
            <a:endParaRPr lang="en-US" sz="2400"/>
          </a:p>
          <a:p>
            <a:r>
              <a:rPr lang="en-US"/>
              <a:t>Staffing</a:t>
            </a:r>
          </a:p>
          <a:p>
            <a:pPr lvl="1"/>
            <a:r>
              <a:rPr lang="en-US"/>
              <a:t>Replace 12 promoted SAs</a:t>
            </a:r>
          </a:p>
          <a:p>
            <a:pPr lvl="1"/>
            <a:r>
              <a:rPr lang="en-US"/>
              <a:t>Add another 10 to 20 SAs before June 30, 2026</a:t>
            </a:r>
          </a:p>
          <a:p>
            <a:r>
              <a:rPr lang="en-US"/>
              <a:t>Mobile Phone</a:t>
            </a:r>
          </a:p>
          <a:p>
            <a:pPr lvl="1"/>
            <a:r>
              <a:rPr lang="en-US" sz="2000"/>
              <a:t>Charged &amp; charger cable packed</a:t>
            </a:r>
          </a:p>
          <a:p>
            <a:pPr lvl="1"/>
            <a:r>
              <a:rPr lang="en-US" sz="2000"/>
              <a:t>Red Cross Emergency App loaded</a:t>
            </a:r>
          </a:p>
          <a:p>
            <a:pPr lvl="1"/>
            <a:r>
              <a:rPr lang="en-US" sz="2000"/>
              <a:t>Links to Mass Care Teams site</a:t>
            </a:r>
          </a:p>
          <a:p>
            <a:r>
              <a:rPr lang="en-US"/>
              <a:t>Appropriate clothing &amp; footwear</a:t>
            </a:r>
          </a:p>
          <a:p>
            <a:pPr lvl="1"/>
            <a:r>
              <a:rPr lang="en-US" sz="2000"/>
              <a:t>Red Cross hat, shirt &amp; vest</a:t>
            </a:r>
          </a:p>
          <a:p>
            <a:r>
              <a:rPr lang="en-US"/>
              <a:t>Transportation plan</a:t>
            </a:r>
          </a:p>
          <a:p>
            <a:pPr lvl="1"/>
            <a:r>
              <a:rPr lang="en-US" sz="2200"/>
              <a:t>Method &amp; resources</a:t>
            </a:r>
          </a:p>
          <a:p>
            <a:pPr lvl="1"/>
            <a:r>
              <a:rPr lang="en-US" sz="2200"/>
              <a:t>Destination address</a:t>
            </a:r>
          </a:p>
          <a:p>
            <a:pPr lvl="1"/>
            <a:r>
              <a:rPr lang="en-US" sz="2200"/>
              <a:t>Traffic/route assessment</a:t>
            </a:r>
          </a:p>
          <a:p>
            <a:pPr lvl="1"/>
            <a:r>
              <a:rPr lang="en-US" sz="2200"/>
              <a:t>Backup plan</a:t>
            </a:r>
          </a:p>
          <a:p>
            <a:endParaRPr lang="en-US"/>
          </a:p>
        </p:txBody>
      </p:sp>
      <p:sp>
        <p:nvSpPr>
          <p:cNvPr id="4" name="Slide Number Placeholder 3">
            <a:extLst>
              <a:ext uri="{FF2B5EF4-FFF2-40B4-BE49-F238E27FC236}">
                <a16:creationId xmlns:a16="http://schemas.microsoft.com/office/drawing/2014/main" id="{0B1225E4-A55D-63EF-6220-720CCB458F84}"/>
              </a:ext>
            </a:extLst>
          </p:cNvPr>
          <p:cNvSpPr>
            <a:spLocks noGrp="1"/>
          </p:cNvSpPr>
          <p:nvPr>
            <p:ph type="sldNum" sz="quarter" idx="12"/>
          </p:nvPr>
        </p:nvSpPr>
        <p:spPr/>
        <p:txBody>
          <a:bodyPr/>
          <a:lstStyle/>
          <a:p>
            <a:fld id="{1466F282-3B2E-4770-B8F7-3A3BF1EE6D34}" type="slidenum">
              <a:rPr lang="en-US" smtClean="0"/>
              <a:t>10</a:t>
            </a:fld>
            <a:endParaRPr lang="en-US"/>
          </a:p>
        </p:txBody>
      </p:sp>
      <p:sp>
        <p:nvSpPr>
          <p:cNvPr id="6" name="TextBox 5">
            <a:extLst>
              <a:ext uri="{FF2B5EF4-FFF2-40B4-BE49-F238E27FC236}">
                <a16:creationId xmlns:a16="http://schemas.microsoft.com/office/drawing/2014/main" id="{92EFC924-19D0-0466-3325-F8F80FBCAA25}"/>
              </a:ext>
            </a:extLst>
          </p:cNvPr>
          <p:cNvSpPr txBox="1"/>
          <p:nvPr/>
        </p:nvSpPr>
        <p:spPr>
          <a:xfrm>
            <a:off x="7720993" y="1506681"/>
            <a:ext cx="126468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FF0000"/>
                </a:solidFill>
              </a:rPr>
              <a:t>Building team to meet NRT goal challenge</a:t>
            </a:r>
          </a:p>
        </p:txBody>
      </p:sp>
    </p:spTree>
    <p:extLst>
      <p:ext uri="{BB962C8B-B14F-4D97-AF65-F5344CB8AC3E}">
        <p14:creationId xmlns:p14="http://schemas.microsoft.com/office/powerpoint/2010/main" val="3826545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6C666D-DBAE-9628-29BC-C8D4ED349385}"/>
              </a:ext>
            </a:extLst>
          </p:cNvPr>
          <p:cNvSpPr>
            <a:spLocks noGrp="1"/>
          </p:cNvSpPr>
          <p:nvPr>
            <p:ph type="title"/>
          </p:nvPr>
        </p:nvSpPr>
        <p:spPr>
          <a:xfrm>
            <a:off x="630936" y="256032"/>
            <a:ext cx="7879842" cy="1014984"/>
          </a:xfrm>
        </p:spPr>
        <p:txBody>
          <a:bodyPr anchor="b">
            <a:normAutofit/>
          </a:bodyPr>
          <a:lstStyle/>
          <a:p>
            <a:r>
              <a:rPr lang="en-US" sz="3100"/>
              <a:t>Preparation - Congregate &amp; Fixed Outreach Feeding</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B691E047-79DC-98C3-BD16-E69E46E01531}"/>
              </a:ext>
            </a:extLst>
          </p:cNvPr>
          <p:cNvSpPr>
            <a:spLocks noGrp="1"/>
          </p:cNvSpPr>
          <p:nvPr>
            <p:ph type="sldNum" sz="quarter" idx="12"/>
          </p:nvPr>
        </p:nvSpPr>
        <p:spPr>
          <a:xfrm>
            <a:off x="6654940" y="6356350"/>
            <a:ext cx="1858124" cy="365125"/>
          </a:xfrm>
        </p:spPr>
        <p:txBody>
          <a:bodyPr>
            <a:normAutofit/>
          </a:bodyPr>
          <a:lstStyle/>
          <a:p>
            <a:pPr>
              <a:spcAft>
                <a:spcPts val="600"/>
              </a:spcAft>
            </a:pPr>
            <a:fld id="{1466F282-3B2E-4770-B8F7-3A3BF1EE6D34}" type="slidenum">
              <a:rPr lang="en-US">
                <a:solidFill>
                  <a:schemeClr val="tx1">
                    <a:lumMod val="50000"/>
                    <a:lumOff val="50000"/>
                  </a:schemeClr>
                </a:solidFill>
              </a:rPr>
              <a:pPr>
                <a:spcAft>
                  <a:spcPts val="600"/>
                </a:spcAft>
              </a:pPr>
              <a:t>11</a:t>
            </a:fld>
            <a:endParaRPr lang="en-US">
              <a:solidFill>
                <a:schemeClr val="tx1">
                  <a:lumMod val="50000"/>
                  <a:lumOff val="50000"/>
                </a:schemeClr>
              </a:solidFill>
            </a:endParaRPr>
          </a:p>
        </p:txBody>
      </p:sp>
      <p:graphicFrame>
        <p:nvGraphicFramePr>
          <p:cNvPr id="14" name="Content Placeholder 6">
            <a:extLst>
              <a:ext uri="{FF2B5EF4-FFF2-40B4-BE49-F238E27FC236}">
                <a16:creationId xmlns:a16="http://schemas.microsoft.com/office/drawing/2014/main" id="{588BB8E7-F097-7FE2-C855-0AAB4D1831E8}"/>
              </a:ext>
            </a:extLst>
          </p:cNvPr>
          <p:cNvGraphicFramePr>
            <a:graphicFrameLocks noGrp="1"/>
          </p:cNvGraphicFramePr>
          <p:nvPr>
            <p:ph idx="1"/>
            <p:extLst>
              <p:ext uri="{D42A27DB-BD31-4B8C-83A1-F6EECF244321}">
                <p14:modId xmlns:p14="http://schemas.microsoft.com/office/powerpoint/2010/main" val="2863444159"/>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15355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5B67B-F80A-46C9-7D13-E7517F162A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AD6976-C10E-AE89-BB9E-20BB83357626}"/>
              </a:ext>
            </a:extLst>
          </p:cNvPr>
          <p:cNvSpPr>
            <a:spLocks noGrp="1"/>
          </p:cNvSpPr>
          <p:nvPr>
            <p:ph type="title"/>
          </p:nvPr>
        </p:nvSpPr>
        <p:spPr/>
        <p:txBody>
          <a:bodyPr/>
          <a:lstStyle/>
          <a:p>
            <a:r>
              <a:rPr lang="en-US" dirty="0"/>
              <a:t>Preparation - Congregate &amp; Fixed Outreach Feeding</a:t>
            </a:r>
          </a:p>
        </p:txBody>
      </p:sp>
      <p:sp>
        <p:nvSpPr>
          <p:cNvPr id="4" name="Slide Number Placeholder 3">
            <a:extLst>
              <a:ext uri="{FF2B5EF4-FFF2-40B4-BE49-F238E27FC236}">
                <a16:creationId xmlns:a16="http://schemas.microsoft.com/office/drawing/2014/main" id="{1B9164FB-B16D-5F0B-88AF-45B63EA90022}"/>
              </a:ext>
            </a:extLst>
          </p:cNvPr>
          <p:cNvSpPr>
            <a:spLocks noGrp="1"/>
          </p:cNvSpPr>
          <p:nvPr>
            <p:ph type="sldNum" sz="quarter" idx="12"/>
          </p:nvPr>
        </p:nvSpPr>
        <p:spPr/>
        <p:txBody>
          <a:bodyPr/>
          <a:lstStyle/>
          <a:p>
            <a:fld id="{1466F282-3B2E-4770-B8F7-3A3BF1EE6D34}" type="slidenum">
              <a:rPr lang="en-US" smtClean="0"/>
              <a:t>12</a:t>
            </a:fld>
            <a:endParaRPr lang="en-US"/>
          </a:p>
        </p:txBody>
      </p:sp>
      <p:graphicFrame>
        <p:nvGraphicFramePr>
          <p:cNvPr id="12" name="Content Placeholder 11">
            <a:extLst>
              <a:ext uri="{FF2B5EF4-FFF2-40B4-BE49-F238E27FC236}">
                <a16:creationId xmlns:a16="http://schemas.microsoft.com/office/drawing/2014/main" id="{1573A22C-50CF-8E7B-735A-60A888F790AD}"/>
              </a:ext>
            </a:extLst>
          </p:cNvPr>
          <p:cNvGraphicFramePr>
            <a:graphicFrameLocks noGrp="1"/>
          </p:cNvGraphicFramePr>
          <p:nvPr>
            <p:ph idx="1"/>
            <p:extLst>
              <p:ext uri="{D42A27DB-BD31-4B8C-83A1-F6EECF244321}">
                <p14:modId xmlns:p14="http://schemas.microsoft.com/office/powerpoint/2010/main" val="190077832"/>
              </p:ext>
            </p:extLst>
          </p:nvPr>
        </p:nvGraphicFramePr>
        <p:xfrm>
          <a:off x="628650" y="1633119"/>
          <a:ext cx="7886699" cy="5282565"/>
        </p:xfrm>
        <a:graphic>
          <a:graphicData uri="http://schemas.openxmlformats.org/drawingml/2006/table">
            <a:tbl>
              <a:tblPr bandRow="1">
                <a:tableStyleId>{5C22544A-7EE6-4342-B048-85BDC9FD1C3A}</a:tableStyleId>
              </a:tblPr>
              <a:tblGrid>
                <a:gridCol w="4987012">
                  <a:extLst>
                    <a:ext uri="{9D8B030D-6E8A-4147-A177-3AD203B41FA5}">
                      <a16:colId xmlns:a16="http://schemas.microsoft.com/office/drawing/2014/main" val="1027734989"/>
                    </a:ext>
                  </a:extLst>
                </a:gridCol>
                <a:gridCol w="699535">
                  <a:extLst>
                    <a:ext uri="{9D8B030D-6E8A-4147-A177-3AD203B41FA5}">
                      <a16:colId xmlns:a16="http://schemas.microsoft.com/office/drawing/2014/main" val="862237367"/>
                    </a:ext>
                  </a:extLst>
                </a:gridCol>
                <a:gridCol w="1004172">
                  <a:extLst>
                    <a:ext uri="{9D8B030D-6E8A-4147-A177-3AD203B41FA5}">
                      <a16:colId xmlns:a16="http://schemas.microsoft.com/office/drawing/2014/main" val="1023115555"/>
                    </a:ext>
                  </a:extLst>
                </a:gridCol>
                <a:gridCol w="597990">
                  <a:extLst>
                    <a:ext uri="{9D8B030D-6E8A-4147-A177-3AD203B41FA5}">
                      <a16:colId xmlns:a16="http://schemas.microsoft.com/office/drawing/2014/main" val="1607395071"/>
                    </a:ext>
                  </a:extLst>
                </a:gridCol>
                <a:gridCol w="597990">
                  <a:extLst>
                    <a:ext uri="{9D8B030D-6E8A-4147-A177-3AD203B41FA5}">
                      <a16:colId xmlns:a16="http://schemas.microsoft.com/office/drawing/2014/main" val="2777875115"/>
                    </a:ext>
                  </a:extLst>
                </a:gridCol>
              </a:tblGrid>
              <a:tr h="476250">
                <a:tc>
                  <a:txBody>
                    <a:bodyPr/>
                    <a:lstStyle/>
                    <a:p>
                      <a:pPr fontAlgn="ctr">
                        <a:buNone/>
                      </a:pPr>
                      <a:r>
                        <a:rPr lang="en-US" sz="2200" b="1" dirty="0">
                          <a:effectLst/>
                          <a:latin typeface="Calibri (Body)"/>
                        </a:rPr>
                        <a:t>Food/ Drink Service</a:t>
                      </a:r>
                      <a:r>
                        <a:rPr lang="en-US" sz="2200" b="1" dirty="0">
                          <a:effectLst/>
                          <a:latin typeface="Calibri"/>
                        </a:rPr>
                        <a:t> </a:t>
                      </a:r>
                    </a:p>
                  </a:txBody>
                  <a:tcPr marL="9525" marR="9525" marT="9525"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FF00"/>
                    </a:solidFill>
                  </a:tcPr>
                </a:tc>
                <a:tc gridSpan="2">
                  <a:txBody>
                    <a:bodyPr/>
                    <a:lstStyle/>
                    <a:p>
                      <a:pPr algn="ctr" fontAlgn="ctr">
                        <a:buNone/>
                      </a:pPr>
                      <a:r>
                        <a:rPr lang="en-US" sz="2200" b="1" dirty="0">
                          <a:effectLst/>
                          <a:latin typeface="Calibri"/>
                        </a:rPr>
                        <a:t>BOX 1</a:t>
                      </a:r>
                    </a:p>
                  </a:txBody>
                  <a:tcPr marL="9525" marR="9525" marT="9525"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hMerge="1">
                  <a:txBody>
                    <a:bodyPr/>
                    <a:lstStyle/>
                    <a:p>
                      <a:endParaRPr lang="en-US"/>
                    </a:p>
                  </a:txBody>
                  <a:tcPr/>
                </a:tc>
                <a:tc rowSpan="2">
                  <a:txBody>
                    <a:bodyPr/>
                    <a:lstStyle/>
                    <a:p>
                      <a:pPr algn="ctr" fontAlgn="ctr">
                        <a:buNone/>
                      </a:pPr>
                      <a:r>
                        <a:rPr lang="en-US" sz="800" b="1" dirty="0">
                          <a:effectLst/>
                          <a:latin typeface="Calibri"/>
                        </a:rPr>
                        <a:t>Quantity needed to support 25-bed shelter over 4 days</a:t>
                      </a:r>
                    </a:p>
                  </a:txBody>
                  <a:tcPr marL="9525" marR="9525" marT="9525" anchor="ctr">
                    <a:lnL>
                      <a:noFill/>
                    </a:lnL>
                    <a:lnR>
                      <a:noFill/>
                    </a:lnR>
                    <a:lnT>
                      <a:noFill/>
                    </a:lnT>
                    <a:lnB>
                      <a:noFill/>
                    </a:lnB>
                    <a:noFill/>
                  </a:tcPr>
                </a:tc>
                <a:tc rowSpan="2">
                  <a:txBody>
                    <a:bodyPr/>
                    <a:lstStyle/>
                    <a:p>
                      <a:pPr algn="ctr" fontAlgn="ctr">
                        <a:buNone/>
                      </a:pPr>
                      <a:r>
                        <a:rPr lang="en-US" sz="900" b="1" dirty="0">
                          <a:effectLst/>
                          <a:latin typeface="Calibri"/>
                        </a:rPr>
                        <a:t>Quantity needed to support 200-bed shelter</a:t>
                      </a:r>
                    </a:p>
                  </a:txBody>
                  <a:tcPr marL="9525" marR="9525" marT="9525" anchor="ctr">
                    <a:lnL>
                      <a:noFill/>
                    </a:lnL>
                    <a:lnR>
                      <a:noFill/>
                    </a:lnR>
                    <a:lnT>
                      <a:noFill/>
                    </a:lnT>
                    <a:lnB>
                      <a:noFill/>
                    </a:lnB>
                    <a:noFill/>
                  </a:tcPr>
                </a:tc>
                <a:extLst>
                  <a:ext uri="{0D108BD9-81ED-4DB2-BD59-A6C34878D82A}">
                    <a16:rowId xmlns:a16="http://schemas.microsoft.com/office/drawing/2014/main" val="2062883893"/>
                  </a:ext>
                </a:extLst>
              </a:tr>
              <a:tr h="295275">
                <a:tc>
                  <a:txBody>
                    <a:bodyPr/>
                    <a:lstStyle/>
                    <a:p>
                      <a:pPr algn="ctr" fontAlgn="b">
                        <a:buNone/>
                      </a:pPr>
                      <a:r>
                        <a:rPr lang="en-US" sz="1400" b="1" dirty="0">
                          <a:effectLst/>
                          <a:latin typeface="Calibri"/>
                        </a:rPr>
                        <a:t>Provided Supplies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400" b="1" dirty="0">
                          <a:effectLst/>
                          <a:latin typeface="Calibri"/>
                        </a:rPr>
                        <a:t>Qty.</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400" b="1" dirty="0">
                          <a:effectLst/>
                          <a:latin typeface="Calibri"/>
                        </a:rPr>
                        <a:t>Packaging</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34674220"/>
                  </a:ext>
                </a:extLst>
              </a:tr>
              <a:tr h="238125">
                <a:tc>
                  <a:txBody>
                    <a:bodyPr/>
                    <a:lstStyle/>
                    <a:p>
                      <a:pPr fontAlgn="b">
                        <a:buNone/>
                      </a:pPr>
                      <a:r>
                        <a:rPr lang="en-US" sz="1400" b="1" dirty="0">
                          <a:effectLst/>
                          <a:latin typeface="Calibri"/>
                        </a:rPr>
                        <a:t>Food Service Gloves, all sizes, approx. </a:t>
                      </a:r>
                      <a:r>
                        <a:rPr lang="en-US" sz="1400" b="1" dirty="0">
                          <a:effectLst/>
                          <a:latin typeface="Calibri (Body)"/>
                        </a:rPr>
                        <a:t>100</a:t>
                      </a:r>
                      <a:r>
                        <a:rPr lang="en-US" sz="1400" b="1" dirty="0">
                          <a:effectLst/>
                          <a:latin typeface="Calibri"/>
                        </a:rPr>
                        <a:t>/box?</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dirty="0">
                          <a:effectLst/>
                          <a:latin typeface="Calibri"/>
                        </a:rPr>
                        <a:t>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dirty="0">
                          <a:effectLst/>
                          <a:latin typeface="Calibri"/>
                        </a:rPr>
                        <a:t>BX</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dirty="0">
                          <a:effectLst/>
                          <a:latin typeface="Calibri"/>
                        </a:rPr>
                        <a:t>1</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fontAlgn="b">
                        <a:buNone/>
                      </a:pPr>
                      <a:endParaRPr lang="en-US" sz="1200">
                        <a:effectLst/>
                        <a:latin typeface="Calibri" panose="020F0502020204030204" pitchFamily="34" charset="0"/>
                      </a:endParaRPr>
                    </a:p>
                  </a:txBody>
                  <a:tcPr marL="9525" marR="9525" marT="9525" anchor="b">
                    <a:lnL>
                      <a:noFill/>
                    </a:lnL>
                    <a:lnR>
                      <a:noFill/>
                    </a:lnR>
                    <a:lnT>
                      <a:noFill/>
                    </a:lnT>
                    <a:lnB>
                      <a:noFill/>
                    </a:lnB>
                    <a:noFill/>
                  </a:tcPr>
                </a:tc>
                <a:extLst>
                  <a:ext uri="{0D108BD9-81ED-4DB2-BD59-A6C34878D82A}">
                    <a16:rowId xmlns:a16="http://schemas.microsoft.com/office/drawing/2014/main" val="3794889131"/>
                  </a:ext>
                </a:extLst>
              </a:tr>
              <a:tr h="238125">
                <a:tc>
                  <a:txBody>
                    <a:bodyPr/>
                    <a:lstStyle/>
                    <a:p>
                      <a:pPr fontAlgn="b">
                        <a:buNone/>
                      </a:pPr>
                      <a:r>
                        <a:rPr lang="en-US" sz="1400" b="1" dirty="0">
                          <a:effectLst/>
                          <a:latin typeface="Calibri"/>
                        </a:rPr>
                        <a:t>Hair Nets, approx. 100 - 144/box</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dirty="0">
                          <a:effectLst/>
                          <a:latin typeface="Calibri"/>
                        </a:rPr>
                        <a:t>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dirty="0">
                          <a:effectLst/>
                          <a:latin typeface="Calibri"/>
                        </a:rPr>
                        <a:t>BX</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dirty="0">
                          <a:effectLst/>
                          <a:latin typeface="Calibri"/>
                        </a:rPr>
                        <a:t>1</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fontAlgn="b">
                        <a:buNone/>
                      </a:pPr>
                      <a:endParaRPr lang="en-US" sz="1200">
                        <a:effectLst/>
                        <a:latin typeface="Calibri" panose="020F0502020204030204" pitchFamily="34" charset="0"/>
                      </a:endParaRPr>
                    </a:p>
                  </a:txBody>
                  <a:tcPr marL="9525" marR="9525" marT="9525" anchor="b">
                    <a:lnL>
                      <a:noFill/>
                    </a:lnL>
                    <a:lnR>
                      <a:noFill/>
                    </a:lnR>
                    <a:lnT>
                      <a:noFill/>
                    </a:lnT>
                    <a:lnB>
                      <a:noFill/>
                    </a:lnB>
                    <a:noFill/>
                  </a:tcPr>
                </a:tc>
                <a:extLst>
                  <a:ext uri="{0D108BD9-81ED-4DB2-BD59-A6C34878D82A}">
                    <a16:rowId xmlns:a16="http://schemas.microsoft.com/office/drawing/2014/main" val="2776032056"/>
                  </a:ext>
                </a:extLst>
              </a:tr>
              <a:tr h="238125">
                <a:tc>
                  <a:txBody>
                    <a:bodyPr/>
                    <a:lstStyle/>
                    <a:p>
                      <a:pPr fontAlgn="b">
                        <a:buNone/>
                      </a:pPr>
                      <a:r>
                        <a:rPr lang="en-US" sz="1400" b="1" dirty="0">
                          <a:effectLst/>
                          <a:latin typeface="Calibri"/>
                        </a:rPr>
                        <a:t>Food Thermometer</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1</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EA</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dirty="0">
                          <a:effectLst/>
                          <a:latin typeface="Calibri"/>
                        </a:rPr>
                        <a:t>2</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dirty="0">
                          <a:effectLst/>
                          <a:latin typeface="Calibri"/>
                        </a:rPr>
                        <a:t>4</a:t>
                      </a:r>
                    </a:p>
                  </a:txBody>
                  <a:tcPr marL="9525" marR="9525" marT="9525" anchor="b">
                    <a:lnL>
                      <a:noFill/>
                    </a:lnL>
                    <a:lnR>
                      <a:noFill/>
                    </a:lnR>
                    <a:lnT>
                      <a:noFill/>
                    </a:lnT>
                    <a:lnB>
                      <a:noFill/>
                    </a:lnB>
                    <a:noFill/>
                  </a:tcPr>
                </a:tc>
                <a:extLst>
                  <a:ext uri="{0D108BD9-81ED-4DB2-BD59-A6C34878D82A}">
                    <a16:rowId xmlns:a16="http://schemas.microsoft.com/office/drawing/2014/main" val="684705287"/>
                  </a:ext>
                </a:extLst>
              </a:tr>
              <a:tr h="238125">
                <a:tc>
                  <a:txBody>
                    <a:bodyPr/>
                    <a:lstStyle/>
                    <a:p>
                      <a:pPr fontAlgn="b">
                        <a:buNone/>
                      </a:pPr>
                      <a:r>
                        <a:rPr lang="en-US" sz="1400" b="1" dirty="0">
                          <a:effectLst/>
                          <a:latin typeface="Calibri"/>
                        </a:rPr>
                        <a:t>Disinfecting wipes, re-sealable container, approx. 100 wipes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3</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PK</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dirty="0">
                          <a:effectLst/>
                          <a:latin typeface="Calibri"/>
                        </a:rPr>
                        <a:t>2</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dirty="0">
                          <a:effectLst/>
                          <a:latin typeface="Calibri"/>
                        </a:rPr>
                        <a:t>3</a:t>
                      </a:r>
                    </a:p>
                  </a:txBody>
                  <a:tcPr marL="9525" marR="9525" marT="9525" anchor="b">
                    <a:lnL>
                      <a:noFill/>
                    </a:lnL>
                    <a:lnR>
                      <a:noFill/>
                    </a:lnR>
                    <a:lnT>
                      <a:noFill/>
                    </a:lnT>
                    <a:lnB>
                      <a:noFill/>
                    </a:lnB>
                    <a:noFill/>
                  </a:tcPr>
                </a:tc>
                <a:extLst>
                  <a:ext uri="{0D108BD9-81ED-4DB2-BD59-A6C34878D82A}">
                    <a16:rowId xmlns:a16="http://schemas.microsoft.com/office/drawing/2014/main" val="2457071521"/>
                  </a:ext>
                </a:extLst>
              </a:tr>
              <a:tr h="238125">
                <a:tc>
                  <a:txBody>
                    <a:bodyPr/>
                    <a:lstStyle/>
                    <a:p>
                      <a:pPr fontAlgn="b">
                        <a:buNone/>
                      </a:pPr>
                      <a:r>
                        <a:rPr lang="en-US" sz="1400" b="1" dirty="0">
                          <a:effectLst/>
                          <a:latin typeface="Calibri"/>
                        </a:rPr>
                        <a:t>Paper Towels, rolls, decent absorbency, not super cheap, 2 rolls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1</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PK</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dirty="0">
                          <a:effectLst/>
                          <a:latin typeface="Calibri"/>
                        </a:rPr>
                        <a:t>1</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dirty="0">
                          <a:effectLst/>
                          <a:latin typeface="Calibri"/>
                        </a:rPr>
                        <a:t>4</a:t>
                      </a:r>
                    </a:p>
                  </a:txBody>
                  <a:tcPr marL="9525" marR="9525" marT="9525" anchor="b">
                    <a:lnL>
                      <a:noFill/>
                    </a:lnL>
                    <a:lnR>
                      <a:noFill/>
                    </a:lnR>
                    <a:lnT>
                      <a:noFill/>
                    </a:lnT>
                    <a:lnB>
                      <a:noFill/>
                    </a:lnB>
                    <a:noFill/>
                  </a:tcPr>
                </a:tc>
                <a:extLst>
                  <a:ext uri="{0D108BD9-81ED-4DB2-BD59-A6C34878D82A}">
                    <a16:rowId xmlns:a16="http://schemas.microsoft.com/office/drawing/2014/main" val="2493590797"/>
                  </a:ext>
                </a:extLst>
              </a:tr>
              <a:tr h="238125">
                <a:tc>
                  <a:txBody>
                    <a:bodyPr/>
                    <a:lstStyle/>
                    <a:p>
                      <a:pPr fontAlgn="b">
                        <a:buNone/>
                      </a:pPr>
                      <a:r>
                        <a:rPr lang="en-US" sz="1400" b="1" dirty="0">
                          <a:effectLst/>
                          <a:latin typeface="Calibri"/>
                        </a:rPr>
                        <a:t>Hand sanitizer, for behind counter</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1</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EA</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dirty="0">
                          <a:effectLst/>
                          <a:latin typeface="Calibri"/>
                        </a:rPr>
                        <a:t>1</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dirty="0">
                          <a:effectLst/>
                          <a:latin typeface="Calibri"/>
                        </a:rPr>
                        <a:t>2</a:t>
                      </a:r>
                    </a:p>
                  </a:txBody>
                  <a:tcPr marL="9525" marR="9525" marT="9525" anchor="b">
                    <a:lnL>
                      <a:noFill/>
                    </a:lnL>
                    <a:lnR>
                      <a:noFill/>
                    </a:lnR>
                    <a:lnT>
                      <a:noFill/>
                    </a:lnT>
                    <a:lnB>
                      <a:noFill/>
                    </a:lnB>
                    <a:noFill/>
                  </a:tcPr>
                </a:tc>
                <a:extLst>
                  <a:ext uri="{0D108BD9-81ED-4DB2-BD59-A6C34878D82A}">
                    <a16:rowId xmlns:a16="http://schemas.microsoft.com/office/drawing/2014/main" val="3495564659"/>
                  </a:ext>
                </a:extLst>
              </a:tr>
              <a:tr h="238125">
                <a:tc>
                  <a:txBody>
                    <a:bodyPr/>
                    <a:lstStyle/>
                    <a:p>
                      <a:pPr fontAlgn="b">
                        <a:buNone/>
                      </a:pPr>
                      <a:r>
                        <a:rPr lang="en-US" sz="1400" b="1" dirty="0">
                          <a:effectLst/>
                          <a:latin typeface="Calibri"/>
                        </a:rPr>
                        <a:t>Plates, paper, dinner size, approx. 50/PK</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2</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PK</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dirty="0">
                          <a:effectLst/>
                          <a:latin typeface="Calibri"/>
                        </a:rPr>
                        <a:t>6</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dirty="0">
                          <a:effectLst/>
                          <a:latin typeface="Calibri"/>
                        </a:rPr>
                        <a:t>10</a:t>
                      </a:r>
                    </a:p>
                  </a:txBody>
                  <a:tcPr marL="9525" marR="9525" marT="9525" anchor="b">
                    <a:lnL>
                      <a:noFill/>
                    </a:lnL>
                    <a:lnR>
                      <a:noFill/>
                    </a:lnR>
                    <a:lnT>
                      <a:noFill/>
                    </a:lnT>
                    <a:lnB>
                      <a:noFill/>
                    </a:lnB>
                    <a:noFill/>
                  </a:tcPr>
                </a:tc>
                <a:extLst>
                  <a:ext uri="{0D108BD9-81ED-4DB2-BD59-A6C34878D82A}">
                    <a16:rowId xmlns:a16="http://schemas.microsoft.com/office/drawing/2014/main" val="1480178573"/>
                  </a:ext>
                </a:extLst>
              </a:tr>
              <a:tr h="238125">
                <a:tc>
                  <a:txBody>
                    <a:bodyPr/>
                    <a:lstStyle/>
                    <a:p>
                      <a:pPr fontAlgn="b">
                        <a:buNone/>
                      </a:pPr>
                      <a:r>
                        <a:rPr lang="en-US" sz="1400" b="1" dirty="0">
                          <a:effectLst/>
                          <a:latin typeface="Calibri"/>
                        </a:rPr>
                        <a:t>Cups, paper, </a:t>
                      </a:r>
                      <a:r>
                        <a:rPr lang="en-US" sz="1400" b="1" dirty="0">
                          <a:effectLst/>
                          <a:latin typeface="Calibri (Body)"/>
                        </a:rPr>
                        <a:t>hot liquid, approx. 50/PK</a:t>
                      </a:r>
                      <a:endParaRPr lang="en-US" sz="1400" b="1" dirty="0">
                        <a:effectLst/>
                        <a:latin typeface="Calibri" panose="020F0502020204030204" pitchFamily="34" charset="0"/>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2</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PK</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dirty="0">
                          <a:effectLst/>
                          <a:latin typeface="Calibri"/>
                        </a:rPr>
                        <a:t>6</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dirty="0">
                          <a:effectLst/>
                          <a:latin typeface="Calibri"/>
                        </a:rPr>
                        <a:t>10</a:t>
                      </a:r>
                    </a:p>
                  </a:txBody>
                  <a:tcPr marL="9525" marR="9525" marT="9525" anchor="b">
                    <a:lnL>
                      <a:noFill/>
                    </a:lnL>
                    <a:lnR>
                      <a:noFill/>
                    </a:lnR>
                    <a:lnT>
                      <a:noFill/>
                    </a:lnT>
                    <a:lnB>
                      <a:noFill/>
                    </a:lnB>
                    <a:noFill/>
                  </a:tcPr>
                </a:tc>
                <a:extLst>
                  <a:ext uri="{0D108BD9-81ED-4DB2-BD59-A6C34878D82A}">
                    <a16:rowId xmlns:a16="http://schemas.microsoft.com/office/drawing/2014/main" val="3097405639"/>
                  </a:ext>
                </a:extLst>
              </a:tr>
              <a:tr h="238125">
                <a:tc>
                  <a:txBody>
                    <a:bodyPr/>
                    <a:lstStyle/>
                    <a:p>
                      <a:pPr fontAlgn="b">
                        <a:buNone/>
                      </a:pPr>
                      <a:r>
                        <a:rPr lang="en-US" sz="1400" b="1" dirty="0">
                          <a:effectLst/>
                          <a:latin typeface="Calibri"/>
                        </a:rPr>
                        <a:t>Napkins, 100/pk</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2</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PK</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dirty="0">
                          <a:effectLst/>
                          <a:latin typeface="Calibri"/>
                        </a:rPr>
                        <a:t>4</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dirty="0">
                          <a:effectLst/>
                          <a:latin typeface="Calibri"/>
                        </a:rPr>
                        <a:t>24</a:t>
                      </a:r>
                    </a:p>
                  </a:txBody>
                  <a:tcPr marL="9525" marR="9525" marT="9525" anchor="b">
                    <a:lnL>
                      <a:noFill/>
                    </a:lnL>
                    <a:lnR>
                      <a:noFill/>
                    </a:lnR>
                    <a:lnT>
                      <a:noFill/>
                    </a:lnT>
                    <a:lnB>
                      <a:noFill/>
                    </a:lnB>
                    <a:noFill/>
                  </a:tcPr>
                </a:tc>
                <a:extLst>
                  <a:ext uri="{0D108BD9-81ED-4DB2-BD59-A6C34878D82A}">
                    <a16:rowId xmlns:a16="http://schemas.microsoft.com/office/drawing/2014/main" val="3206320412"/>
                  </a:ext>
                </a:extLst>
              </a:tr>
              <a:tr h="238125">
                <a:tc>
                  <a:txBody>
                    <a:bodyPr/>
                    <a:lstStyle/>
                    <a:p>
                      <a:pPr fontAlgn="b">
                        <a:buNone/>
                      </a:pPr>
                      <a:r>
                        <a:rPr lang="en-US" sz="1400" b="1" dirty="0">
                          <a:effectLst/>
                          <a:latin typeface="Calibri"/>
                        </a:rPr>
                        <a:t>Banquet Packs (fork, spoon, knife, napkin), 50/PK </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1</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PK</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dirty="0">
                          <a:effectLst/>
                          <a:latin typeface="Calibri"/>
                        </a:rPr>
                        <a:t>6</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dirty="0">
                          <a:effectLst/>
                          <a:latin typeface="Calibri"/>
                        </a:rPr>
                        <a:t>48</a:t>
                      </a:r>
                    </a:p>
                  </a:txBody>
                  <a:tcPr marL="9525" marR="9525" marT="9525" anchor="b">
                    <a:lnL>
                      <a:noFill/>
                    </a:lnL>
                    <a:lnR>
                      <a:noFill/>
                    </a:lnR>
                    <a:lnT>
                      <a:noFill/>
                    </a:lnT>
                    <a:lnB>
                      <a:noFill/>
                    </a:lnB>
                    <a:noFill/>
                  </a:tcPr>
                </a:tc>
                <a:extLst>
                  <a:ext uri="{0D108BD9-81ED-4DB2-BD59-A6C34878D82A}">
                    <a16:rowId xmlns:a16="http://schemas.microsoft.com/office/drawing/2014/main" val="1858904425"/>
                  </a:ext>
                </a:extLst>
              </a:tr>
              <a:tr h="247650">
                <a:tc>
                  <a:txBody>
                    <a:bodyPr/>
                    <a:lstStyle/>
                    <a:p>
                      <a:pPr fontAlgn="b">
                        <a:buNone/>
                      </a:pPr>
                      <a:r>
                        <a:rPr lang="en-US" sz="1400" b="1" dirty="0">
                          <a:effectLst/>
                          <a:latin typeface="Calibri"/>
                        </a:rPr>
                        <a:t>Zip-Locs, freezer, gal. size,</a:t>
                      </a:r>
                      <a:r>
                        <a:rPr lang="en-US" sz="1400" b="1" dirty="0">
                          <a:effectLst/>
                          <a:latin typeface="Calibri (Body)"/>
                        </a:rPr>
                        <a:t> for carry out &amp; organization, </a:t>
                      </a:r>
                      <a:r>
                        <a:rPr lang="en-US" sz="1400" b="1" dirty="0" err="1">
                          <a:effectLst/>
                          <a:latin typeface="Calibri (Body)"/>
                        </a:rPr>
                        <a:t>approx</a:t>
                      </a:r>
                      <a:r>
                        <a:rPr lang="en-US" sz="1400" b="1" dirty="0">
                          <a:effectLst/>
                          <a:latin typeface="Calibri (Body)"/>
                        </a:rPr>
                        <a:t> 25-38/PK</a:t>
                      </a:r>
                      <a:endParaRPr lang="en-US" sz="1400" b="1" dirty="0">
                        <a:effectLst/>
                        <a:latin typeface="Calibri" panose="020F0502020204030204" pitchFamily="34" charset="0"/>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1</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box</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dirty="0">
                          <a:effectLst/>
                          <a:latin typeface="Calibri"/>
                        </a:rPr>
                        <a:t>1</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dirty="0">
                          <a:effectLst/>
                          <a:latin typeface="Calibri"/>
                        </a:rPr>
                        <a:t>4</a:t>
                      </a:r>
                    </a:p>
                  </a:txBody>
                  <a:tcPr marL="9525" marR="9525" marT="9525" anchor="b">
                    <a:lnL>
                      <a:noFill/>
                    </a:lnL>
                    <a:lnR>
                      <a:noFill/>
                    </a:lnR>
                    <a:lnT>
                      <a:noFill/>
                    </a:lnT>
                    <a:lnB>
                      <a:noFill/>
                    </a:lnB>
                    <a:noFill/>
                  </a:tcPr>
                </a:tc>
                <a:extLst>
                  <a:ext uri="{0D108BD9-81ED-4DB2-BD59-A6C34878D82A}">
                    <a16:rowId xmlns:a16="http://schemas.microsoft.com/office/drawing/2014/main" val="2392981956"/>
                  </a:ext>
                </a:extLst>
              </a:tr>
              <a:tr h="238125">
                <a:tc>
                  <a:txBody>
                    <a:bodyPr/>
                    <a:lstStyle/>
                    <a:p>
                      <a:pPr fontAlgn="b">
                        <a:buNone/>
                      </a:pPr>
                      <a:r>
                        <a:rPr lang="en-US" sz="1400" b="1" dirty="0">
                          <a:effectLst/>
                          <a:latin typeface="Calibri"/>
                        </a:rPr>
                        <a:t>Utensil, </a:t>
                      </a:r>
                      <a:r>
                        <a:rPr lang="en-US" sz="1400" b="1" dirty="0" err="1">
                          <a:effectLst/>
                          <a:latin typeface="Calibri"/>
                        </a:rPr>
                        <a:t>Spoodle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1</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EA</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dirty="0">
                          <a:effectLst/>
                          <a:latin typeface="Calibri"/>
                        </a:rPr>
                        <a:t>3</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dirty="0">
                          <a:effectLst/>
                          <a:latin typeface="Calibri"/>
                        </a:rPr>
                        <a:t>3</a:t>
                      </a:r>
                    </a:p>
                  </a:txBody>
                  <a:tcPr marL="9525" marR="9525" marT="9525" anchor="b">
                    <a:lnL>
                      <a:noFill/>
                    </a:lnL>
                    <a:lnR>
                      <a:noFill/>
                    </a:lnR>
                    <a:lnT>
                      <a:noFill/>
                    </a:lnT>
                    <a:lnB>
                      <a:noFill/>
                    </a:lnB>
                    <a:noFill/>
                  </a:tcPr>
                </a:tc>
                <a:extLst>
                  <a:ext uri="{0D108BD9-81ED-4DB2-BD59-A6C34878D82A}">
                    <a16:rowId xmlns:a16="http://schemas.microsoft.com/office/drawing/2014/main" val="1978080321"/>
                  </a:ext>
                </a:extLst>
              </a:tr>
              <a:tr h="238125">
                <a:tc>
                  <a:txBody>
                    <a:bodyPr/>
                    <a:lstStyle/>
                    <a:p>
                      <a:pPr fontAlgn="b">
                        <a:buNone/>
                      </a:pPr>
                      <a:r>
                        <a:rPr lang="en-US" sz="1400" b="1" dirty="0">
                          <a:effectLst/>
                          <a:latin typeface="Calibri"/>
                        </a:rPr>
                        <a:t>Utensil, slotted spoon</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1</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EA</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dirty="0">
                          <a:effectLst/>
                          <a:latin typeface="Calibri"/>
                        </a:rPr>
                        <a:t>3</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dirty="0">
                          <a:effectLst/>
                          <a:latin typeface="Calibri"/>
                        </a:rPr>
                        <a:t>3</a:t>
                      </a:r>
                    </a:p>
                  </a:txBody>
                  <a:tcPr marL="9525" marR="9525" marT="9525" anchor="b">
                    <a:lnL>
                      <a:noFill/>
                    </a:lnL>
                    <a:lnR>
                      <a:noFill/>
                    </a:lnR>
                    <a:lnT>
                      <a:noFill/>
                    </a:lnT>
                    <a:lnB>
                      <a:noFill/>
                    </a:lnB>
                    <a:noFill/>
                  </a:tcPr>
                </a:tc>
                <a:extLst>
                  <a:ext uri="{0D108BD9-81ED-4DB2-BD59-A6C34878D82A}">
                    <a16:rowId xmlns:a16="http://schemas.microsoft.com/office/drawing/2014/main" val="1666647537"/>
                  </a:ext>
                </a:extLst>
              </a:tr>
              <a:tr h="238125">
                <a:tc>
                  <a:txBody>
                    <a:bodyPr/>
                    <a:lstStyle/>
                    <a:p>
                      <a:pPr fontAlgn="b">
                        <a:buNone/>
                      </a:pPr>
                      <a:r>
                        <a:rPr lang="en-US" sz="1400" b="1" dirty="0">
                          <a:effectLst/>
                          <a:latin typeface="Calibri"/>
                        </a:rPr>
                        <a:t>Utensil, Knife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1</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EA</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dirty="0">
                          <a:effectLst/>
                          <a:latin typeface="Calibri"/>
                        </a:rPr>
                        <a:t>2</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dirty="0">
                          <a:effectLst/>
                          <a:latin typeface="Calibri"/>
                        </a:rPr>
                        <a:t>2</a:t>
                      </a:r>
                    </a:p>
                  </a:txBody>
                  <a:tcPr marL="9525" marR="9525" marT="9525" anchor="b">
                    <a:lnL>
                      <a:noFill/>
                    </a:lnL>
                    <a:lnR>
                      <a:noFill/>
                    </a:lnR>
                    <a:lnT>
                      <a:noFill/>
                    </a:lnT>
                    <a:lnB>
                      <a:noFill/>
                    </a:lnB>
                    <a:noFill/>
                  </a:tcPr>
                </a:tc>
                <a:extLst>
                  <a:ext uri="{0D108BD9-81ED-4DB2-BD59-A6C34878D82A}">
                    <a16:rowId xmlns:a16="http://schemas.microsoft.com/office/drawing/2014/main" val="2935715509"/>
                  </a:ext>
                </a:extLst>
              </a:tr>
              <a:tr h="238125">
                <a:tc>
                  <a:txBody>
                    <a:bodyPr/>
                    <a:lstStyle/>
                    <a:p>
                      <a:pPr fontAlgn="b">
                        <a:buNone/>
                      </a:pPr>
                      <a:r>
                        <a:rPr lang="en-US" sz="1400" b="1" dirty="0">
                          <a:effectLst/>
                          <a:latin typeface="Calibri"/>
                        </a:rPr>
                        <a:t>Utensil, tongs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1</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EA</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dirty="0">
                          <a:effectLst/>
                          <a:latin typeface="Calibri"/>
                        </a:rPr>
                        <a:t>5</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dirty="0">
                          <a:effectLst/>
                          <a:latin typeface="Calibri"/>
                        </a:rPr>
                        <a:t>5</a:t>
                      </a:r>
                    </a:p>
                  </a:txBody>
                  <a:tcPr marL="9525" marR="9525" marT="9525" anchor="b">
                    <a:lnL>
                      <a:noFill/>
                    </a:lnL>
                    <a:lnR>
                      <a:noFill/>
                    </a:lnR>
                    <a:lnT>
                      <a:noFill/>
                    </a:lnT>
                    <a:lnB>
                      <a:noFill/>
                    </a:lnB>
                    <a:noFill/>
                  </a:tcPr>
                </a:tc>
                <a:extLst>
                  <a:ext uri="{0D108BD9-81ED-4DB2-BD59-A6C34878D82A}">
                    <a16:rowId xmlns:a16="http://schemas.microsoft.com/office/drawing/2014/main" val="1491619939"/>
                  </a:ext>
                </a:extLst>
              </a:tr>
              <a:tr h="238125">
                <a:tc>
                  <a:txBody>
                    <a:bodyPr/>
                    <a:lstStyle/>
                    <a:p>
                      <a:pPr fontAlgn="b">
                        <a:buNone/>
                      </a:pPr>
                      <a:r>
                        <a:rPr lang="en-US" sz="1400" b="1" dirty="0">
                          <a:effectLst/>
                          <a:latin typeface="Calibri"/>
                        </a:rPr>
                        <a:t>Garbage Bags, black - contractor size, approx. 30 bags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dirty="0">
                          <a:effectLst/>
                          <a:latin typeface="Calibri"/>
                        </a:rPr>
                        <a:t>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dirty="0">
                          <a:effectLst/>
                          <a:latin typeface="Calibri"/>
                        </a:rPr>
                        <a:t>BX</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dirty="0">
                          <a:effectLst/>
                          <a:latin typeface="Calibri"/>
                        </a:rPr>
                        <a:t>1</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dirty="0">
                          <a:effectLst/>
                          <a:latin typeface="Calibri"/>
                        </a:rPr>
                        <a:t>2</a:t>
                      </a:r>
                    </a:p>
                  </a:txBody>
                  <a:tcPr marL="9525" marR="9525" marT="9525" anchor="b">
                    <a:lnL>
                      <a:noFill/>
                    </a:lnL>
                    <a:lnR>
                      <a:noFill/>
                    </a:lnR>
                    <a:lnT>
                      <a:noFill/>
                    </a:lnT>
                    <a:lnB>
                      <a:noFill/>
                    </a:lnB>
                    <a:noFill/>
                  </a:tcPr>
                </a:tc>
                <a:extLst>
                  <a:ext uri="{0D108BD9-81ED-4DB2-BD59-A6C34878D82A}">
                    <a16:rowId xmlns:a16="http://schemas.microsoft.com/office/drawing/2014/main" val="4187486522"/>
                  </a:ext>
                </a:extLst>
              </a:tr>
            </a:tbl>
          </a:graphicData>
        </a:graphic>
      </p:graphicFrame>
    </p:spTree>
    <p:extLst>
      <p:ext uri="{BB962C8B-B14F-4D97-AF65-F5344CB8AC3E}">
        <p14:creationId xmlns:p14="http://schemas.microsoft.com/office/powerpoint/2010/main" val="1306938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A3F48-B144-42C6-EC28-BBDCA76EB4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B32900-4123-57AD-1E17-6002DE7DA048}"/>
              </a:ext>
            </a:extLst>
          </p:cNvPr>
          <p:cNvSpPr>
            <a:spLocks noGrp="1"/>
          </p:cNvSpPr>
          <p:nvPr>
            <p:ph type="title"/>
          </p:nvPr>
        </p:nvSpPr>
        <p:spPr/>
        <p:txBody>
          <a:bodyPr/>
          <a:lstStyle/>
          <a:p>
            <a:r>
              <a:rPr lang="en-US"/>
              <a:t>Preparation - Congregate &amp; Fixed Outreach Feeding</a:t>
            </a:r>
          </a:p>
        </p:txBody>
      </p:sp>
      <p:sp>
        <p:nvSpPr>
          <p:cNvPr id="4" name="Slide Number Placeholder 3">
            <a:extLst>
              <a:ext uri="{FF2B5EF4-FFF2-40B4-BE49-F238E27FC236}">
                <a16:creationId xmlns:a16="http://schemas.microsoft.com/office/drawing/2014/main" id="{4F371EC2-E573-65F3-DFD7-98666BA8D1A5}"/>
              </a:ext>
            </a:extLst>
          </p:cNvPr>
          <p:cNvSpPr>
            <a:spLocks noGrp="1"/>
          </p:cNvSpPr>
          <p:nvPr>
            <p:ph type="sldNum" sz="quarter" idx="12"/>
          </p:nvPr>
        </p:nvSpPr>
        <p:spPr/>
        <p:txBody>
          <a:bodyPr/>
          <a:lstStyle/>
          <a:p>
            <a:fld id="{1466F282-3B2E-4770-B8F7-3A3BF1EE6D34}" type="slidenum">
              <a:rPr lang="en-US" smtClean="0"/>
              <a:t>13</a:t>
            </a:fld>
            <a:endParaRPr lang="en-US"/>
          </a:p>
        </p:txBody>
      </p:sp>
      <p:graphicFrame>
        <p:nvGraphicFramePr>
          <p:cNvPr id="5" name="Table 4">
            <a:extLst>
              <a:ext uri="{FF2B5EF4-FFF2-40B4-BE49-F238E27FC236}">
                <a16:creationId xmlns:a16="http://schemas.microsoft.com/office/drawing/2014/main" id="{F9592BEE-A672-DA51-27CB-17E4AEAA9840}"/>
              </a:ext>
            </a:extLst>
          </p:cNvPr>
          <p:cNvGraphicFramePr>
            <a:graphicFrameLocks noGrp="1"/>
          </p:cNvGraphicFramePr>
          <p:nvPr>
            <p:extLst>
              <p:ext uri="{D42A27DB-BD31-4B8C-83A1-F6EECF244321}">
                <p14:modId xmlns:p14="http://schemas.microsoft.com/office/powerpoint/2010/main" val="3073685949"/>
              </p:ext>
            </p:extLst>
          </p:nvPr>
        </p:nvGraphicFramePr>
        <p:xfrm>
          <a:off x="127000" y="1620253"/>
          <a:ext cx="8890000" cy="5181600"/>
        </p:xfrm>
        <a:graphic>
          <a:graphicData uri="http://schemas.openxmlformats.org/drawingml/2006/table">
            <a:tbl>
              <a:tblPr bandRow="1">
                <a:tableStyleId>{5C22544A-7EE6-4342-B048-85BDC9FD1C3A}</a:tableStyleId>
              </a:tblPr>
              <a:tblGrid>
                <a:gridCol w="5621431">
                  <a:extLst>
                    <a:ext uri="{9D8B030D-6E8A-4147-A177-3AD203B41FA5}">
                      <a16:colId xmlns:a16="http://schemas.microsoft.com/office/drawing/2014/main" val="3403490977"/>
                    </a:ext>
                  </a:extLst>
                </a:gridCol>
                <a:gridCol w="788526">
                  <a:extLst>
                    <a:ext uri="{9D8B030D-6E8A-4147-A177-3AD203B41FA5}">
                      <a16:colId xmlns:a16="http://schemas.microsoft.com/office/drawing/2014/main" val="608578086"/>
                    </a:ext>
                  </a:extLst>
                </a:gridCol>
                <a:gridCol w="1131917">
                  <a:extLst>
                    <a:ext uri="{9D8B030D-6E8A-4147-A177-3AD203B41FA5}">
                      <a16:colId xmlns:a16="http://schemas.microsoft.com/office/drawing/2014/main" val="2912679000"/>
                    </a:ext>
                  </a:extLst>
                </a:gridCol>
                <a:gridCol w="674063">
                  <a:extLst>
                    <a:ext uri="{9D8B030D-6E8A-4147-A177-3AD203B41FA5}">
                      <a16:colId xmlns:a16="http://schemas.microsoft.com/office/drawing/2014/main" val="3169655149"/>
                    </a:ext>
                  </a:extLst>
                </a:gridCol>
                <a:gridCol w="674063">
                  <a:extLst>
                    <a:ext uri="{9D8B030D-6E8A-4147-A177-3AD203B41FA5}">
                      <a16:colId xmlns:a16="http://schemas.microsoft.com/office/drawing/2014/main" val="2385463911"/>
                    </a:ext>
                  </a:extLst>
                </a:gridCol>
              </a:tblGrid>
              <a:tr h="847725">
                <a:tc>
                  <a:txBody>
                    <a:bodyPr/>
                    <a:lstStyle/>
                    <a:p>
                      <a:pPr fontAlgn="b">
                        <a:buNone/>
                      </a:pPr>
                      <a:r>
                        <a:rPr lang="en-US" sz="2200" b="1">
                          <a:solidFill>
                            <a:srgbClr val="FF0000"/>
                          </a:solidFill>
                          <a:effectLst/>
                          <a:latin typeface="Calibri" panose="020F0502020204030204" pitchFamily="34" charset="0"/>
                        </a:rPr>
                        <a:t>SEPARATE 6409 </a:t>
                      </a:r>
                      <a:r>
                        <a:rPr lang="en-US" sz="1200" b="1">
                          <a:solidFill>
                            <a:srgbClr val="FF0000"/>
                          </a:solidFill>
                          <a:effectLst/>
                          <a:latin typeface="Calibri" panose="020F0502020204030204" pitchFamily="34" charset="0"/>
                        </a:rPr>
                        <a:t>(might be combined with other groups)</a:t>
                      </a:r>
                      <a:endParaRPr lang="en-US" sz="2200" b="1">
                        <a:solidFill>
                          <a:srgbClr val="FF0000"/>
                        </a:solidFill>
                        <a:effectLst/>
                        <a:latin typeface="Calibri" panose="020F0502020204030204" pitchFamily="34" charset="0"/>
                      </a:endParaRPr>
                    </a:p>
                  </a:txBody>
                  <a:tcPr marL="9525" marR="9525" marT="9525"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gridSpan="2">
                  <a:txBody>
                    <a:bodyPr/>
                    <a:lstStyle/>
                    <a:p>
                      <a:pPr algn="ctr" fontAlgn="ctr">
                        <a:buNone/>
                      </a:pPr>
                      <a:r>
                        <a:rPr lang="en-US" sz="1200">
                          <a:solidFill>
                            <a:srgbClr val="FF0000"/>
                          </a:solidFill>
                          <a:effectLst/>
                          <a:latin typeface="Calibri" panose="020F0502020204030204" pitchFamily="34" charset="0"/>
                        </a:rPr>
                        <a:t>Quantities need to be adjusted  based on existing inventories in the shelter locations.</a:t>
                      </a:r>
                    </a:p>
                  </a:txBody>
                  <a:tcPr marL="9525" marR="9525" marT="9525"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hMerge="1">
                  <a:txBody>
                    <a:bodyPr/>
                    <a:lstStyle/>
                    <a:p>
                      <a:endParaRPr lang="en-US"/>
                    </a:p>
                  </a:txBody>
                  <a:tcPr/>
                </a:tc>
                <a:tc rowSpan="2">
                  <a:txBody>
                    <a:bodyPr/>
                    <a:lstStyle/>
                    <a:p>
                      <a:pPr algn="ctr" fontAlgn="ctr">
                        <a:buNone/>
                      </a:pPr>
                      <a:r>
                        <a:rPr lang="en-US" sz="800" b="1">
                          <a:effectLst/>
                          <a:latin typeface="Calibri" panose="020F0502020204030204" pitchFamily="34" charset="0"/>
                        </a:rPr>
                        <a:t>Quantity needed to support 25-bed shelter over 4 days</a:t>
                      </a:r>
                    </a:p>
                  </a:txBody>
                  <a:tcPr marL="9525" marR="9525" marT="9525" anchor="ctr">
                    <a:lnL>
                      <a:noFill/>
                    </a:lnL>
                    <a:lnR>
                      <a:noFill/>
                    </a:lnR>
                    <a:lnT>
                      <a:noFill/>
                    </a:lnT>
                    <a:lnB>
                      <a:noFill/>
                    </a:lnB>
                    <a:noFill/>
                  </a:tcPr>
                </a:tc>
                <a:tc rowSpan="2">
                  <a:txBody>
                    <a:bodyPr/>
                    <a:lstStyle/>
                    <a:p>
                      <a:pPr algn="ctr" fontAlgn="ctr">
                        <a:buNone/>
                      </a:pPr>
                      <a:r>
                        <a:rPr lang="en-US" sz="900" b="1">
                          <a:effectLst/>
                          <a:latin typeface="Calibri" panose="020F0502020204030204" pitchFamily="34" charset="0"/>
                        </a:rPr>
                        <a:t>Quantity needed to support 200-bed shelter</a:t>
                      </a:r>
                    </a:p>
                  </a:txBody>
                  <a:tcPr marL="9525" marR="9525" marT="9525" anchor="ctr">
                    <a:lnL>
                      <a:noFill/>
                    </a:lnL>
                    <a:lnR>
                      <a:noFill/>
                    </a:lnR>
                    <a:lnT>
                      <a:noFill/>
                    </a:lnT>
                    <a:lnB>
                      <a:noFill/>
                    </a:lnB>
                    <a:noFill/>
                  </a:tcPr>
                </a:tc>
                <a:extLst>
                  <a:ext uri="{0D108BD9-81ED-4DB2-BD59-A6C34878D82A}">
                    <a16:rowId xmlns:a16="http://schemas.microsoft.com/office/drawing/2014/main" val="439796963"/>
                  </a:ext>
                </a:extLst>
              </a:tr>
              <a:tr h="390525">
                <a:tc>
                  <a:txBody>
                    <a:bodyPr/>
                    <a:lstStyle/>
                    <a:p>
                      <a:pPr algn="ctr" fontAlgn="b">
                        <a:buNone/>
                      </a:pPr>
                      <a:r>
                        <a:rPr lang="en-US" sz="1400" b="1">
                          <a:effectLst/>
                          <a:latin typeface="Calibri" panose="020F0502020204030204" pitchFamily="34" charset="0"/>
                        </a:rPr>
                        <a:t>Provided Supplies Separate from Pallet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400" b="1">
                          <a:effectLst/>
                          <a:latin typeface="Calibri" panose="020F0502020204030204" pitchFamily="34" charset="0"/>
                        </a:rPr>
                        <a:t>Qty</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400" b="1">
                          <a:effectLst/>
                          <a:latin typeface="Calibri" panose="020F0502020204030204" pitchFamily="34" charset="0"/>
                        </a:rPr>
                        <a:t>Packaging</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767043477"/>
                  </a:ext>
                </a:extLst>
              </a:tr>
              <a:tr h="238125">
                <a:tc>
                  <a:txBody>
                    <a:bodyPr/>
                    <a:lstStyle/>
                    <a:p>
                      <a:pPr fontAlgn="b">
                        <a:buNone/>
                      </a:pPr>
                      <a:r>
                        <a:rPr lang="en-US" sz="1400" b="1">
                          <a:effectLst/>
                          <a:latin typeface="Calibri" panose="020F0502020204030204" pitchFamily="34" charset="0"/>
                        </a:rPr>
                        <a:t>Water </a:t>
                      </a:r>
                      <a:r>
                        <a:rPr lang="en-US" sz="1200" b="1">
                          <a:effectLst/>
                          <a:latin typeface="Calibri" panose="020F0502020204030204" pitchFamily="34" charset="0"/>
                        </a:rPr>
                        <a:t>(2, 16 oz. bottles per person per day) (in addition to other drinks provided by partners)</a:t>
                      </a:r>
                      <a:endParaRPr lang="en-US" sz="1400" b="1">
                        <a:effectLst/>
                        <a:latin typeface="Calibri" panose="020F0502020204030204" pitchFamily="34" charset="0"/>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1400" b="1">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a:effectLst/>
                          <a:latin typeface="Calibri" panose="020F0502020204030204" pitchFamily="34" charset="0"/>
                        </a:rPr>
                        <a:t>EA</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a:effectLst/>
                          <a:latin typeface="Calibri" panose="020F0502020204030204" pitchFamily="34" charset="0"/>
                        </a:rPr>
                        <a:t>200</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a:effectLst/>
                          <a:latin typeface="Calibri" panose="020F0502020204030204" pitchFamily="34" charset="0"/>
                        </a:rPr>
                        <a:t>1600</a:t>
                      </a:r>
                    </a:p>
                  </a:txBody>
                  <a:tcPr marL="9525" marR="9525" marT="9525" anchor="b">
                    <a:lnL>
                      <a:noFill/>
                    </a:lnL>
                    <a:lnR>
                      <a:noFill/>
                    </a:lnR>
                    <a:lnT>
                      <a:noFill/>
                    </a:lnT>
                    <a:lnB>
                      <a:noFill/>
                    </a:lnB>
                    <a:noFill/>
                  </a:tcPr>
                </a:tc>
                <a:extLst>
                  <a:ext uri="{0D108BD9-81ED-4DB2-BD59-A6C34878D82A}">
                    <a16:rowId xmlns:a16="http://schemas.microsoft.com/office/drawing/2014/main" val="1918066491"/>
                  </a:ext>
                </a:extLst>
              </a:tr>
              <a:tr h="238125">
                <a:tc>
                  <a:txBody>
                    <a:bodyPr/>
                    <a:lstStyle/>
                    <a:p>
                      <a:pPr fontAlgn="b">
                        <a:buNone/>
                      </a:pPr>
                      <a:r>
                        <a:rPr lang="en-US" sz="1400" b="1">
                          <a:effectLst/>
                          <a:latin typeface="Calibri" panose="020F0502020204030204" pitchFamily="34" charset="0"/>
                        </a:rPr>
                        <a:t>Tables (5-serving line, 5-supply/stock tables, 6-dining area)</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1400" b="1">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a:effectLst/>
                          <a:latin typeface="Calibri" panose="020F0502020204030204" pitchFamily="34" charset="0"/>
                        </a:rPr>
                        <a:t>EA</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a:effectLst/>
                          <a:latin typeface="Calibri" panose="020F0502020204030204" pitchFamily="34" charset="0"/>
                        </a:rPr>
                        <a:t>16</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a:effectLst/>
                          <a:latin typeface="Calibri" panose="020F0502020204030204" pitchFamily="34" charset="0"/>
                        </a:rPr>
                        <a:t>35</a:t>
                      </a:r>
                    </a:p>
                  </a:txBody>
                  <a:tcPr marL="9525" marR="9525" marT="9525" anchor="b">
                    <a:lnL>
                      <a:noFill/>
                    </a:lnL>
                    <a:lnR>
                      <a:noFill/>
                    </a:lnR>
                    <a:lnT>
                      <a:noFill/>
                    </a:lnT>
                    <a:lnB>
                      <a:noFill/>
                    </a:lnB>
                    <a:noFill/>
                  </a:tcPr>
                </a:tc>
                <a:extLst>
                  <a:ext uri="{0D108BD9-81ED-4DB2-BD59-A6C34878D82A}">
                    <a16:rowId xmlns:a16="http://schemas.microsoft.com/office/drawing/2014/main" val="2777338394"/>
                  </a:ext>
                </a:extLst>
              </a:tr>
              <a:tr h="238125">
                <a:tc>
                  <a:txBody>
                    <a:bodyPr/>
                    <a:lstStyle/>
                    <a:p>
                      <a:pPr fontAlgn="b">
                        <a:buNone/>
                      </a:pPr>
                      <a:r>
                        <a:rPr lang="en-US" sz="1400" b="1">
                          <a:effectLst/>
                          <a:latin typeface="Calibri" panose="020F0502020204030204" pitchFamily="34" charset="0"/>
                        </a:rPr>
                        <a:t>Chairs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1400" b="1">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a:effectLst/>
                          <a:latin typeface="Calibri" panose="020F0502020204030204" pitchFamily="34" charset="0"/>
                        </a:rPr>
                        <a:t>EA</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a:effectLst/>
                          <a:latin typeface="Calibri" panose="020F0502020204030204" pitchFamily="34" charset="0"/>
                        </a:rPr>
                        <a:t>30</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a:effectLst/>
                          <a:latin typeface="Calibri" panose="020F0502020204030204" pitchFamily="34" charset="0"/>
                        </a:rPr>
                        <a:t>160</a:t>
                      </a:r>
                    </a:p>
                  </a:txBody>
                  <a:tcPr marL="9525" marR="9525" marT="9525" anchor="b">
                    <a:lnL>
                      <a:noFill/>
                    </a:lnL>
                    <a:lnR>
                      <a:noFill/>
                    </a:lnR>
                    <a:lnT>
                      <a:noFill/>
                    </a:lnT>
                    <a:lnB>
                      <a:noFill/>
                    </a:lnB>
                    <a:noFill/>
                  </a:tcPr>
                </a:tc>
                <a:extLst>
                  <a:ext uri="{0D108BD9-81ED-4DB2-BD59-A6C34878D82A}">
                    <a16:rowId xmlns:a16="http://schemas.microsoft.com/office/drawing/2014/main" val="3256114839"/>
                  </a:ext>
                </a:extLst>
              </a:tr>
              <a:tr h="238125">
                <a:tc>
                  <a:txBody>
                    <a:bodyPr/>
                    <a:lstStyle/>
                    <a:p>
                      <a:pPr fontAlgn="b">
                        <a:buNone/>
                      </a:pPr>
                      <a:r>
                        <a:rPr lang="en-US" sz="1400" b="1">
                          <a:effectLst/>
                          <a:latin typeface="Calibri" panose="020F0502020204030204" pitchFamily="34" charset="0"/>
                        </a:rPr>
                        <a:t>Plastic Table Cloth</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1400" b="1">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a:effectLst/>
                          <a:latin typeface="Calibri" panose="020F0502020204030204" pitchFamily="34" charset="0"/>
                        </a:rPr>
                        <a:t>EA</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a:effectLst/>
                          <a:latin typeface="Calibri" panose="020F0502020204030204" pitchFamily="34" charset="0"/>
                        </a:rPr>
                        <a:t>16</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a:effectLst/>
                          <a:latin typeface="Calibri" panose="020F0502020204030204" pitchFamily="34" charset="0"/>
                        </a:rPr>
                        <a:t>35</a:t>
                      </a:r>
                    </a:p>
                  </a:txBody>
                  <a:tcPr marL="9525" marR="9525" marT="9525" anchor="b">
                    <a:lnL>
                      <a:noFill/>
                    </a:lnL>
                    <a:lnR>
                      <a:noFill/>
                    </a:lnR>
                    <a:lnT>
                      <a:noFill/>
                    </a:lnT>
                    <a:lnB>
                      <a:noFill/>
                    </a:lnB>
                    <a:noFill/>
                  </a:tcPr>
                </a:tc>
                <a:extLst>
                  <a:ext uri="{0D108BD9-81ED-4DB2-BD59-A6C34878D82A}">
                    <a16:rowId xmlns:a16="http://schemas.microsoft.com/office/drawing/2014/main" val="424610166"/>
                  </a:ext>
                </a:extLst>
              </a:tr>
              <a:tr h="238125">
                <a:tc>
                  <a:txBody>
                    <a:bodyPr/>
                    <a:lstStyle/>
                    <a:p>
                      <a:pPr fontAlgn="b">
                        <a:buNone/>
                      </a:pPr>
                      <a:r>
                        <a:rPr lang="en-US" sz="1400" b="1">
                          <a:effectLst/>
                          <a:latin typeface="Calibri" panose="020F0502020204030204" pitchFamily="34" charset="0"/>
                        </a:rPr>
                        <a:t>Coffee Pots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1400" b="1">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a:effectLst/>
                          <a:latin typeface="Calibri" panose="020F0502020204030204" pitchFamily="34" charset="0"/>
                        </a:rPr>
                        <a:t>EA</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a:effectLst/>
                          <a:latin typeface="Calibri" panose="020F0502020204030204" pitchFamily="34" charset="0"/>
                        </a:rPr>
                        <a:t>3</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a:effectLst/>
                          <a:latin typeface="Calibri" panose="020F0502020204030204" pitchFamily="34" charset="0"/>
                        </a:rPr>
                        <a:t>3</a:t>
                      </a:r>
                    </a:p>
                  </a:txBody>
                  <a:tcPr marL="9525" marR="9525" marT="9525" anchor="b">
                    <a:lnL>
                      <a:noFill/>
                    </a:lnL>
                    <a:lnR>
                      <a:noFill/>
                    </a:lnR>
                    <a:lnT>
                      <a:noFill/>
                    </a:lnT>
                    <a:lnB>
                      <a:noFill/>
                    </a:lnB>
                    <a:noFill/>
                  </a:tcPr>
                </a:tc>
                <a:extLst>
                  <a:ext uri="{0D108BD9-81ED-4DB2-BD59-A6C34878D82A}">
                    <a16:rowId xmlns:a16="http://schemas.microsoft.com/office/drawing/2014/main" val="2737779806"/>
                  </a:ext>
                </a:extLst>
              </a:tr>
              <a:tr h="238125">
                <a:tc>
                  <a:txBody>
                    <a:bodyPr/>
                    <a:lstStyle/>
                    <a:p>
                      <a:pPr fontAlgn="b">
                        <a:buNone/>
                      </a:pPr>
                      <a:r>
                        <a:rPr lang="en-US" sz="1400" b="1">
                          <a:effectLst/>
                          <a:latin typeface="Calibri" panose="020F0502020204030204" pitchFamily="34" charset="0"/>
                        </a:rPr>
                        <a:t>Toaster (4 slice or industrial type)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1400" b="1">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a:effectLst/>
                          <a:latin typeface="Calibri" panose="020F0502020204030204" pitchFamily="34" charset="0"/>
                        </a:rPr>
                        <a:t>EA</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a:effectLst/>
                          <a:latin typeface="Calibri" panose="020F0502020204030204" pitchFamily="34" charset="0"/>
                        </a:rPr>
                        <a:t>2</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a:effectLst/>
                          <a:latin typeface="Calibri" panose="020F0502020204030204" pitchFamily="34" charset="0"/>
                        </a:rPr>
                        <a:t>4</a:t>
                      </a:r>
                    </a:p>
                  </a:txBody>
                  <a:tcPr marL="9525" marR="9525" marT="9525" anchor="b">
                    <a:lnL>
                      <a:noFill/>
                    </a:lnL>
                    <a:lnR>
                      <a:noFill/>
                    </a:lnR>
                    <a:lnT>
                      <a:noFill/>
                    </a:lnT>
                    <a:lnB>
                      <a:noFill/>
                    </a:lnB>
                    <a:noFill/>
                  </a:tcPr>
                </a:tc>
                <a:extLst>
                  <a:ext uri="{0D108BD9-81ED-4DB2-BD59-A6C34878D82A}">
                    <a16:rowId xmlns:a16="http://schemas.microsoft.com/office/drawing/2014/main" val="719769247"/>
                  </a:ext>
                </a:extLst>
              </a:tr>
              <a:tr h="238125">
                <a:tc>
                  <a:txBody>
                    <a:bodyPr/>
                    <a:lstStyle/>
                    <a:p>
                      <a:pPr fontAlgn="b">
                        <a:buNone/>
                      </a:pPr>
                      <a:r>
                        <a:rPr lang="en-US" sz="1400" b="1">
                          <a:effectLst/>
                          <a:latin typeface="Calibri" panose="020F0502020204030204" pitchFamily="34" charset="0"/>
                        </a:rPr>
                        <a:t>Food Cambros (use and quantity varies with shelter site)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1400" b="1">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a:effectLst/>
                          <a:latin typeface="Calibri" panose="020F0502020204030204" pitchFamily="34" charset="0"/>
                        </a:rPr>
                        <a:t>EA</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a:effectLst/>
                          <a:latin typeface="Calibri" panose="020F0502020204030204" pitchFamily="34" charset="0"/>
                        </a:rPr>
                        <a:t>4</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a:effectLst/>
                          <a:latin typeface="Calibri" panose="020F0502020204030204" pitchFamily="34" charset="0"/>
                        </a:rPr>
                        <a:t>8</a:t>
                      </a:r>
                    </a:p>
                  </a:txBody>
                  <a:tcPr marL="9525" marR="9525" marT="9525" anchor="b">
                    <a:lnL>
                      <a:noFill/>
                    </a:lnL>
                    <a:lnR>
                      <a:noFill/>
                    </a:lnR>
                    <a:lnT>
                      <a:noFill/>
                    </a:lnT>
                    <a:lnB>
                      <a:noFill/>
                    </a:lnB>
                    <a:noFill/>
                  </a:tcPr>
                </a:tc>
                <a:extLst>
                  <a:ext uri="{0D108BD9-81ED-4DB2-BD59-A6C34878D82A}">
                    <a16:rowId xmlns:a16="http://schemas.microsoft.com/office/drawing/2014/main" val="929109574"/>
                  </a:ext>
                </a:extLst>
              </a:tr>
              <a:tr h="238125">
                <a:tc>
                  <a:txBody>
                    <a:bodyPr/>
                    <a:lstStyle/>
                    <a:p>
                      <a:pPr fontAlgn="b">
                        <a:buNone/>
                      </a:pPr>
                      <a:r>
                        <a:rPr lang="en-US" sz="1400" b="1">
                          <a:effectLst/>
                          <a:latin typeface="Calibri" panose="020F0502020204030204" pitchFamily="34" charset="0"/>
                        </a:rPr>
                        <a:t>Beverage Cambros  </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1400" b="1">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a:effectLst/>
                          <a:latin typeface="Calibri" panose="020F0502020204030204" pitchFamily="34" charset="0"/>
                        </a:rPr>
                        <a:t>EA</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a:effectLst/>
                          <a:latin typeface="Calibri" panose="020F0502020204030204" pitchFamily="34" charset="0"/>
                        </a:rPr>
                        <a:t>3</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a:effectLst/>
                          <a:latin typeface="Calibri" panose="020F0502020204030204" pitchFamily="34" charset="0"/>
                        </a:rPr>
                        <a:t>3</a:t>
                      </a:r>
                    </a:p>
                  </a:txBody>
                  <a:tcPr marL="9525" marR="9525" marT="9525" anchor="b">
                    <a:lnL>
                      <a:noFill/>
                    </a:lnL>
                    <a:lnR>
                      <a:noFill/>
                    </a:lnR>
                    <a:lnT>
                      <a:noFill/>
                    </a:lnT>
                    <a:lnB>
                      <a:noFill/>
                    </a:lnB>
                    <a:noFill/>
                  </a:tcPr>
                </a:tc>
                <a:extLst>
                  <a:ext uri="{0D108BD9-81ED-4DB2-BD59-A6C34878D82A}">
                    <a16:rowId xmlns:a16="http://schemas.microsoft.com/office/drawing/2014/main" val="205611132"/>
                  </a:ext>
                </a:extLst>
              </a:tr>
              <a:tr h="238125">
                <a:tc>
                  <a:txBody>
                    <a:bodyPr/>
                    <a:lstStyle/>
                    <a:p>
                      <a:pPr fontAlgn="b">
                        <a:buNone/>
                      </a:pPr>
                      <a:r>
                        <a:rPr lang="en-US" sz="1400" b="1">
                          <a:effectLst/>
                          <a:latin typeface="Calibri" panose="020F0502020204030204" pitchFamily="34" charset="0"/>
                        </a:rPr>
                        <a:t>Food Cambros Liners  (use and quantity varies with shelter site)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1400" b="1">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a:effectLst/>
                          <a:latin typeface="Calibri" panose="020F0502020204030204" pitchFamily="34" charset="0"/>
                        </a:rPr>
                        <a:t>EA</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a:effectLst/>
                          <a:latin typeface="Calibri" panose="020F0502020204030204" pitchFamily="34" charset="0"/>
                        </a:rPr>
                        <a:t>48</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a:effectLst/>
                          <a:latin typeface="Calibri" panose="020F0502020204030204" pitchFamily="34" charset="0"/>
                        </a:rPr>
                        <a:t>96</a:t>
                      </a:r>
                    </a:p>
                  </a:txBody>
                  <a:tcPr marL="9525" marR="9525" marT="9525" anchor="b">
                    <a:lnL>
                      <a:noFill/>
                    </a:lnL>
                    <a:lnR>
                      <a:noFill/>
                    </a:lnR>
                    <a:lnT>
                      <a:noFill/>
                    </a:lnT>
                    <a:lnB>
                      <a:noFill/>
                    </a:lnB>
                    <a:noFill/>
                  </a:tcPr>
                </a:tc>
                <a:extLst>
                  <a:ext uri="{0D108BD9-81ED-4DB2-BD59-A6C34878D82A}">
                    <a16:rowId xmlns:a16="http://schemas.microsoft.com/office/drawing/2014/main" val="1361880102"/>
                  </a:ext>
                </a:extLst>
              </a:tr>
              <a:tr h="238125">
                <a:tc>
                  <a:txBody>
                    <a:bodyPr/>
                    <a:lstStyle/>
                    <a:p>
                      <a:pPr fontAlgn="b">
                        <a:buNone/>
                      </a:pPr>
                      <a:r>
                        <a:rPr lang="en-US" sz="1400" b="1">
                          <a:effectLst/>
                          <a:latin typeface="Calibri" panose="020F0502020204030204" pitchFamily="34" charset="0"/>
                        </a:rPr>
                        <a:t>Large Cooler  (use and quantity varies with shelter site)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1400" b="1">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a:effectLst/>
                          <a:latin typeface="Calibri" panose="020F0502020204030204" pitchFamily="34" charset="0"/>
                        </a:rPr>
                        <a:t>EA</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a:effectLst/>
                          <a:latin typeface="Calibri" panose="020F0502020204030204" pitchFamily="34" charset="0"/>
                        </a:rPr>
                        <a:t>4</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a:effectLst/>
                          <a:latin typeface="Calibri" panose="020F0502020204030204" pitchFamily="34" charset="0"/>
                        </a:rPr>
                        <a:t>8</a:t>
                      </a:r>
                    </a:p>
                  </a:txBody>
                  <a:tcPr marL="9525" marR="9525" marT="9525" anchor="b">
                    <a:lnL>
                      <a:noFill/>
                    </a:lnL>
                    <a:lnR>
                      <a:noFill/>
                    </a:lnR>
                    <a:lnT>
                      <a:noFill/>
                    </a:lnT>
                    <a:lnB>
                      <a:noFill/>
                    </a:lnB>
                    <a:noFill/>
                  </a:tcPr>
                </a:tc>
                <a:extLst>
                  <a:ext uri="{0D108BD9-81ED-4DB2-BD59-A6C34878D82A}">
                    <a16:rowId xmlns:a16="http://schemas.microsoft.com/office/drawing/2014/main" val="4221575813"/>
                  </a:ext>
                </a:extLst>
              </a:tr>
              <a:tr h="238125">
                <a:tc>
                  <a:txBody>
                    <a:bodyPr/>
                    <a:lstStyle/>
                    <a:p>
                      <a:pPr fontAlgn="b">
                        <a:buNone/>
                      </a:pPr>
                      <a:r>
                        <a:rPr lang="en-US" sz="1400" b="1">
                          <a:effectLst/>
                          <a:latin typeface="Calibri" panose="020F0502020204030204" pitchFamily="34" charset="0"/>
                        </a:rPr>
                        <a:t>Broom</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1400" b="1">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a:effectLst/>
                          <a:latin typeface="Calibri" panose="020F0502020204030204" pitchFamily="34" charset="0"/>
                        </a:rPr>
                        <a:t>EA</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a:effectLst/>
                          <a:latin typeface="Calibri" panose="020F0502020204030204" pitchFamily="34" charset="0"/>
                        </a:rPr>
                        <a:t>2</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a:effectLst/>
                          <a:latin typeface="Calibri" panose="020F0502020204030204" pitchFamily="34" charset="0"/>
                        </a:rPr>
                        <a:t>4</a:t>
                      </a:r>
                    </a:p>
                  </a:txBody>
                  <a:tcPr marL="9525" marR="9525" marT="9525" anchor="b">
                    <a:lnL>
                      <a:noFill/>
                    </a:lnL>
                    <a:lnR>
                      <a:noFill/>
                    </a:lnR>
                    <a:lnT>
                      <a:noFill/>
                    </a:lnT>
                    <a:lnB>
                      <a:noFill/>
                    </a:lnB>
                    <a:noFill/>
                  </a:tcPr>
                </a:tc>
                <a:extLst>
                  <a:ext uri="{0D108BD9-81ED-4DB2-BD59-A6C34878D82A}">
                    <a16:rowId xmlns:a16="http://schemas.microsoft.com/office/drawing/2014/main" val="3358689910"/>
                  </a:ext>
                </a:extLst>
              </a:tr>
              <a:tr h="238125">
                <a:tc>
                  <a:txBody>
                    <a:bodyPr/>
                    <a:lstStyle/>
                    <a:p>
                      <a:pPr fontAlgn="b">
                        <a:buNone/>
                      </a:pPr>
                      <a:r>
                        <a:rPr lang="en-US" sz="1400" b="1">
                          <a:effectLst/>
                          <a:latin typeface="Calibri" panose="020F0502020204030204" pitchFamily="34" charset="0"/>
                        </a:rPr>
                        <a:t>Dust Brush and Pan</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1400" b="1">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a:effectLst/>
                          <a:latin typeface="Calibri" panose="020F0502020204030204" pitchFamily="34" charset="0"/>
                        </a:rPr>
                        <a:t>EA</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a:effectLst/>
                          <a:latin typeface="Calibri" panose="020F0502020204030204" pitchFamily="34" charset="0"/>
                        </a:rPr>
                        <a:t>2</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a:effectLst/>
                          <a:latin typeface="Calibri" panose="020F0502020204030204" pitchFamily="34" charset="0"/>
                        </a:rPr>
                        <a:t>4</a:t>
                      </a:r>
                    </a:p>
                  </a:txBody>
                  <a:tcPr marL="9525" marR="9525" marT="9525" anchor="b">
                    <a:lnL>
                      <a:noFill/>
                    </a:lnL>
                    <a:lnR>
                      <a:noFill/>
                    </a:lnR>
                    <a:lnT>
                      <a:noFill/>
                    </a:lnT>
                    <a:lnB>
                      <a:noFill/>
                    </a:lnB>
                    <a:noFill/>
                  </a:tcPr>
                </a:tc>
                <a:extLst>
                  <a:ext uri="{0D108BD9-81ED-4DB2-BD59-A6C34878D82A}">
                    <a16:rowId xmlns:a16="http://schemas.microsoft.com/office/drawing/2014/main" val="22171096"/>
                  </a:ext>
                </a:extLst>
              </a:tr>
              <a:tr h="238125">
                <a:tc>
                  <a:txBody>
                    <a:bodyPr/>
                    <a:lstStyle/>
                    <a:p>
                      <a:pPr fontAlgn="b">
                        <a:buNone/>
                      </a:pPr>
                      <a:r>
                        <a:rPr lang="en-US" sz="1400" b="1">
                          <a:effectLst/>
                          <a:latin typeface="Calibri" panose="020F0502020204030204" pitchFamily="34" charset="0"/>
                        </a:rPr>
                        <a:t>Bucket and Mop</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1400" b="1">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a:effectLst/>
                          <a:latin typeface="Calibri" panose="020F0502020204030204" pitchFamily="34" charset="0"/>
                        </a:rPr>
                        <a:t>EA</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a:effectLst/>
                          <a:latin typeface="Calibri" panose="020F0502020204030204" pitchFamily="34" charset="0"/>
                        </a:rPr>
                        <a:t>2</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a:effectLst/>
                          <a:latin typeface="Calibri" panose="020F0502020204030204" pitchFamily="34" charset="0"/>
                        </a:rPr>
                        <a:t>4</a:t>
                      </a:r>
                    </a:p>
                  </a:txBody>
                  <a:tcPr marL="9525" marR="9525" marT="9525" anchor="b">
                    <a:lnL>
                      <a:noFill/>
                    </a:lnL>
                    <a:lnR>
                      <a:noFill/>
                    </a:lnR>
                    <a:lnT>
                      <a:noFill/>
                    </a:lnT>
                    <a:lnB>
                      <a:noFill/>
                    </a:lnB>
                    <a:noFill/>
                  </a:tcPr>
                </a:tc>
                <a:extLst>
                  <a:ext uri="{0D108BD9-81ED-4DB2-BD59-A6C34878D82A}">
                    <a16:rowId xmlns:a16="http://schemas.microsoft.com/office/drawing/2014/main" val="2689446275"/>
                  </a:ext>
                </a:extLst>
              </a:tr>
              <a:tr h="238125">
                <a:tc>
                  <a:txBody>
                    <a:bodyPr/>
                    <a:lstStyle/>
                    <a:p>
                      <a:pPr fontAlgn="b">
                        <a:buNone/>
                      </a:pPr>
                      <a:r>
                        <a:rPr lang="en-US" sz="1400" b="1">
                          <a:effectLst/>
                          <a:latin typeface="Calibri" panose="020F0502020204030204" pitchFamily="34" charset="0"/>
                        </a:rPr>
                        <a:t>Medical Isolation Panels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1400" b="1">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a:effectLst/>
                          <a:latin typeface="Calibri" panose="020F0502020204030204" pitchFamily="34" charset="0"/>
                        </a:rPr>
                        <a:t>EA</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200">
                          <a:effectLst/>
                          <a:latin typeface="Calibri" panose="020F0502020204030204" pitchFamily="34" charset="0"/>
                        </a:rPr>
                        <a:t>2</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US" sz="1200">
                          <a:effectLst/>
                          <a:latin typeface="Calibri" panose="020F0502020204030204" pitchFamily="34" charset="0"/>
                        </a:rPr>
                        <a:t>2</a:t>
                      </a:r>
                    </a:p>
                  </a:txBody>
                  <a:tcPr marL="9525" marR="9525" marT="9525" anchor="b">
                    <a:lnL>
                      <a:noFill/>
                    </a:lnL>
                    <a:lnR>
                      <a:noFill/>
                    </a:lnR>
                    <a:lnT>
                      <a:noFill/>
                    </a:lnT>
                    <a:lnB>
                      <a:noFill/>
                    </a:lnB>
                    <a:noFill/>
                  </a:tcPr>
                </a:tc>
                <a:extLst>
                  <a:ext uri="{0D108BD9-81ED-4DB2-BD59-A6C34878D82A}">
                    <a16:rowId xmlns:a16="http://schemas.microsoft.com/office/drawing/2014/main" val="2476551549"/>
                  </a:ext>
                </a:extLst>
              </a:tr>
            </a:tbl>
          </a:graphicData>
        </a:graphic>
      </p:graphicFrame>
    </p:spTree>
    <p:extLst>
      <p:ext uri="{BB962C8B-B14F-4D97-AF65-F5344CB8AC3E}">
        <p14:creationId xmlns:p14="http://schemas.microsoft.com/office/powerpoint/2010/main" val="291543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3B72-8B4D-E42C-A2AC-69E62B290DF1}"/>
              </a:ext>
            </a:extLst>
          </p:cNvPr>
          <p:cNvSpPr>
            <a:spLocks noGrp="1"/>
          </p:cNvSpPr>
          <p:nvPr>
            <p:ph type="title"/>
          </p:nvPr>
        </p:nvSpPr>
        <p:spPr/>
        <p:txBody>
          <a:bodyPr/>
          <a:lstStyle/>
          <a:p>
            <a:r>
              <a:rPr lang="en-US"/>
              <a:t>Preparations - Mobile &amp; Canteen Feeding</a:t>
            </a:r>
          </a:p>
        </p:txBody>
      </p:sp>
      <p:sp>
        <p:nvSpPr>
          <p:cNvPr id="3" name="Content Placeholder 2">
            <a:extLst>
              <a:ext uri="{FF2B5EF4-FFF2-40B4-BE49-F238E27FC236}">
                <a16:creationId xmlns:a16="http://schemas.microsoft.com/office/drawing/2014/main" id="{AE063CE8-B994-2BC6-5F90-895859ED0257}"/>
              </a:ext>
            </a:extLst>
          </p:cNvPr>
          <p:cNvSpPr>
            <a:spLocks noGrp="1"/>
          </p:cNvSpPr>
          <p:nvPr>
            <p:ph idx="1"/>
          </p:nvPr>
        </p:nvSpPr>
        <p:spPr/>
        <p:txBody>
          <a:bodyPr vert="horz" lIns="91440" tIns="45720" rIns="91440" bIns="45720" rtlCol="0" anchor="t">
            <a:normAutofit fontScale="92500" lnSpcReduction="20000"/>
          </a:bodyPr>
          <a:lstStyle/>
          <a:p>
            <a:r>
              <a:rPr lang="en-US"/>
              <a:t>ERV Equipment</a:t>
            </a:r>
          </a:p>
          <a:p>
            <a:pPr lvl="1"/>
            <a:r>
              <a:rPr lang="en-US"/>
              <a:t>Food thermometer and utensils: </a:t>
            </a:r>
            <a:r>
              <a:rPr lang="en-US" err="1"/>
              <a:t>spoodles</a:t>
            </a:r>
            <a:r>
              <a:rPr lang="en-US"/>
              <a:t>, tongs</a:t>
            </a:r>
          </a:p>
          <a:p>
            <a:pPr lvl="1"/>
            <a:r>
              <a:rPr lang="en-US" err="1"/>
              <a:t>Cambros</a:t>
            </a:r>
            <a:r>
              <a:rPr lang="en-US"/>
              <a:t> (food and beverage ones)</a:t>
            </a:r>
          </a:p>
          <a:p>
            <a:r>
              <a:rPr lang="en-US"/>
              <a:t>ERV Supplies</a:t>
            </a:r>
          </a:p>
          <a:p>
            <a:pPr lvl="1"/>
            <a:r>
              <a:rPr lang="en-US"/>
              <a:t>Paper towels, gloves, hair nets, hand sanitizer, non-toxic cleaning wipes, trash bags, dry erase marker</a:t>
            </a:r>
          </a:p>
          <a:p>
            <a:pPr lvl="1"/>
            <a:r>
              <a:rPr lang="en-US"/>
              <a:t>Clamshells, banquet (eating utensils) packs</a:t>
            </a:r>
          </a:p>
          <a:p>
            <a:r>
              <a:rPr lang="en-US"/>
              <a:t>Other: Phone with app to perform vehicle inspection</a:t>
            </a:r>
          </a:p>
          <a:p>
            <a:r>
              <a:rPr lang="en-US"/>
              <a:t>What’s the Plan</a:t>
            </a:r>
          </a:p>
          <a:p>
            <a:pPr lvl="1"/>
            <a:r>
              <a:rPr lang="en-US"/>
              <a:t>What are we doing?</a:t>
            </a:r>
          </a:p>
          <a:p>
            <a:pPr lvl="1"/>
            <a:r>
              <a:rPr lang="en-US"/>
              <a:t>Where are we going?</a:t>
            </a:r>
          </a:p>
          <a:p>
            <a:pPr lvl="1"/>
            <a:r>
              <a:rPr lang="en-US"/>
              <a:t>Is there a schedule?</a:t>
            </a:r>
          </a:p>
          <a:p>
            <a:pPr lvl="1"/>
            <a:r>
              <a:rPr lang="en-US"/>
              <a:t>Who is supplying the food and beverages?</a:t>
            </a:r>
          </a:p>
          <a:p>
            <a:endParaRPr lang="en-US"/>
          </a:p>
        </p:txBody>
      </p:sp>
      <p:sp>
        <p:nvSpPr>
          <p:cNvPr id="5" name="Slide Number Placeholder 4">
            <a:extLst>
              <a:ext uri="{FF2B5EF4-FFF2-40B4-BE49-F238E27FC236}">
                <a16:creationId xmlns:a16="http://schemas.microsoft.com/office/drawing/2014/main" id="{41AE601C-637B-AF1F-5939-713A2AD5C851}"/>
              </a:ext>
            </a:extLst>
          </p:cNvPr>
          <p:cNvSpPr>
            <a:spLocks noGrp="1"/>
          </p:cNvSpPr>
          <p:nvPr>
            <p:ph type="sldNum" sz="quarter" idx="12"/>
          </p:nvPr>
        </p:nvSpPr>
        <p:spPr/>
        <p:txBody>
          <a:bodyPr/>
          <a:lstStyle/>
          <a:p>
            <a:fld id="{1466F282-3B2E-4770-B8F7-3A3BF1EE6D34}" type="slidenum">
              <a:rPr lang="en-US" smtClean="0"/>
              <a:t>14</a:t>
            </a:fld>
            <a:endParaRPr lang="en-US"/>
          </a:p>
        </p:txBody>
      </p:sp>
    </p:spTree>
    <p:extLst>
      <p:ext uri="{BB962C8B-B14F-4D97-AF65-F5344CB8AC3E}">
        <p14:creationId xmlns:p14="http://schemas.microsoft.com/office/powerpoint/2010/main" val="2943539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DD2F8-4DA7-A8D6-E536-B91320732FA9}"/>
              </a:ext>
            </a:extLst>
          </p:cNvPr>
          <p:cNvSpPr>
            <a:spLocks noGrp="1"/>
          </p:cNvSpPr>
          <p:nvPr>
            <p:ph type="title"/>
          </p:nvPr>
        </p:nvSpPr>
        <p:spPr/>
        <p:txBody>
          <a:bodyPr/>
          <a:lstStyle/>
          <a:p>
            <a:r>
              <a:rPr lang="en-US"/>
              <a:t>Event Set Up - Congregate &amp; Fixed Outreach Feeding</a:t>
            </a:r>
          </a:p>
        </p:txBody>
      </p:sp>
      <p:sp>
        <p:nvSpPr>
          <p:cNvPr id="3" name="Content Placeholder 2">
            <a:extLst>
              <a:ext uri="{FF2B5EF4-FFF2-40B4-BE49-F238E27FC236}">
                <a16:creationId xmlns:a16="http://schemas.microsoft.com/office/drawing/2014/main" id="{C9BF219C-E8CF-F6E6-9464-61C2F87EFDF6}"/>
              </a:ext>
            </a:extLst>
          </p:cNvPr>
          <p:cNvSpPr>
            <a:spLocks noGrp="1"/>
          </p:cNvSpPr>
          <p:nvPr>
            <p:ph idx="1"/>
          </p:nvPr>
        </p:nvSpPr>
        <p:spPr>
          <a:xfrm>
            <a:off x="524617" y="2050119"/>
            <a:ext cx="7886700" cy="4351338"/>
          </a:xfrm>
        </p:spPr>
        <p:txBody>
          <a:bodyPr/>
          <a:lstStyle/>
          <a:p>
            <a:r>
              <a:rPr lang="en-US"/>
              <a:t>Food line placement &amp; configuration</a:t>
            </a:r>
          </a:p>
          <a:p>
            <a:pPr lvl="1"/>
            <a:endParaRPr lang="en-US"/>
          </a:p>
        </p:txBody>
      </p:sp>
      <p:sp>
        <p:nvSpPr>
          <p:cNvPr id="6" name="Rectangle 5">
            <a:extLst>
              <a:ext uri="{FF2B5EF4-FFF2-40B4-BE49-F238E27FC236}">
                <a16:creationId xmlns:a16="http://schemas.microsoft.com/office/drawing/2014/main" id="{73735AD4-A324-8D4A-C1AC-B61CB26F21B0}"/>
              </a:ext>
            </a:extLst>
          </p:cNvPr>
          <p:cNvSpPr/>
          <p:nvPr/>
        </p:nvSpPr>
        <p:spPr>
          <a:xfrm>
            <a:off x="3516807" y="2735322"/>
            <a:ext cx="4356656" cy="914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solidFill>
                  <a:schemeClr val="tx1"/>
                </a:solidFill>
              </a:rPr>
              <a:t>Storage</a:t>
            </a:r>
            <a:r>
              <a:rPr lang="en-US" err="1"/>
              <a:t>e</a:t>
            </a:r>
            <a:endParaRPr lang="en-US"/>
          </a:p>
        </p:txBody>
      </p:sp>
      <p:sp>
        <p:nvSpPr>
          <p:cNvPr id="7" name="Rectangle 6">
            <a:extLst>
              <a:ext uri="{FF2B5EF4-FFF2-40B4-BE49-F238E27FC236}">
                <a16:creationId xmlns:a16="http://schemas.microsoft.com/office/drawing/2014/main" id="{76ACA768-3B05-0A73-0CC7-44678A33985C}"/>
              </a:ext>
            </a:extLst>
          </p:cNvPr>
          <p:cNvSpPr/>
          <p:nvPr/>
        </p:nvSpPr>
        <p:spPr>
          <a:xfrm>
            <a:off x="2669785" y="4599983"/>
            <a:ext cx="1360794"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a:t>
            </a:r>
          </a:p>
        </p:txBody>
      </p:sp>
      <p:sp>
        <p:nvSpPr>
          <p:cNvPr id="8" name="Rectangle 7">
            <a:extLst>
              <a:ext uri="{FF2B5EF4-FFF2-40B4-BE49-F238E27FC236}">
                <a16:creationId xmlns:a16="http://schemas.microsoft.com/office/drawing/2014/main" id="{8BEBDB86-3A71-8209-197F-756A044B25C7}"/>
              </a:ext>
            </a:extLst>
          </p:cNvPr>
          <p:cNvSpPr/>
          <p:nvPr/>
        </p:nvSpPr>
        <p:spPr>
          <a:xfrm>
            <a:off x="4119188" y="4603904"/>
            <a:ext cx="3755077" cy="914400"/>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FL</a:t>
            </a:r>
          </a:p>
        </p:txBody>
      </p:sp>
      <p:sp>
        <p:nvSpPr>
          <p:cNvPr id="9" name="Rectangle 8">
            <a:extLst>
              <a:ext uri="{FF2B5EF4-FFF2-40B4-BE49-F238E27FC236}">
                <a16:creationId xmlns:a16="http://schemas.microsoft.com/office/drawing/2014/main" id="{01D827A3-4BC8-E57B-701E-CB27BD81CBFE}"/>
              </a:ext>
            </a:extLst>
          </p:cNvPr>
          <p:cNvSpPr/>
          <p:nvPr/>
        </p:nvSpPr>
        <p:spPr>
          <a:xfrm rot="16200000">
            <a:off x="-776647" y="4473804"/>
            <a:ext cx="3728825" cy="91631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t>FeE</a:t>
            </a:r>
            <a:r>
              <a:rPr lang="en-US" sz="900" err="1"/>
              <a:t>Eatu</a:t>
            </a:r>
            <a:endParaRPr lang="en-US"/>
          </a:p>
        </p:txBody>
      </p:sp>
      <p:sp>
        <p:nvSpPr>
          <p:cNvPr id="10" name="Oval 9">
            <a:extLst>
              <a:ext uri="{FF2B5EF4-FFF2-40B4-BE49-F238E27FC236}">
                <a16:creationId xmlns:a16="http://schemas.microsoft.com/office/drawing/2014/main" id="{87B4527E-B35B-7094-0BFE-DFFBE833BD22}"/>
              </a:ext>
            </a:extLst>
          </p:cNvPr>
          <p:cNvSpPr/>
          <p:nvPr/>
        </p:nvSpPr>
        <p:spPr>
          <a:xfrm rot="5520000">
            <a:off x="1722007" y="4962182"/>
            <a:ext cx="1284929" cy="562891"/>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a:t>
            </a:r>
          </a:p>
        </p:txBody>
      </p:sp>
      <p:sp>
        <p:nvSpPr>
          <p:cNvPr id="12" name="TextBox 11">
            <a:extLst>
              <a:ext uri="{FF2B5EF4-FFF2-40B4-BE49-F238E27FC236}">
                <a16:creationId xmlns:a16="http://schemas.microsoft.com/office/drawing/2014/main" id="{4F2E90DB-C3C7-DA89-2F49-90D03FB88D57}"/>
              </a:ext>
            </a:extLst>
          </p:cNvPr>
          <p:cNvSpPr txBox="1"/>
          <p:nvPr/>
        </p:nvSpPr>
        <p:spPr>
          <a:xfrm>
            <a:off x="732683" y="2995071"/>
            <a:ext cx="855197" cy="646331"/>
          </a:xfrm>
          <a:prstGeom prst="rect">
            <a:avLst/>
          </a:prstGeom>
          <a:noFill/>
        </p:spPr>
        <p:txBody>
          <a:bodyPr wrap="square" rtlCol="0">
            <a:spAutoFit/>
          </a:bodyPr>
          <a:lstStyle/>
          <a:p>
            <a:r>
              <a:rPr lang="en-US"/>
              <a:t>Eating area</a:t>
            </a:r>
          </a:p>
        </p:txBody>
      </p:sp>
      <p:sp>
        <p:nvSpPr>
          <p:cNvPr id="13" name="TextBox 12">
            <a:extLst>
              <a:ext uri="{FF2B5EF4-FFF2-40B4-BE49-F238E27FC236}">
                <a16:creationId xmlns:a16="http://schemas.microsoft.com/office/drawing/2014/main" id="{4DA17215-65C6-DAB9-5F18-F1C1C483EDA3}"/>
              </a:ext>
            </a:extLst>
          </p:cNvPr>
          <p:cNvSpPr txBox="1"/>
          <p:nvPr/>
        </p:nvSpPr>
        <p:spPr>
          <a:xfrm>
            <a:off x="2759626" y="6141220"/>
            <a:ext cx="4476564" cy="646331"/>
          </a:xfrm>
          <a:prstGeom prst="rect">
            <a:avLst/>
          </a:prstGeom>
          <a:noFill/>
        </p:spPr>
        <p:txBody>
          <a:bodyPr wrap="square" lIns="91440" tIns="45720" rIns="91440" bIns="45720" rtlCol="0" anchor="t">
            <a:spAutoFit/>
          </a:bodyPr>
          <a:lstStyle/>
          <a:p>
            <a:r>
              <a:rPr lang="en-US" dirty="0"/>
              <a:t>I- iced beverages, T- trash, C/T – coffee/tea, S-snacks, FL - Feeding line</a:t>
            </a:r>
          </a:p>
        </p:txBody>
      </p:sp>
      <p:grpSp>
        <p:nvGrpSpPr>
          <p:cNvPr id="16" name="Group 15">
            <a:extLst>
              <a:ext uri="{FF2B5EF4-FFF2-40B4-BE49-F238E27FC236}">
                <a16:creationId xmlns:a16="http://schemas.microsoft.com/office/drawing/2014/main" id="{5B4703B3-3FB2-2DE6-50F8-F35CDE2AC288}"/>
              </a:ext>
            </a:extLst>
          </p:cNvPr>
          <p:cNvGrpSpPr/>
          <p:nvPr/>
        </p:nvGrpSpPr>
        <p:grpSpPr>
          <a:xfrm>
            <a:off x="2925294" y="2814273"/>
            <a:ext cx="554084" cy="1084068"/>
            <a:chOff x="7316821" y="2657862"/>
            <a:chExt cx="939094" cy="1084068"/>
          </a:xfrm>
        </p:grpSpPr>
        <p:sp>
          <p:nvSpPr>
            <p:cNvPr id="5" name="Rectangle 4">
              <a:extLst>
                <a:ext uri="{FF2B5EF4-FFF2-40B4-BE49-F238E27FC236}">
                  <a16:creationId xmlns:a16="http://schemas.microsoft.com/office/drawing/2014/main" id="{9C200A21-90CC-50CD-525A-4A2EDE70FF36}"/>
                </a:ext>
              </a:extLst>
            </p:cNvPr>
            <p:cNvSpPr/>
            <p:nvPr/>
          </p:nvSpPr>
          <p:spPr>
            <a:xfrm rot="16200000">
              <a:off x="7231987" y="2742696"/>
              <a:ext cx="1084068" cy="914400"/>
            </a:xfrm>
            <a:prstGeom prst="rect">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C/T</a:t>
              </a:r>
            </a:p>
          </p:txBody>
        </p:sp>
        <p:sp>
          <p:nvSpPr>
            <p:cNvPr id="14" name="TextBox 13">
              <a:extLst>
                <a:ext uri="{FF2B5EF4-FFF2-40B4-BE49-F238E27FC236}">
                  <a16:creationId xmlns:a16="http://schemas.microsoft.com/office/drawing/2014/main" id="{2578AEC3-E47A-DDAF-A858-7671B1434BF1}"/>
                </a:ext>
              </a:extLst>
            </p:cNvPr>
            <p:cNvSpPr txBox="1"/>
            <p:nvPr/>
          </p:nvSpPr>
          <p:spPr>
            <a:xfrm rot="10800000" flipV="1">
              <a:off x="7492064" y="2946945"/>
              <a:ext cx="763851" cy="369332"/>
            </a:xfrm>
            <a:prstGeom prst="rect">
              <a:avLst/>
            </a:prstGeom>
            <a:noFill/>
          </p:spPr>
          <p:txBody>
            <a:bodyPr wrap="square" rtlCol="0">
              <a:spAutoFit/>
            </a:bodyPr>
            <a:lstStyle/>
            <a:p>
              <a:r>
                <a:rPr lang="en-US"/>
                <a:t>C/T</a:t>
              </a:r>
            </a:p>
          </p:txBody>
        </p:sp>
      </p:grpSp>
      <p:sp>
        <p:nvSpPr>
          <p:cNvPr id="15" name="Oval 14">
            <a:extLst>
              <a:ext uri="{FF2B5EF4-FFF2-40B4-BE49-F238E27FC236}">
                <a16:creationId xmlns:a16="http://schemas.microsoft.com/office/drawing/2014/main" id="{79628B69-A03D-3527-56F4-0AEB849B6326}"/>
              </a:ext>
            </a:extLst>
          </p:cNvPr>
          <p:cNvSpPr/>
          <p:nvPr/>
        </p:nvSpPr>
        <p:spPr>
          <a:xfrm>
            <a:off x="2427912" y="2724057"/>
            <a:ext cx="418656" cy="2621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a:t>
            </a:r>
          </a:p>
        </p:txBody>
      </p:sp>
      <p:sp>
        <p:nvSpPr>
          <p:cNvPr id="17" name="Rectangle 16">
            <a:extLst>
              <a:ext uri="{FF2B5EF4-FFF2-40B4-BE49-F238E27FC236}">
                <a16:creationId xmlns:a16="http://schemas.microsoft.com/office/drawing/2014/main" id="{3A351B35-BEC4-C18D-68A9-DBA5352C48B8}"/>
              </a:ext>
            </a:extLst>
          </p:cNvPr>
          <p:cNvSpPr/>
          <p:nvPr/>
        </p:nvSpPr>
        <p:spPr>
          <a:xfrm>
            <a:off x="7888887" y="2727613"/>
            <a:ext cx="103909" cy="1259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2F3ED3-6A15-AA87-199C-9CD8B20815F6}"/>
              </a:ext>
            </a:extLst>
          </p:cNvPr>
          <p:cNvSpPr/>
          <p:nvPr/>
        </p:nvSpPr>
        <p:spPr>
          <a:xfrm>
            <a:off x="3473297" y="2727612"/>
            <a:ext cx="103909" cy="1259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lide Number Placeholder 18">
            <a:extLst>
              <a:ext uri="{FF2B5EF4-FFF2-40B4-BE49-F238E27FC236}">
                <a16:creationId xmlns:a16="http://schemas.microsoft.com/office/drawing/2014/main" id="{F3A5E0DC-65D0-C19A-21F9-F3F20EBEAF81}"/>
              </a:ext>
            </a:extLst>
          </p:cNvPr>
          <p:cNvSpPr>
            <a:spLocks noGrp="1"/>
          </p:cNvSpPr>
          <p:nvPr>
            <p:ph type="sldNum" sz="quarter" idx="12"/>
          </p:nvPr>
        </p:nvSpPr>
        <p:spPr/>
        <p:txBody>
          <a:bodyPr/>
          <a:lstStyle/>
          <a:p>
            <a:fld id="{1466F282-3B2E-4770-B8F7-3A3BF1EE6D34}" type="slidenum">
              <a:rPr lang="en-US" smtClean="0"/>
              <a:t>15</a:t>
            </a:fld>
            <a:endParaRPr lang="en-US"/>
          </a:p>
        </p:txBody>
      </p:sp>
      <p:sp>
        <p:nvSpPr>
          <p:cNvPr id="20" name="TextBox 19">
            <a:extLst>
              <a:ext uri="{FF2B5EF4-FFF2-40B4-BE49-F238E27FC236}">
                <a16:creationId xmlns:a16="http://schemas.microsoft.com/office/drawing/2014/main" id="{FFDEC3F7-BB0B-3161-B1E3-C7E6B31792AA}"/>
              </a:ext>
            </a:extLst>
          </p:cNvPr>
          <p:cNvSpPr txBox="1"/>
          <p:nvPr/>
        </p:nvSpPr>
        <p:spPr>
          <a:xfrm>
            <a:off x="5221431" y="1194954"/>
            <a:ext cx="3338079" cy="646331"/>
          </a:xfrm>
          <a:prstGeom prst="rect">
            <a:avLst/>
          </a:prstGeom>
          <a:ln w="57150"/>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Layout depends on shelter space and room arrangement</a:t>
            </a:r>
          </a:p>
        </p:txBody>
      </p:sp>
      <p:sp>
        <p:nvSpPr>
          <p:cNvPr id="4" name="Oval 3">
            <a:extLst>
              <a:ext uri="{FF2B5EF4-FFF2-40B4-BE49-F238E27FC236}">
                <a16:creationId xmlns:a16="http://schemas.microsoft.com/office/drawing/2014/main" id="{29B1909E-6D3F-D098-8DB7-4F41CAD8F532}"/>
              </a:ext>
            </a:extLst>
          </p:cNvPr>
          <p:cNvSpPr/>
          <p:nvPr/>
        </p:nvSpPr>
        <p:spPr>
          <a:xfrm>
            <a:off x="8094785" y="3433920"/>
            <a:ext cx="418656" cy="2621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a:t>
            </a:r>
          </a:p>
        </p:txBody>
      </p:sp>
      <p:sp>
        <p:nvSpPr>
          <p:cNvPr id="21" name="Oval 20">
            <a:extLst>
              <a:ext uri="{FF2B5EF4-FFF2-40B4-BE49-F238E27FC236}">
                <a16:creationId xmlns:a16="http://schemas.microsoft.com/office/drawing/2014/main" id="{B05F67B2-732C-C1DF-F1B4-4C182A843237}"/>
              </a:ext>
            </a:extLst>
          </p:cNvPr>
          <p:cNvSpPr/>
          <p:nvPr/>
        </p:nvSpPr>
        <p:spPr>
          <a:xfrm>
            <a:off x="2006806" y="6405720"/>
            <a:ext cx="418656" cy="2621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a:t>
            </a:r>
          </a:p>
        </p:txBody>
      </p:sp>
      <p:cxnSp>
        <p:nvCxnSpPr>
          <p:cNvPr id="22" name="Straight Arrow Connector 21">
            <a:extLst>
              <a:ext uri="{FF2B5EF4-FFF2-40B4-BE49-F238E27FC236}">
                <a16:creationId xmlns:a16="http://schemas.microsoft.com/office/drawing/2014/main" id="{B0B2C2BC-8828-CD1C-A682-E05A7908A840}"/>
              </a:ext>
            </a:extLst>
          </p:cNvPr>
          <p:cNvCxnSpPr/>
          <p:nvPr/>
        </p:nvCxnSpPr>
        <p:spPr>
          <a:xfrm flipV="1">
            <a:off x="3829" y="2720913"/>
            <a:ext cx="9139213" cy="40469"/>
          </a:xfrm>
          <a:prstGeom prst="straightConnector1">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52735022-E47C-70A8-DD2F-A2B1715EAF11}"/>
              </a:ext>
            </a:extLst>
          </p:cNvPr>
          <p:cNvSpPr/>
          <p:nvPr/>
        </p:nvSpPr>
        <p:spPr>
          <a:xfrm>
            <a:off x="105816" y="2808277"/>
            <a:ext cx="418656" cy="2621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a:t>
            </a:r>
          </a:p>
        </p:txBody>
      </p:sp>
      <p:sp>
        <p:nvSpPr>
          <p:cNvPr id="24" name="TextBox 23">
            <a:extLst>
              <a:ext uri="{FF2B5EF4-FFF2-40B4-BE49-F238E27FC236}">
                <a16:creationId xmlns:a16="http://schemas.microsoft.com/office/drawing/2014/main" id="{E9D80DF0-61BF-36E8-2176-538E29D025BF}"/>
              </a:ext>
            </a:extLst>
          </p:cNvPr>
          <p:cNvSpPr txBox="1"/>
          <p:nvPr/>
        </p:nvSpPr>
        <p:spPr>
          <a:xfrm>
            <a:off x="7501689" y="2104159"/>
            <a:ext cx="9221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Wall</a:t>
            </a:r>
          </a:p>
        </p:txBody>
      </p:sp>
      <p:cxnSp>
        <p:nvCxnSpPr>
          <p:cNvPr id="26" name="Connector: Elbow 25">
            <a:extLst>
              <a:ext uri="{FF2B5EF4-FFF2-40B4-BE49-F238E27FC236}">
                <a16:creationId xmlns:a16="http://schemas.microsoft.com/office/drawing/2014/main" id="{45911A42-FC3A-CD3F-ED2A-C838C8E686F8}"/>
              </a:ext>
            </a:extLst>
          </p:cNvPr>
          <p:cNvCxnSpPr>
            <a:cxnSpLocks/>
          </p:cNvCxnSpPr>
          <p:nvPr/>
        </p:nvCxnSpPr>
        <p:spPr>
          <a:xfrm>
            <a:off x="7227560" y="2369262"/>
            <a:ext cx="415636" cy="24678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5A79953-9B3C-50D6-D68A-5CA8512C18F2}"/>
              </a:ext>
            </a:extLst>
          </p:cNvPr>
          <p:cNvCxnSpPr/>
          <p:nvPr/>
        </p:nvCxnSpPr>
        <p:spPr>
          <a:xfrm flipV="1">
            <a:off x="2151328" y="6004578"/>
            <a:ext cx="5700097" cy="26524"/>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7F91BFB3-F902-87CB-EB8B-32BE66EF90CA}"/>
              </a:ext>
            </a:extLst>
          </p:cNvPr>
          <p:cNvSpPr txBox="1"/>
          <p:nvPr/>
        </p:nvSpPr>
        <p:spPr>
          <a:xfrm>
            <a:off x="2117148" y="5715410"/>
            <a:ext cx="56890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About 30 feet</a:t>
            </a:r>
          </a:p>
        </p:txBody>
      </p:sp>
    </p:spTree>
    <p:extLst>
      <p:ext uri="{BB962C8B-B14F-4D97-AF65-F5344CB8AC3E}">
        <p14:creationId xmlns:p14="http://schemas.microsoft.com/office/powerpoint/2010/main" val="629950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8FB79-32EC-1FCD-B8DC-5822DB0928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9E350-7F6D-DD89-C08E-B7457E7AF485}"/>
              </a:ext>
            </a:extLst>
          </p:cNvPr>
          <p:cNvSpPr>
            <a:spLocks noGrp="1"/>
          </p:cNvSpPr>
          <p:nvPr>
            <p:ph type="title"/>
          </p:nvPr>
        </p:nvSpPr>
        <p:spPr/>
        <p:txBody>
          <a:bodyPr/>
          <a:lstStyle/>
          <a:p>
            <a:r>
              <a:rPr lang="en-US"/>
              <a:t>Event Set Up - Congregate &amp; Fixed Outreach Feeding</a:t>
            </a:r>
          </a:p>
        </p:txBody>
      </p:sp>
      <p:sp>
        <p:nvSpPr>
          <p:cNvPr id="3" name="Content Placeholder 2">
            <a:extLst>
              <a:ext uri="{FF2B5EF4-FFF2-40B4-BE49-F238E27FC236}">
                <a16:creationId xmlns:a16="http://schemas.microsoft.com/office/drawing/2014/main" id="{6DAB0C6C-4E86-7AF3-1168-16C3791683DE}"/>
              </a:ext>
            </a:extLst>
          </p:cNvPr>
          <p:cNvSpPr>
            <a:spLocks noGrp="1"/>
          </p:cNvSpPr>
          <p:nvPr>
            <p:ph idx="1"/>
          </p:nvPr>
        </p:nvSpPr>
        <p:spPr>
          <a:xfrm>
            <a:off x="596807" y="1713235"/>
            <a:ext cx="7886700" cy="4351338"/>
          </a:xfrm>
        </p:spPr>
        <p:txBody>
          <a:bodyPr vert="horz" lIns="91440" tIns="45720" rIns="91440" bIns="45720" rtlCol="0" anchor="t">
            <a:normAutofit/>
          </a:bodyPr>
          <a:lstStyle/>
          <a:p>
            <a:r>
              <a:rPr lang="en-US"/>
              <a:t>Dining Food &amp; Supply - Storage and Maintenance </a:t>
            </a:r>
          </a:p>
          <a:p>
            <a:endParaRPr lang="en-US"/>
          </a:p>
          <a:p>
            <a:pPr lvl="1"/>
            <a:endParaRPr lang="en-US"/>
          </a:p>
        </p:txBody>
      </p:sp>
      <p:sp>
        <p:nvSpPr>
          <p:cNvPr id="6" name="Rectangle 5">
            <a:extLst>
              <a:ext uri="{FF2B5EF4-FFF2-40B4-BE49-F238E27FC236}">
                <a16:creationId xmlns:a16="http://schemas.microsoft.com/office/drawing/2014/main" id="{874EEEAA-F7D5-DF93-9299-D3BC51FFD8FC}"/>
              </a:ext>
            </a:extLst>
          </p:cNvPr>
          <p:cNvSpPr/>
          <p:nvPr/>
        </p:nvSpPr>
        <p:spPr>
          <a:xfrm>
            <a:off x="3516807" y="2735322"/>
            <a:ext cx="4356656" cy="914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rPr>
              <a:t>Keep food off floor in sealed containers, wipe constantly.</a:t>
            </a:r>
          </a:p>
          <a:p>
            <a:pPr algn="ctr"/>
            <a:endParaRPr lang="en-US"/>
          </a:p>
        </p:txBody>
      </p:sp>
      <p:sp>
        <p:nvSpPr>
          <p:cNvPr id="7" name="Rectangle 6">
            <a:extLst>
              <a:ext uri="{FF2B5EF4-FFF2-40B4-BE49-F238E27FC236}">
                <a16:creationId xmlns:a16="http://schemas.microsoft.com/office/drawing/2014/main" id="{1B653F07-59FB-E824-3601-7873C3C28CD7}"/>
              </a:ext>
            </a:extLst>
          </p:cNvPr>
          <p:cNvSpPr/>
          <p:nvPr/>
        </p:nvSpPr>
        <p:spPr>
          <a:xfrm>
            <a:off x="2669785" y="4599983"/>
            <a:ext cx="1360794" cy="9144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chemeClr val="tx1"/>
              </a:solidFill>
            </a:endParaRPr>
          </a:p>
          <a:p>
            <a:pPr algn="ctr"/>
            <a:r>
              <a:rPr lang="en-US">
                <a:solidFill>
                  <a:schemeClr val="tx1"/>
                </a:solidFill>
              </a:rPr>
              <a:t>Keep reloading,</a:t>
            </a:r>
          </a:p>
          <a:p>
            <a:pPr algn="ctr"/>
            <a:r>
              <a:rPr lang="en-US">
                <a:solidFill>
                  <a:schemeClr val="tx1"/>
                </a:solidFill>
              </a:rPr>
              <a:t>clean area </a:t>
            </a:r>
          </a:p>
          <a:p>
            <a:pPr algn="ctr"/>
            <a:endParaRPr lang="en-US">
              <a:solidFill>
                <a:schemeClr val="tx1"/>
              </a:solidFill>
            </a:endParaRPr>
          </a:p>
        </p:txBody>
      </p:sp>
      <p:sp>
        <p:nvSpPr>
          <p:cNvPr id="8" name="Rectangle 7">
            <a:extLst>
              <a:ext uri="{FF2B5EF4-FFF2-40B4-BE49-F238E27FC236}">
                <a16:creationId xmlns:a16="http://schemas.microsoft.com/office/drawing/2014/main" id="{A6623AB3-4153-2B44-90F4-9A91AA7A311D}"/>
              </a:ext>
            </a:extLst>
          </p:cNvPr>
          <p:cNvSpPr/>
          <p:nvPr/>
        </p:nvSpPr>
        <p:spPr>
          <a:xfrm>
            <a:off x="4119188" y="4603904"/>
            <a:ext cx="3755077" cy="914400"/>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rPr>
              <a:t>Clean before and after meals</a:t>
            </a:r>
          </a:p>
          <a:p>
            <a:pPr algn="ctr"/>
            <a:endParaRPr lang="en-US"/>
          </a:p>
        </p:txBody>
      </p:sp>
      <p:sp>
        <p:nvSpPr>
          <p:cNvPr id="9" name="Rectangle 8">
            <a:extLst>
              <a:ext uri="{FF2B5EF4-FFF2-40B4-BE49-F238E27FC236}">
                <a16:creationId xmlns:a16="http://schemas.microsoft.com/office/drawing/2014/main" id="{FFAE5D3F-0E45-5D48-3454-7C9D733F39DA}"/>
              </a:ext>
            </a:extLst>
          </p:cNvPr>
          <p:cNvSpPr/>
          <p:nvPr/>
        </p:nvSpPr>
        <p:spPr>
          <a:xfrm rot="16200000">
            <a:off x="-594738" y="4159547"/>
            <a:ext cx="3600854" cy="10096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t>FeE</a:t>
            </a:r>
            <a:r>
              <a:rPr lang="en-US" sz="900" err="1"/>
              <a:t>Eatu</a:t>
            </a:r>
            <a:endParaRPr lang="en-US"/>
          </a:p>
        </p:txBody>
      </p:sp>
      <p:sp>
        <p:nvSpPr>
          <p:cNvPr id="10" name="Oval 9">
            <a:extLst>
              <a:ext uri="{FF2B5EF4-FFF2-40B4-BE49-F238E27FC236}">
                <a16:creationId xmlns:a16="http://schemas.microsoft.com/office/drawing/2014/main" id="{09309EB3-AFA7-3E21-B246-D8BC56D120CF}"/>
              </a:ext>
            </a:extLst>
          </p:cNvPr>
          <p:cNvSpPr/>
          <p:nvPr/>
        </p:nvSpPr>
        <p:spPr>
          <a:xfrm>
            <a:off x="1926809" y="4604426"/>
            <a:ext cx="734348" cy="1185387"/>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800" baseline="0" err="1">
                <a:solidFill>
                  <a:srgbClr val="000000"/>
                </a:solidFill>
                <a:latin typeface="Aptos"/>
                <a:ea typeface="Segoe UI"/>
                <a:cs typeface="Segoe UI"/>
              </a:rPr>
              <a:t>Fillup</a:t>
            </a:r>
            <a:r>
              <a:rPr lang="en-US" sz="1800">
                <a:solidFill>
                  <a:srgbClr val="000000"/>
                </a:solidFill>
                <a:latin typeface="Aptos"/>
                <a:ea typeface="Aptos"/>
                <a:cs typeface="Aptos"/>
              </a:rPr>
              <a:t>​</a:t>
            </a:r>
            <a:endParaRPr lang="en-US">
              <a:solidFill>
                <a:srgbClr val="000000"/>
              </a:solidFill>
            </a:endParaRPr>
          </a:p>
        </p:txBody>
      </p:sp>
      <p:sp>
        <p:nvSpPr>
          <p:cNvPr id="12" name="TextBox 11">
            <a:extLst>
              <a:ext uri="{FF2B5EF4-FFF2-40B4-BE49-F238E27FC236}">
                <a16:creationId xmlns:a16="http://schemas.microsoft.com/office/drawing/2014/main" id="{EBB6D8DE-8A16-2294-4B90-E2ED960063AA}"/>
              </a:ext>
            </a:extLst>
          </p:cNvPr>
          <p:cNvSpPr txBox="1"/>
          <p:nvPr/>
        </p:nvSpPr>
        <p:spPr>
          <a:xfrm>
            <a:off x="696589" y="2995071"/>
            <a:ext cx="1023638" cy="2031325"/>
          </a:xfrm>
          <a:prstGeom prst="rect">
            <a:avLst/>
          </a:prstGeom>
          <a:noFill/>
        </p:spPr>
        <p:txBody>
          <a:bodyPr wrap="square" lIns="91440" tIns="45720" rIns="91440" bIns="45720" rtlCol="0" anchor="t">
            <a:spAutoFit/>
          </a:bodyPr>
          <a:lstStyle/>
          <a:p>
            <a:r>
              <a:rPr lang="en-US"/>
              <a:t>Eating area, </a:t>
            </a:r>
          </a:p>
          <a:p>
            <a:r>
              <a:rPr lang="en-US"/>
              <a:t>wipe down </a:t>
            </a:r>
          </a:p>
          <a:p>
            <a:r>
              <a:rPr lang="en-US"/>
              <a:t>and trash cleared</a:t>
            </a:r>
          </a:p>
        </p:txBody>
      </p:sp>
      <p:sp>
        <p:nvSpPr>
          <p:cNvPr id="13" name="TextBox 12">
            <a:extLst>
              <a:ext uri="{FF2B5EF4-FFF2-40B4-BE49-F238E27FC236}">
                <a16:creationId xmlns:a16="http://schemas.microsoft.com/office/drawing/2014/main" id="{0065CDC6-812A-A86E-7E7D-403A0B7D7630}"/>
              </a:ext>
            </a:extLst>
          </p:cNvPr>
          <p:cNvSpPr txBox="1"/>
          <p:nvPr/>
        </p:nvSpPr>
        <p:spPr>
          <a:xfrm>
            <a:off x="2759626" y="6141220"/>
            <a:ext cx="4476564" cy="646331"/>
          </a:xfrm>
          <a:prstGeom prst="rect">
            <a:avLst/>
          </a:prstGeom>
          <a:noFill/>
        </p:spPr>
        <p:txBody>
          <a:bodyPr wrap="square" lIns="91440" tIns="45720" rIns="91440" bIns="45720" rtlCol="0" anchor="t">
            <a:spAutoFit/>
          </a:bodyPr>
          <a:lstStyle/>
          <a:p>
            <a:r>
              <a:rPr lang="en-US"/>
              <a:t>I- ice, T- trash, C/T – coffee/tea, S-snacks, FL - Feeding line</a:t>
            </a:r>
          </a:p>
        </p:txBody>
      </p:sp>
      <p:grpSp>
        <p:nvGrpSpPr>
          <p:cNvPr id="16" name="Group 15">
            <a:extLst>
              <a:ext uri="{FF2B5EF4-FFF2-40B4-BE49-F238E27FC236}">
                <a16:creationId xmlns:a16="http://schemas.microsoft.com/office/drawing/2014/main" id="{0386DC18-3521-3199-4AA1-EE080D3FA0B7}"/>
              </a:ext>
            </a:extLst>
          </p:cNvPr>
          <p:cNvGrpSpPr/>
          <p:nvPr/>
        </p:nvGrpSpPr>
        <p:grpSpPr>
          <a:xfrm>
            <a:off x="2535053" y="2730052"/>
            <a:ext cx="1040576" cy="1317902"/>
            <a:chOff x="7311590" y="2657862"/>
            <a:chExt cx="1040576" cy="1317902"/>
          </a:xfrm>
        </p:grpSpPr>
        <p:sp>
          <p:nvSpPr>
            <p:cNvPr id="5" name="Rectangle 4">
              <a:extLst>
                <a:ext uri="{FF2B5EF4-FFF2-40B4-BE49-F238E27FC236}">
                  <a16:creationId xmlns:a16="http://schemas.microsoft.com/office/drawing/2014/main" id="{F6522573-1E5A-F911-E34D-FA1DE0C684F4}"/>
                </a:ext>
              </a:extLst>
            </p:cNvPr>
            <p:cNvSpPr/>
            <p:nvPr/>
          </p:nvSpPr>
          <p:spPr>
            <a:xfrm rot="16200000">
              <a:off x="7231987" y="2742696"/>
              <a:ext cx="1084068" cy="914400"/>
            </a:xfrm>
            <a:prstGeom prst="rect">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C/T</a:t>
              </a:r>
            </a:p>
          </p:txBody>
        </p:sp>
        <p:sp>
          <p:nvSpPr>
            <p:cNvPr id="14" name="TextBox 13">
              <a:extLst>
                <a:ext uri="{FF2B5EF4-FFF2-40B4-BE49-F238E27FC236}">
                  <a16:creationId xmlns:a16="http://schemas.microsoft.com/office/drawing/2014/main" id="{3450A826-31C8-A769-0349-69144F22AD37}"/>
                </a:ext>
              </a:extLst>
            </p:cNvPr>
            <p:cNvSpPr txBox="1"/>
            <p:nvPr/>
          </p:nvSpPr>
          <p:spPr>
            <a:xfrm rot="10800000" flipV="1">
              <a:off x="7311590" y="2744658"/>
              <a:ext cx="1040576" cy="1231106"/>
            </a:xfrm>
            <a:prstGeom prst="rect">
              <a:avLst/>
            </a:prstGeom>
            <a:noFill/>
          </p:spPr>
          <p:txBody>
            <a:bodyPr wrap="square" lIns="91440" tIns="45720" rIns="91440" bIns="45720" rtlCol="0" anchor="t">
              <a:spAutoFit/>
            </a:bodyPr>
            <a:lstStyle/>
            <a:p>
              <a:r>
                <a:rPr lang="en-US" sz="1400"/>
                <a:t>Cleaning</a:t>
              </a:r>
              <a:endParaRPr lang="en-US"/>
            </a:p>
            <a:p>
              <a:r>
                <a:rPr lang="en-US" sz="1400"/>
                <a:t>coffee/tea pots, wipe constantly</a:t>
              </a:r>
              <a:endParaRPr lang="en-US"/>
            </a:p>
            <a:p>
              <a:endParaRPr lang="en-US"/>
            </a:p>
          </p:txBody>
        </p:sp>
      </p:grpSp>
      <p:sp>
        <p:nvSpPr>
          <p:cNvPr id="17" name="Rectangle 16">
            <a:extLst>
              <a:ext uri="{FF2B5EF4-FFF2-40B4-BE49-F238E27FC236}">
                <a16:creationId xmlns:a16="http://schemas.microsoft.com/office/drawing/2014/main" id="{A63480CA-6733-19CD-5494-3908ABA7E725}"/>
              </a:ext>
            </a:extLst>
          </p:cNvPr>
          <p:cNvSpPr/>
          <p:nvPr/>
        </p:nvSpPr>
        <p:spPr>
          <a:xfrm>
            <a:off x="7888887" y="2727613"/>
            <a:ext cx="103909" cy="1259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3A199D-DE41-3A41-8A5E-48AC955BC655}"/>
              </a:ext>
            </a:extLst>
          </p:cNvPr>
          <p:cNvSpPr/>
          <p:nvPr/>
        </p:nvSpPr>
        <p:spPr>
          <a:xfrm>
            <a:off x="3473297" y="2727612"/>
            <a:ext cx="103909" cy="1259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lide Number Placeholder 18">
            <a:extLst>
              <a:ext uri="{FF2B5EF4-FFF2-40B4-BE49-F238E27FC236}">
                <a16:creationId xmlns:a16="http://schemas.microsoft.com/office/drawing/2014/main" id="{0C7C1743-DCD9-F6BB-C4B0-009B3B6F495C}"/>
              </a:ext>
            </a:extLst>
          </p:cNvPr>
          <p:cNvSpPr>
            <a:spLocks noGrp="1"/>
          </p:cNvSpPr>
          <p:nvPr>
            <p:ph type="sldNum" sz="quarter" idx="12"/>
          </p:nvPr>
        </p:nvSpPr>
        <p:spPr/>
        <p:txBody>
          <a:bodyPr/>
          <a:lstStyle/>
          <a:p>
            <a:fld id="{1466F282-3B2E-4770-B8F7-3A3BF1EE6D34}" type="slidenum">
              <a:rPr lang="en-US" smtClean="0"/>
              <a:t>16</a:t>
            </a:fld>
            <a:endParaRPr lang="en-US"/>
          </a:p>
        </p:txBody>
      </p:sp>
    </p:spTree>
    <p:extLst>
      <p:ext uri="{BB962C8B-B14F-4D97-AF65-F5344CB8AC3E}">
        <p14:creationId xmlns:p14="http://schemas.microsoft.com/office/powerpoint/2010/main" val="1891136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76054-4F05-4C86-3D25-D81FBCD8DB21}"/>
              </a:ext>
            </a:extLst>
          </p:cNvPr>
          <p:cNvSpPr>
            <a:spLocks noGrp="1"/>
          </p:cNvSpPr>
          <p:nvPr>
            <p:ph type="title"/>
          </p:nvPr>
        </p:nvSpPr>
        <p:spPr>
          <a:xfrm>
            <a:off x="629840" y="457200"/>
            <a:ext cx="7477839" cy="1600200"/>
          </a:xfrm>
        </p:spPr>
        <p:txBody>
          <a:bodyPr>
            <a:normAutofit/>
          </a:bodyPr>
          <a:lstStyle/>
          <a:p>
            <a:pPr algn="ctr"/>
            <a:r>
              <a:rPr lang="en-US" sz="4400" b="1" u="sng"/>
              <a:t>DINING HOURS</a:t>
            </a:r>
          </a:p>
        </p:txBody>
      </p:sp>
      <p:sp>
        <p:nvSpPr>
          <p:cNvPr id="4" name="Text Placeholder 3">
            <a:extLst>
              <a:ext uri="{FF2B5EF4-FFF2-40B4-BE49-F238E27FC236}">
                <a16:creationId xmlns:a16="http://schemas.microsoft.com/office/drawing/2014/main" id="{0F8EE8C6-830D-30EB-FAFF-CC26B2F1ED16}"/>
              </a:ext>
            </a:extLst>
          </p:cNvPr>
          <p:cNvSpPr>
            <a:spLocks noGrp="1"/>
          </p:cNvSpPr>
          <p:nvPr>
            <p:ph type="body" sz="half" idx="2"/>
          </p:nvPr>
        </p:nvSpPr>
        <p:spPr>
          <a:xfrm>
            <a:off x="629841" y="2057400"/>
            <a:ext cx="7098532" cy="3811588"/>
          </a:xfrm>
        </p:spPr>
        <p:txBody>
          <a:bodyPr>
            <a:normAutofit fontScale="92500" lnSpcReduction="20000"/>
          </a:bodyPr>
          <a:lstStyle/>
          <a:p>
            <a:endParaRPr lang="en-US"/>
          </a:p>
          <a:p>
            <a:pPr algn="ctr"/>
            <a:r>
              <a:rPr lang="en-US" sz="2800" b="1"/>
              <a:t>7AM – 9AM – BREAKFAST</a:t>
            </a:r>
          </a:p>
          <a:p>
            <a:pPr algn="ctr"/>
            <a:r>
              <a:rPr lang="en-US" sz="2800" b="1"/>
              <a:t>12PM – 2PM LUNCH</a:t>
            </a:r>
          </a:p>
          <a:p>
            <a:pPr algn="ctr"/>
            <a:r>
              <a:rPr lang="en-US" sz="2800" b="1"/>
              <a:t>5PM – 7PM DINNER </a:t>
            </a:r>
          </a:p>
          <a:p>
            <a:pPr algn="ctr"/>
            <a:endParaRPr lang="en-US" sz="2800" b="1"/>
          </a:p>
          <a:p>
            <a:pPr algn="ctr"/>
            <a:r>
              <a:rPr lang="en-US" sz="2800" b="1"/>
              <a:t>WATER, COFFEE, TEA AND SNACKS AVAILABLE </a:t>
            </a:r>
          </a:p>
          <a:p>
            <a:pPr algn="ctr"/>
            <a:endParaRPr lang="en-US" sz="2800" b="1"/>
          </a:p>
          <a:p>
            <a:r>
              <a:rPr lang="en-US" sz="2800" b="1" i="1"/>
              <a:t>Please clean your area and no food in the sleeping area. </a:t>
            </a:r>
          </a:p>
        </p:txBody>
      </p:sp>
      <p:sp>
        <p:nvSpPr>
          <p:cNvPr id="3" name="Slide Number Placeholder 2">
            <a:extLst>
              <a:ext uri="{FF2B5EF4-FFF2-40B4-BE49-F238E27FC236}">
                <a16:creationId xmlns:a16="http://schemas.microsoft.com/office/drawing/2014/main" id="{0F296EBC-9041-143D-CD9D-7B50F87C5F20}"/>
              </a:ext>
            </a:extLst>
          </p:cNvPr>
          <p:cNvSpPr>
            <a:spLocks noGrp="1"/>
          </p:cNvSpPr>
          <p:nvPr>
            <p:ph type="sldNum" sz="quarter" idx="12"/>
          </p:nvPr>
        </p:nvSpPr>
        <p:spPr/>
        <p:txBody>
          <a:bodyPr/>
          <a:lstStyle/>
          <a:p>
            <a:fld id="{1466F282-3B2E-4770-B8F7-3A3BF1EE6D34}" type="slidenum">
              <a:rPr lang="en-US" smtClean="0"/>
              <a:t>17</a:t>
            </a:fld>
            <a:endParaRPr lang="en-US"/>
          </a:p>
        </p:txBody>
      </p:sp>
    </p:spTree>
    <p:extLst>
      <p:ext uri="{BB962C8B-B14F-4D97-AF65-F5344CB8AC3E}">
        <p14:creationId xmlns:p14="http://schemas.microsoft.com/office/powerpoint/2010/main" val="2306819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FE8D6-6A3D-9A6F-F714-1AFEA3F4C8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1EBD9D-455D-0F08-1126-B8F454FDE39F}"/>
              </a:ext>
            </a:extLst>
          </p:cNvPr>
          <p:cNvSpPr>
            <a:spLocks noGrp="1"/>
          </p:cNvSpPr>
          <p:nvPr>
            <p:ph type="title"/>
          </p:nvPr>
        </p:nvSpPr>
        <p:spPr/>
        <p:txBody>
          <a:bodyPr/>
          <a:lstStyle/>
          <a:p>
            <a:r>
              <a:rPr lang="en-US"/>
              <a:t>Event Set Up - Mobile &amp; Canteen Feeding</a:t>
            </a:r>
          </a:p>
        </p:txBody>
      </p:sp>
      <p:sp>
        <p:nvSpPr>
          <p:cNvPr id="7" name="Content Placeholder 6">
            <a:extLst>
              <a:ext uri="{FF2B5EF4-FFF2-40B4-BE49-F238E27FC236}">
                <a16:creationId xmlns:a16="http://schemas.microsoft.com/office/drawing/2014/main" id="{8A4CD9D0-3DFA-5EF4-8385-5B9C7341E9C4}"/>
              </a:ext>
            </a:extLst>
          </p:cNvPr>
          <p:cNvSpPr>
            <a:spLocks noGrp="1"/>
          </p:cNvSpPr>
          <p:nvPr>
            <p:ph idx="1"/>
          </p:nvPr>
        </p:nvSpPr>
        <p:spPr/>
        <p:txBody>
          <a:bodyPr vert="horz" lIns="91440" tIns="45720" rIns="91440" bIns="45720" rtlCol="0" anchor="t">
            <a:normAutofit fontScale="77500" lnSpcReduction="20000"/>
          </a:bodyPr>
          <a:lstStyle/>
          <a:p>
            <a:r>
              <a:rPr lang="en-US"/>
              <a:t>Mobile feeding on the ERV</a:t>
            </a:r>
          </a:p>
          <a:p>
            <a:pPr lvl="1">
              <a:buFont typeface="Courier New" panose="020B0604020202020204" pitchFamily="34" charset="0"/>
              <a:buChar char="o"/>
            </a:pPr>
            <a:r>
              <a:rPr lang="en-US" err="1"/>
              <a:t>Cambros</a:t>
            </a:r>
            <a:r>
              <a:rPr lang="en-US"/>
              <a:t> "tempered" and used to maintain food at safe temperature for extended periods</a:t>
            </a:r>
          </a:p>
          <a:p>
            <a:pPr lvl="2">
              <a:buFont typeface="Wingdings" panose="020B0604020202020204" pitchFamily="34" charset="0"/>
              <a:buChar char="§"/>
            </a:pPr>
            <a:r>
              <a:rPr lang="en-US"/>
              <a:t>Food safety "Rule of 4's": Danger zone 40 – 140, 4 hours max</a:t>
            </a:r>
          </a:p>
          <a:p>
            <a:pPr lvl="1">
              <a:buFont typeface="Courier New" panose="020B0604020202020204" pitchFamily="34" charset="0"/>
              <a:buChar char="o"/>
            </a:pPr>
            <a:r>
              <a:rPr lang="en-US"/>
              <a:t>Verify food temps upon receipt and monitor regularly</a:t>
            </a:r>
          </a:p>
          <a:p>
            <a:r>
              <a:rPr lang="en-US"/>
              <a:t>Park Vehicle: ALWAYS HAVE A SPOTTER!</a:t>
            </a:r>
          </a:p>
          <a:p>
            <a:pPr lvl="1">
              <a:buFont typeface="Courier New" panose="020B0604020202020204" pitchFamily="34" charset="0"/>
              <a:buChar char="o"/>
            </a:pPr>
            <a:r>
              <a:rPr lang="en-US"/>
              <a:t>Face serving window away from traffic, avoid trip hazards. Use wheel chocks. Do not idle vehicle.</a:t>
            </a:r>
          </a:p>
          <a:p>
            <a:pPr lvl="1">
              <a:buFont typeface="Courier New" panose="020B0604020202020204" pitchFamily="34" charset="0"/>
              <a:buChar char="o"/>
            </a:pPr>
            <a:r>
              <a:rPr lang="en-US"/>
              <a:t>Keep vehicle doors closed during serving</a:t>
            </a:r>
          </a:p>
          <a:p>
            <a:r>
              <a:rPr lang="en-US"/>
              <a:t>Use food prep shelf &amp; open </a:t>
            </a:r>
            <a:r>
              <a:rPr lang="en-US" err="1"/>
              <a:t>cambro</a:t>
            </a:r>
            <a:r>
              <a:rPr lang="en-US"/>
              <a:t> small side</a:t>
            </a:r>
          </a:p>
          <a:p>
            <a:pPr lvl="1">
              <a:buFont typeface="Courier New" panose="020B0604020202020204" pitchFamily="34" charset="0"/>
              <a:buChar char="o"/>
            </a:pPr>
            <a:r>
              <a:rPr lang="en-US"/>
              <a:t>Wear hat/hair net, wash hands/use sanitizer &amp; wear gloves</a:t>
            </a:r>
          </a:p>
          <a:p>
            <a:pPr lvl="1">
              <a:buFont typeface="Courier New" panose="020B0604020202020204" pitchFamily="34" charset="0"/>
              <a:buChar char="o"/>
            </a:pPr>
            <a:r>
              <a:rPr lang="en-US"/>
              <a:t>Do not pre-scoop food as temp will change quickly</a:t>
            </a:r>
          </a:p>
          <a:p>
            <a:r>
              <a:rPr lang="en-US"/>
              <a:t>Clean immediately afterwards</a:t>
            </a:r>
          </a:p>
          <a:p>
            <a:pPr lvl="1">
              <a:buFont typeface="Courier New" panose="020B0604020202020204" pitchFamily="34" charset="0"/>
              <a:buChar char="o"/>
            </a:pPr>
            <a:r>
              <a:rPr lang="en-US" err="1"/>
              <a:t>Cambros</a:t>
            </a:r>
            <a:r>
              <a:rPr lang="en-US"/>
              <a:t>, utensils, and vehicle must be kept properly clean</a:t>
            </a:r>
          </a:p>
          <a:p>
            <a:pPr lvl="1">
              <a:buFont typeface="Courier New" panose="020B0604020202020204" pitchFamily="34" charset="0"/>
              <a:buChar char="o"/>
            </a:pPr>
            <a:r>
              <a:rPr lang="en-US"/>
              <a:t>No food storage on the ERV. Trash must be immediately removed.</a:t>
            </a:r>
          </a:p>
        </p:txBody>
      </p:sp>
      <p:sp>
        <p:nvSpPr>
          <p:cNvPr id="3" name="Slide Number Placeholder 2">
            <a:extLst>
              <a:ext uri="{FF2B5EF4-FFF2-40B4-BE49-F238E27FC236}">
                <a16:creationId xmlns:a16="http://schemas.microsoft.com/office/drawing/2014/main" id="{3E1675E0-B00D-9254-FE73-DEDE8B12055D}"/>
              </a:ext>
            </a:extLst>
          </p:cNvPr>
          <p:cNvSpPr>
            <a:spLocks noGrp="1"/>
          </p:cNvSpPr>
          <p:nvPr>
            <p:ph type="sldNum" sz="quarter" idx="12"/>
          </p:nvPr>
        </p:nvSpPr>
        <p:spPr/>
        <p:txBody>
          <a:bodyPr/>
          <a:lstStyle/>
          <a:p>
            <a:fld id="{1466F282-3B2E-4770-B8F7-3A3BF1EE6D34}" type="slidenum">
              <a:rPr lang="en-US" smtClean="0"/>
              <a:t>18</a:t>
            </a:fld>
            <a:endParaRPr lang="en-US"/>
          </a:p>
        </p:txBody>
      </p:sp>
    </p:spTree>
    <p:extLst>
      <p:ext uri="{BB962C8B-B14F-4D97-AF65-F5344CB8AC3E}">
        <p14:creationId xmlns:p14="http://schemas.microsoft.com/office/powerpoint/2010/main" val="3551594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A6027-0170-6562-130F-402AD3A6FE3D}"/>
              </a:ext>
            </a:extLst>
          </p:cNvPr>
          <p:cNvSpPr>
            <a:spLocks noGrp="1"/>
          </p:cNvSpPr>
          <p:nvPr>
            <p:ph type="title"/>
          </p:nvPr>
        </p:nvSpPr>
        <p:spPr/>
        <p:txBody>
          <a:bodyPr/>
          <a:lstStyle/>
          <a:p>
            <a:r>
              <a:rPr lang="en-US"/>
              <a:t>Mass Casualty Incident Feeding </a:t>
            </a:r>
          </a:p>
        </p:txBody>
      </p:sp>
      <p:sp>
        <p:nvSpPr>
          <p:cNvPr id="3" name="Content Placeholder 2">
            <a:extLst>
              <a:ext uri="{FF2B5EF4-FFF2-40B4-BE49-F238E27FC236}">
                <a16:creationId xmlns:a16="http://schemas.microsoft.com/office/drawing/2014/main" id="{DC78BA57-C46C-4B68-8661-334A1BB65F40}"/>
              </a:ext>
            </a:extLst>
          </p:cNvPr>
          <p:cNvSpPr>
            <a:spLocks noGrp="1"/>
          </p:cNvSpPr>
          <p:nvPr>
            <p:ph idx="1"/>
          </p:nvPr>
        </p:nvSpPr>
        <p:spPr/>
        <p:txBody>
          <a:bodyPr vert="horz" lIns="91440" tIns="45720" rIns="91440" bIns="45720" rtlCol="0" anchor="t">
            <a:normAutofit fontScale="92500" lnSpcReduction="20000"/>
          </a:bodyPr>
          <a:lstStyle/>
          <a:p>
            <a:r>
              <a:rPr lang="en-US"/>
              <a:t>Feeding during mass casualty incident responses generally occurs in two forms:</a:t>
            </a:r>
          </a:p>
          <a:p>
            <a:pPr lvl="1"/>
            <a:r>
              <a:rPr lang="en-US" err="1"/>
              <a:t>Canteening</a:t>
            </a:r>
            <a:r>
              <a:rPr lang="en-US"/>
              <a:t> or Mobile Feeding for families and/or responders;</a:t>
            </a:r>
          </a:p>
          <a:p>
            <a:pPr lvl="1"/>
            <a:r>
              <a:rPr lang="en-US"/>
              <a:t>Congregate feeding at </a:t>
            </a:r>
          </a:p>
          <a:p>
            <a:pPr lvl="2"/>
            <a:r>
              <a:rPr lang="en-US"/>
              <a:t>Family Reception Centers or </a:t>
            </a:r>
          </a:p>
          <a:p>
            <a:pPr lvl="2"/>
            <a:r>
              <a:rPr lang="en-US"/>
              <a:t>Family Assistance Centers. </a:t>
            </a:r>
          </a:p>
          <a:p>
            <a:r>
              <a:rPr lang="en-US"/>
              <a:t>Feed disaster survivors and emergency workers at separate sites.</a:t>
            </a:r>
          </a:p>
          <a:p>
            <a:pPr lvl="1"/>
            <a:r>
              <a:rPr lang="en-US"/>
              <a:t>Morgue, disaster recovery, a reconstruction site, or a disaster command post may also require feeding sites. </a:t>
            </a:r>
          </a:p>
          <a:p>
            <a:r>
              <a:rPr lang="en-US"/>
              <a:t>Provide feeding on a 24-hour basis.</a:t>
            </a:r>
          </a:p>
          <a:p>
            <a:r>
              <a:rPr lang="en-US"/>
              <a:t>Provide food that is easy to serve.</a:t>
            </a:r>
          </a:p>
        </p:txBody>
      </p:sp>
      <p:sp>
        <p:nvSpPr>
          <p:cNvPr id="4" name="Slide Number Placeholder 3">
            <a:extLst>
              <a:ext uri="{FF2B5EF4-FFF2-40B4-BE49-F238E27FC236}">
                <a16:creationId xmlns:a16="http://schemas.microsoft.com/office/drawing/2014/main" id="{0594FB74-8F89-3952-BF60-3311D1E81144}"/>
              </a:ext>
            </a:extLst>
          </p:cNvPr>
          <p:cNvSpPr>
            <a:spLocks noGrp="1"/>
          </p:cNvSpPr>
          <p:nvPr>
            <p:ph type="sldNum" sz="quarter" idx="12"/>
          </p:nvPr>
        </p:nvSpPr>
        <p:spPr/>
        <p:txBody>
          <a:bodyPr/>
          <a:lstStyle/>
          <a:p>
            <a:fld id="{1466F282-3B2E-4770-B8F7-3A3BF1EE6D34}" type="slidenum">
              <a:rPr lang="en-US" smtClean="0"/>
              <a:t>19</a:t>
            </a:fld>
            <a:endParaRPr lang="en-US"/>
          </a:p>
        </p:txBody>
      </p:sp>
    </p:spTree>
    <p:extLst>
      <p:ext uri="{BB962C8B-B14F-4D97-AF65-F5344CB8AC3E}">
        <p14:creationId xmlns:p14="http://schemas.microsoft.com/office/powerpoint/2010/main" val="3420477004"/>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504A0-BCB4-8E6E-7B08-32AC791D4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EED7C-9B7F-8732-8D2D-88CF1E10C76A}"/>
              </a:ext>
            </a:extLst>
          </p:cNvPr>
          <p:cNvSpPr>
            <a:spLocks noGrp="1"/>
          </p:cNvSpPr>
          <p:nvPr>
            <p:ph type="title"/>
          </p:nvPr>
        </p:nvSpPr>
        <p:spPr/>
        <p:txBody>
          <a:bodyPr/>
          <a:lstStyle/>
          <a:p>
            <a:r>
              <a:rPr lang="en-US"/>
              <a:t>Mass Casualty Incident Feeding </a:t>
            </a:r>
          </a:p>
        </p:txBody>
      </p:sp>
      <p:sp>
        <p:nvSpPr>
          <p:cNvPr id="3" name="Content Placeholder 2">
            <a:extLst>
              <a:ext uri="{FF2B5EF4-FFF2-40B4-BE49-F238E27FC236}">
                <a16:creationId xmlns:a16="http://schemas.microsoft.com/office/drawing/2014/main" id="{51F4EAF6-C403-8739-6584-E7E252839C26}"/>
              </a:ext>
            </a:extLst>
          </p:cNvPr>
          <p:cNvSpPr>
            <a:spLocks noGrp="1"/>
          </p:cNvSpPr>
          <p:nvPr>
            <p:ph idx="1"/>
          </p:nvPr>
        </p:nvSpPr>
        <p:spPr/>
        <p:txBody>
          <a:bodyPr vert="horz" lIns="91440" tIns="45720" rIns="91440" bIns="45720" rtlCol="0" anchor="t">
            <a:normAutofit/>
          </a:bodyPr>
          <a:lstStyle/>
          <a:p>
            <a:r>
              <a:rPr lang="en-US"/>
              <a:t>Menus and meals should not include the following items: barbeque, spaghetti, rice, tomato sauce, or chicken on the bone. </a:t>
            </a:r>
          </a:p>
          <a:p>
            <a:r>
              <a:rPr lang="en-US"/>
              <a:t>Staff and volunteers should take care of each other to better cope with the stresses of this type of incident. Use the resources provided by:</a:t>
            </a:r>
          </a:p>
          <a:p>
            <a:pPr lvl="1">
              <a:buFont typeface="Courier New" panose="020B0604020202020204" pitchFamily="34" charset="0"/>
              <a:buChar char="o"/>
            </a:pPr>
            <a:r>
              <a:rPr lang="en-US"/>
              <a:t>Staff Services</a:t>
            </a:r>
          </a:p>
          <a:p>
            <a:pPr lvl="1">
              <a:buFont typeface="Courier New" panose="020B0604020202020204" pitchFamily="34" charset="0"/>
              <a:buChar char="o"/>
            </a:pPr>
            <a:r>
              <a:rPr lang="en-US"/>
              <a:t>Disaster Mental Health</a:t>
            </a:r>
          </a:p>
          <a:p>
            <a:pPr lvl="1">
              <a:buFont typeface="Courier New" panose="020B0604020202020204" pitchFamily="34" charset="0"/>
              <a:buChar char="o"/>
            </a:pPr>
            <a:r>
              <a:rPr lang="en-US"/>
              <a:t>Disaster Spiritual Care</a:t>
            </a:r>
          </a:p>
        </p:txBody>
      </p:sp>
      <p:sp>
        <p:nvSpPr>
          <p:cNvPr id="4" name="Slide Number Placeholder 3">
            <a:extLst>
              <a:ext uri="{FF2B5EF4-FFF2-40B4-BE49-F238E27FC236}">
                <a16:creationId xmlns:a16="http://schemas.microsoft.com/office/drawing/2014/main" id="{F4FF9014-04F3-E0CD-CF3A-6C1AE8BBB903}"/>
              </a:ext>
            </a:extLst>
          </p:cNvPr>
          <p:cNvSpPr>
            <a:spLocks noGrp="1"/>
          </p:cNvSpPr>
          <p:nvPr>
            <p:ph type="sldNum" sz="quarter" idx="12"/>
          </p:nvPr>
        </p:nvSpPr>
        <p:spPr/>
        <p:txBody>
          <a:bodyPr/>
          <a:lstStyle/>
          <a:p>
            <a:fld id="{1466F282-3B2E-4770-B8F7-3A3BF1EE6D34}" type="slidenum">
              <a:rPr lang="en-US" smtClean="0"/>
              <a:t>20</a:t>
            </a:fld>
            <a:endParaRPr lang="en-US"/>
          </a:p>
        </p:txBody>
      </p:sp>
    </p:spTree>
    <p:extLst>
      <p:ext uri="{BB962C8B-B14F-4D97-AF65-F5344CB8AC3E}">
        <p14:creationId xmlns:p14="http://schemas.microsoft.com/office/powerpoint/2010/main" val="2430999360"/>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792C4-6D23-3808-3642-9A598A0C4045}"/>
              </a:ext>
            </a:extLst>
          </p:cNvPr>
          <p:cNvSpPr>
            <a:spLocks noGrp="1"/>
          </p:cNvSpPr>
          <p:nvPr>
            <p:ph type="title"/>
          </p:nvPr>
        </p:nvSpPr>
        <p:spPr/>
        <p:txBody>
          <a:bodyPr>
            <a:normAutofit/>
          </a:bodyPr>
          <a:lstStyle/>
          <a:p>
            <a:r>
              <a:rPr lang="en-US"/>
              <a:t>Congregate &amp; Fixed Outreach Feeding Process</a:t>
            </a:r>
          </a:p>
        </p:txBody>
      </p:sp>
      <p:sp>
        <p:nvSpPr>
          <p:cNvPr id="3" name="Content Placeholder 2">
            <a:extLst>
              <a:ext uri="{FF2B5EF4-FFF2-40B4-BE49-F238E27FC236}">
                <a16:creationId xmlns:a16="http://schemas.microsoft.com/office/drawing/2014/main" id="{443ABEB9-17F3-EB00-4A02-854540CAF1D8}"/>
              </a:ext>
            </a:extLst>
          </p:cNvPr>
          <p:cNvSpPr>
            <a:spLocks noGrp="1"/>
          </p:cNvSpPr>
          <p:nvPr>
            <p:ph idx="1"/>
          </p:nvPr>
        </p:nvSpPr>
        <p:spPr/>
        <p:txBody>
          <a:bodyPr vert="horz" lIns="91440" tIns="45720" rIns="91440" bIns="45720" rtlCol="0" anchor="t">
            <a:normAutofit fontScale="77500" lnSpcReduction="20000"/>
          </a:bodyPr>
          <a:lstStyle/>
          <a:p>
            <a:r>
              <a:rPr lang="en-US"/>
              <a:t>Maintain ice in the drink cooler, monitor  </a:t>
            </a:r>
          </a:p>
          <a:p>
            <a:r>
              <a:rPr lang="en-US"/>
              <a:t>Set aside food allergy &amp; restriction meals by bunk number</a:t>
            </a:r>
          </a:p>
          <a:p>
            <a:r>
              <a:rPr lang="en-US"/>
              <a:t>Set up food line arrangement – plates to drinks. Set food on the serving line (entries, sides, breads, fruit, deserts, &amp; drinks)</a:t>
            </a:r>
          </a:p>
          <a:p>
            <a:r>
              <a:rPr lang="en-US"/>
              <a:t>Check food temperatures every 30 minutes; mark labels</a:t>
            </a:r>
          </a:p>
          <a:p>
            <a:r>
              <a:rPr lang="en-US"/>
              <a:t>Establish waiting queue, help as needed (have extra volunteer)</a:t>
            </a:r>
          </a:p>
          <a:p>
            <a:r>
              <a:rPr lang="en-US"/>
              <a:t>Volunteers serve the food, keeping in mind portions</a:t>
            </a:r>
          </a:p>
          <a:p>
            <a:r>
              <a:rPr lang="en-US"/>
              <a:t>Ensure Food safety – hair nets, gloves, and clean utensils </a:t>
            </a:r>
          </a:p>
          <a:p>
            <a:r>
              <a:rPr lang="en-US"/>
              <a:t>Follow Food storage and maintenance standards </a:t>
            </a:r>
          </a:p>
          <a:p>
            <a:r>
              <a:rPr lang="en-US"/>
              <a:t>Cleanup (containers, utensils, serving line tables, dining area tables, sweep &amp; mop floors unless covered)</a:t>
            </a:r>
          </a:p>
        </p:txBody>
      </p:sp>
      <p:sp>
        <p:nvSpPr>
          <p:cNvPr id="4" name="Slide Number Placeholder 3">
            <a:extLst>
              <a:ext uri="{FF2B5EF4-FFF2-40B4-BE49-F238E27FC236}">
                <a16:creationId xmlns:a16="http://schemas.microsoft.com/office/drawing/2014/main" id="{AA8651F7-020F-F708-CD20-58450769F1CE}"/>
              </a:ext>
            </a:extLst>
          </p:cNvPr>
          <p:cNvSpPr>
            <a:spLocks noGrp="1"/>
          </p:cNvSpPr>
          <p:nvPr>
            <p:ph type="sldNum" sz="quarter" idx="12"/>
          </p:nvPr>
        </p:nvSpPr>
        <p:spPr/>
        <p:txBody>
          <a:bodyPr/>
          <a:lstStyle/>
          <a:p>
            <a:fld id="{1466F282-3B2E-4770-B8F7-3A3BF1EE6D34}" type="slidenum">
              <a:rPr lang="en-US" smtClean="0"/>
              <a:t>21</a:t>
            </a:fld>
            <a:endParaRPr lang="en-US"/>
          </a:p>
        </p:txBody>
      </p:sp>
    </p:spTree>
    <p:extLst>
      <p:ext uri="{BB962C8B-B14F-4D97-AF65-F5344CB8AC3E}">
        <p14:creationId xmlns:p14="http://schemas.microsoft.com/office/powerpoint/2010/main" val="4063708125"/>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5ACB9-1155-2F56-EC9C-612162E8CEFA}"/>
              </a:ext>
            </a:extLst>
          </p:cNvPr>
          <p:cNvSpPr>
            <a:spLocks noGrp="1"/>
          </p:cNvSpPr>
          <p:nvPr>
            <p:ph type="title"/>
          </p:nvPr>
        </p:nvSpPr>
        <p:spPr/>
        <p:txBody>
          <a:bodyPr>
            <a:normAutofit/>
          </a:bodyPr>
          <a:lstStyle/>
          <a:p>
            <a:r>
              <a:rPr lang="en-US"/>
              <a:t>Mobile &amp; Canteen Feeding Process</a:t>
            </a:r>
          </a:p>
        </p:txBody>
      </p:sp>
      <p:sp>
        <p:nvSpPr>
          <p:cNvPr id="3" name="Content Placeholder 2">
            <a:extLst>
              <a:ext uri="{FF2B5EF4-FFF2-40B4-BE49-F238E27FC236}">
                <a16:creationId xmlns:a16="http://schemas.microsoft.com/office/drawing/2014/main" id="{045E8188-638A-BD02-24BA-9BC355D64D25}"/>
              </a:ext>
            </a:extLst>
          </p:cNvPr>
          <p:cNvSpPr>
            <a:spLocks noGrp="1"/>
          </p:cNvSpPr>
          <p:nvPr>
            <p:ph idx="1"/>
          </p:nvPr>
        </p:nvSpPr>
        <p:spPr/>
        <p:txBody>
          <a:bodyPr vert="horz" lIns="91440" tIns="45720" rIns="91440" bIns="45720" rtlCol="0" anchor="t">
            <a:normAutofit fontScale="62500" lnSpcReduction="20000"/>
          </a:bodyPr>
          <a:lstStyle/>
          <a:p>
            <a:r>
              <a:rPr lang="en-US"/>
              <a:t>Obtain food and beverages, along with clamshells and banquet packs</a:t>
            </a:r>
          </a:p>
          <a:p>
            <a:r>
              <a:rPr lang="en-US"/>
              <a:t>Park vehicle with vehicle safety and client safety during food service in mind</a:t>
            </a:r>
          </a:p>
          <a:p>
            <a:pPr lvl="1">
              <a:buFont typeface="Courier New" panose="020B0604020202020204" pitchFamily="34" charset="0"/>
              <a:buChar char="o"/>
            </a:pPr>
            <a:r>
              <a:rPr lang="en-US"/>
              <a:t>Vehicle: watch height, sides clear, along with regular debris and road hazards</a:t>
            </a:r>
          </a:p>
          <a:p>
            <a:pPr lvl="1">
              <a:buFont typeface="Courier New" panose="020B0604020202020204" pitchFamily="34" charset="0"/>
              <a:buChar char="o"/>
            </a:pPr>
            <a:r>
              <a:rPr lang="en-US"/>
              <a:t>Client safety: Serving window away from traffic, path without tripping hazards</a:t>
            </a:r>
          </a:p>
          <a:p>
            <a:r>
              <a:rPr lang="en-US"/>
              <a:t>Prepare for serving:</a:t>
            </a:r>
          </a:p>
          <a:p>
            <a:pPr lvl="1">
              <a:buFont typeface="Courier New" panose="020B0604020202020204" pitchFamily="34" charset="0"/>
              <a:buChar char="o"/>
            </a:pPr>
            <a:r>
              <a:rPr lang="en-US"/>
              <a:t>Trash bag ready, wear hat/hair nets &amp; gloves</a:t>
            </a:r>
          </a:p>
          <a:p>
            <a:pPr lvl="1">
              <a:buFont typeface="Courier New" panose="020B0604020202020204" pitchFamily="34" charset="0"/>
              <a:buChar char="o"/>
            </a:pPr>
            <a:r>
              <a:rPr lang="en-US"/>
              <a:t>Open small portion of </a:t>
            </a:r>
            <a:r>
              <a:rPr lang="en-US" err="1"/>
              <a:t>cambro</a:t>
            </a:r>
            <a:r>
              <a:rPr lang="en-US"/>
              <a:t> lid on one of each food item</a:t>
            </a:r>
          </a:p>
          <a:p>
            <a:pPr lvl="1">
              <a:buFont typeface="Courier New" panose="020B0604020202020204" pitchFamily="34" charset="0"/>
              <a:buChar char="o"/>
            </a:pPr>
            <a:r>
              <a:rPr lang="en-US"/>
              <a:t>Open the food bag and stir food with appropriate portion-size </a:t>
            </a:r>
            <a:r>
              <a:rPr lang="en-US" err="1"/>
              <a:t>spoodle</a:t>
            </a:r>
            <a:endParaRPr lang="en-US"/>
          </a:p>
          <a:p>
            <a:pPr lvl="1">
              <a:buFont typeface="Courier New" panose="020B0604020202020204" pitchFamily="34" charset="0"/>
              <a:buChar char="o"/>
            </a:pPr>
            <a:r>
              <a:rPr lang="en-US"/>
              <a:t>Check food temperature</a:t>
            </a:r>
          </a:p>
          <a:p>
            <a:r>
              <a:rPr lang="en-US"/>
              <a:t>Establish client flow – approach and exit. Open serving window when ready.</a:t>
            </a:r>
          </a:p>
          <a:p>
            <a:r>
              <a:rPr lang="en-US"/>
              <a:t>Prepare meals according to portion sizes. </a:t>
            </a:r>
          </a:p>
          <a:p>
            <a:pPr lvl="1">
              <a:buFont typeface="Courier New" panose="020B0604020202020204" pitchFamily="34" charset="0"/>
              <a:buChar char="o"/>
            </a:pPr>
            <a:r>
              <a:rPr lang="en-US"/>
              <a:t>Utilize prep shelf above </a:t>
            </a:r>
            <a:r>
              <a:rPr lang="en-US" err="1"/>
              <a:t>cambros</a:t>
            </a:r>
            <a:r>
              <a:rPr lang="en-US"/>
              <a:t> for clamshells.  Note: will cool quickly!</a:t>
            </a:r>
          </a:p>
          <a:p>
            <a:pPr lvl="1">
              <a:buFont typeface="Courier New" panose="020B0604020202020204" pitchFamily="34" charset="0"/>
              <a:buChar char="o"/>
            </a:pPr>
            <a:r>
              <a:rPr lang="en-US"/>
              <a:t>When not serving, keep </a:t>
            </a:r>
            <a:r>
              <a:rPr lang="en-US" err="1"/>
              <a:t>cambros</a:t>
            </a:r>
            <a:r>
              <a:rPr lang="en-US"/>
              <a:t> closed. Check food temps at least hourly.</a:t>
            </a:r>
          </a:p>
          <a:p>
            <a:r>
              <a:rPr lang="en-US"/>
              <a:t>Confer with feeding lead on dispositioning remaining food</a:t>
            </a:r>
          </a:p>
          <a:p>
            <a:r>
              <a:rPr lang="en-US"/>
              <a:t>Clean Up – remove trash &amp; food items, sweep/clean floor, shelves, walls</a:t>
            </a:r>
          </a:p>
          <a:p>
            <a:pPr lvl="1">
              <a:buFont typeface="Courier New" panose="020B0604020202020204" pitchFamily="34" charset="0"/>
              <a:buChar char="o"/>
            </a:pPr>
            <a:r>
              <a:rPr lang="en-US" err="1"/>
              <a:t>Cambros</a:t>
            </a:r>
            <a:r>
              <a:rPr lang="en-US"/>
              <a:t> and serving utensils must be appropriately cleaned and dried. </a:t>
            </a:r>
          </a:p>
          <a:p>
            <a:pPr marL="457200" lvl="1" indent="0">
              <a:buNone/>
            </a:pPr>
            <a:endParaRPr lang="en-US"/>
          </a:p>
        </p:txBody>
      </p:sp>
      <p:sp>
        <p:nvSpPr>
          <p:cNvPr id="5" name="Slide Number Placeholder 4">
            <a:extLst>
              <a:ext uri="{FF2B5EF4-FFF2-40B4-BE49-F238E27FC236}">
                <a16:creationId xmlns:a16="http://schemas.microsoft.com/office/drawing/2014/main" id="{BC99F8E6-C256-749A-8AE2-112D1A7A813F}"/>
              </a:ext>
            </a:extLst>
          </p:cNvPr>
          <p:cNvSpPr>
            <a:spLocks noGrp="1"/>
          </p:cNvSpPr>
          <p:nvPr>
            <p:ph type="sldNum" sz="quarter" idx="12"/>
          </p:nvPr>
        </p:nvSpPr>
        <p:spPr/>
        <p:txBody>
          <a:bodyPr/>
          <a:lstStyle/>
          <a:p>
            <a:fld id="{1466F282-3B2E-4770-B8F7-3A3BF1EE6D34}" type="slidenum">
              <a:rPr lang="en-US" smtClean="0"/>
              <a:t>22</a:t>
            </a:fld>
            <a:endParaRPr lang="en-US"/>
          </a:p>
        </p:txBody>
      </p:sp>
    </p:spTree>
    <p:extLst>
      <p:ext uri="{BB962C8B-B14F-4D97-AF65-F5344CB8AC3E}">
        <p14:creationId xmlns:p14="http://schemas.microsoft.com/office/powerpoint/2010/main" val="772402122"/>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7AAF1-CB7B-DCD9-34E4-3C0969AA3B0F}"/>
              </a:ext>
            </a:extLst>
          </p:cNvPr>
          <p:cNvSpPr>
            <a:spLocks noGrp="1"/>
          </p:cNvSpPr>
          <p:nvPr>
            <p:ph type="title"/>
          </p:nvPr>
        </p:nvSpPr>
        <p:spPr/>
        <p:txBody>
          <a:bodyPr/>
          <a:lstStyle/>
          <a:p>
            <a:r>
              <a:rPr lang="en-US" dirty="0"/>
              <a:t>Wrap Up &amp; Next Steps</a:t>
            </a:r>
          </a:p>
        </p:txBody>
      </p:sp>
      <p:sp>
        <p:nvSpPr>
          <p:cNvPr id="3" name="Content Placeholder 2">
            <a:extLst>
              <a:ext uri="{FF2B5EF4-FFF2-40B4-BE49-F238E27FC236}">
                <a16:creationId xmlns:a16="http://schemas.microsoft.com/office/drawing/2014/main" id="{9561FF77-A290-1F51-E162-8A666062196B}"/>
              </a:ext>
            </a:extLst>
          </p:cNvPr>
          <p:cNvSpPr>
            <a:spLocks noGrp="1"/>
          </p:cNvSpPr>
          <p:nvPr>
            <p:ph idx="1"/>
          </p:nvPr>
        </p:nvSpPr>
        <p:spPr/>
        <p:txBody>
          <a:bodyPr vert="horz" lIns="91440" tIns="45720" rIns="91440" bIns="45720" rtlCol="0" anchor="t">
            <a:normAutofit/>
          </a:bodyPr>
          <a:lstStyle/>
          <a:p>
            <a:r>
              <a:rPr lang="en-US" dirty="0"/>
              <a:t>What topics were new for you, and do you want more information?</a:t>
            </a:r>
          </a:p>
          <a:p>
            <a:r>
              <a:rPr lang="en-US" dirty="0"/>
              <a:t>How can we make the next session of this workshop more meaningful?</a:t>
            </a:r>
          </a:p>
          <a:p>
            <a:r>
              <a:rPr lang="en-US" dirty="0"/>
              <a:t>Who would like to work toward becoming a feeding supervisor?</a:t>
            </a:r>
          </a:p>
          <a:p>
            <a:r>
              <a:rPr lang="en-US" dirty="0"/>
              <a:t>To be ready to meet the NRT goals and workload, who knows a relative, friend, colleague or neighbor who might be interested in becoming </a:t>
            </a:r>
            <a:r>
              <a:rPr lang="en-US"/>
              <a:t>a Feeding </a:t>
            </a:r>
            <a:r>
              <a:rPr lang="en-US" dirty="0"/>
              <a:t>Service Associate? </a:t>
            </a:r>
          </a:p>
        </p:txBody>
      </p:sp>
      <p:sp>
        <p:nvSpPr>
          <p:cNvPr id="4" name="Slide Number Placeholder 3">
            <a:extLst>
              <a:ext uri="{FF2B5EF4-FFF2-40B4-BE49-F238E27FC236}">
                <a16:creationId xmlns:a16="http://schemas.microsoft.com/office/drawing/2014/main" id="{9893188C-8B9F-3C84-A10C-D7CA5D21EB95}"/>
              </a:ext>
            </a:extLst>
          </p:cNvPr>
          <p:cNvSpPr>
            <a:spLocks noGrp="1"/>
          </p:cNvSpPr>
          <p:nvPr>
            <p:ph type="sldNum" sz="quarter" idx="12"/>
          </p:nvPr>
        </p:nvSpPr>
        <p:spPr/>
        <p:txBody>
          <a:bodyPr/>
          <a:lstStyle/>
          <a:p>
            <a:fld id="{1466F282-3B2E-4770-B8F7-3A3BF1EE6D34}" type="slidenum">
              <a:rPr lang="en-US" smtClean="0"/>
              <a:t>23</a:t>
            </a:fld>
            <a:endParaRPr lang="en-US"/>
          </a:p>
        </p:txBody>
      </p:sp>
    </p:spTree>
    <p:extLst>
      <p:ext uri="{BB962C8B-B14F-4D97-AF65-F5344CB8AC3E}">
        <p14:creationId xmlns:p14="http://schemas.microsoft.com/office/powerpoint/2010/main" val="1902680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397CF-EB50-4FA1-78DD-3F32979B6C68}"/>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06B073EC-0D16-2440-DD1E-F5AE4D9C9A35}"/>
              </a:ext>
            </a:extLst>
          </p:cNvPr>
          <p:cNvSpPr>
            <a:spLocks noGrp="1"/>
          </p:cNvSpPr>
          <p:nvPr>
            <p:ph idx="1"/>
          </p:nvPr>
        </p:nvSpPr>
        <p:spPr/>
        <p:txBody>
          <a:bodyPr>
            <a:normAutofit fontScale="77500" lnSpcReduction="20000"/>
          </a:bodyPr>
          <a:lstStyle/>
          <a:p>
            <a:r>
              <a:rPr lang="en-US"/>
              <a:t>Feeding Tool Kit - </a:t>
            </a:r>
            <a:r>
              <a:rPr lang="en-US">
                <a:hlinkClick r:id="rId2"/>
              </a:rPr>
              <a:t>https://onesource.redcross.org/page/2397?SearchId=11429674</a:t>
            </a:r>
            <a:endParaRPr lang="en-US"/>
          </a:p>
          <a:p>
            <a:r>
              <a:rPr lang="en-US"/>
              <a:t>Sheltering Tool Kit - </a:t>
            </a:r>
            <a:r>
              <a:rPr lang="en-US">
                <a:hlinkClick r:id="rId3"/>
              </a:rPr>
              <a:t>https://onesource.redcross.org/page/3674?SearchId=11429736</a:t>
            </a:r>
            <a:endParaRPr lang="en-US"/>
          </a:p>
          <a:p>
            <a:r>
              <a:rPr lang="en-US"/>
              <a:t>Feeding Activity Introduction Fact Sheet – </a:t>
            </a:r>
          </a:p>
          <a:p>
            <a:r>
              <a:rPr lang="en-US">
                <a:hlinkClick r:id="rId4"/>
              </a:rPr>
              <a:t>https://onesource.redcross.org/page/14274?SearchId=11429740</a:t>
            </a:r>
            <a:endParaRPr lang="en-US"/>
          </a:p>
          <a:p>
            <a:r>
              <a:rPr lang="en-US"/>
              <a:t>Feeding Webinars</a:t>
            </a:r>
          </a:p>
          <a:p>
            <a:pPr lvl="1"/>
            <a:r>
              <a:rPr lang="en-US">
                <a:hlinkClick r:id="rId5"/>
              </a:rPr>
              <a:t>6-26-24 Feeding Webinar</a:t>
            </a:r>
            <a:r>
              <a:rPr lang="en-US"/>
              <a:t> </a:t>
            </a:r>
          </a:p>
          <a:p>
            <a:pPr lvl="1"/>
            <a:r>
              <a:rPr lang="en-US">
                <a:hlinkClick r:id="rId6"/>
              </a:rPr>
              <a:t>5-28-25 Seasonal Feeding and DES Webinar</a:t>
            </a:r>
            <a:endParaRPr lang="en-US"/>
          </a:p>
          <a:p>
            <a:r>
              <a:rPr lang="en-US"/>
              <a:t>Feeding Fundamentals V2</a:t>
            </a:r>
          </a:p>
          <a:p>
            <a:pPr marL="0" indent="0">
              <a:buNone/>
            </a:pPr>
            <a:r>
              <a:rPr lang="en-US">
                <a:hlinkClick r:id="rId7"/>
              </a:rPr>
              <a:t>https://onesource.redcross.org/page/14275?SearchId=4858451</a:t>
            </a:r>
            <a:endParaRPr lang="en-US"/>
          </a:p>
          <a:p>
            <a:pPr lvl="1"/>
            <a:endParaRPr lang="en-US"/>
          </a:p>
        </p:txBody>
      </p:sp>
      <p:sp>
        <p:nvSpPr>
          <p:cNvPr id="5" name="Slide Number Placeholder 4">
            <a:extLst>
              <a:ext uri="{FF2B5EF4-FFF2-40B4-BE49-F238E27FC236}">
                <a16:creationId xmlns:a16="http://schemas.microsoft.com/office/drawing/2014/main" id="{A6B49497-6401-0E4C-6763-0004F3CCF6DD}"/>
              </a:ext>
            </a:extLst>
          </p:cNvPr>
          <p:cNvSpPr>
            <a:spLocks noGrp="1"/>
          </p:cNvSpPr>
          <p:nvPr>
            <p:ph type="sldNum" sz="quarter" idx="12"/>
          </p:nvPr>
        </p:nvSpPr>
        <p:spPr/>
        <p:txBody>
          <a:bodyPr/>
          <a:lstStyle/>
          <a:p>
            <a:fld id="{1466F282-3B2E-4770-B8F7-3A3BF1EE6D34}" type="slidenum">
              <a:rPr lang="en-US" smtClean="0"/>
              <a:t>24</a:t>
            </a:fld>
            <a:endParaRPr lang="en-US"/>
          </a:p>
        </p:txBody>
      </p:sp>
    </p:spTree>
    <p:extLst>
      <p:ext uri="{BB962C8B-B14F-4D97-AF65-F5344CB8AC3E}">
        <p14:creationId xmlns:p14="http://schemas.microsoft.com/office/powerpoint/2010/main" val="190937533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EFE0FBC03247B4B905B7B9E047DB519" ma:contentTypeVersion="7" ma:contentTypeDescription="Create a new document." ma:contentTypeScope="" ma:versionID="2c3431a34ffe6c3788a809b918f3eca2">
  <xsd:schema xmlns:xsd="http://www.w3.org/2001/XMLSchema" xmlns:xs="http://www.w3.org/2001/XMLSchema" xmlns:p="http://schemas.microsoft.com/office/2006/metadata/properties" xmlns:ns2="df07d063-04fc-4c3c-8eb9-4acd1148917c" targetNamespace="http://schemas.microsoft.com/office/2006/metadata/properties" ma:root="true" ma:fieldsID="c5e650c65bbf82a67b09b6457738d53b" ns2:_="">
    <xsd:import namespace="df07d063-04fc-4c3c-8eb9-4acd1148917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07d063-04fc-4c3c-8eb9-4acd114891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0D5AD4E-5E8C-4DBE-80EF-BE086699D737}"/>
</file>

<file path=customXml/itemProps2.xml><?xml version="1.0" encoding="utf-8"?>
<ds:datastoreItem xmlns:ds="http://schemas.openxmlformats.org/officeDocument/2006/customXml" ds:itemID="{99EACE62-A8B7-4E10-9C03-34DB8105F7BB}"/>
</file>

<file path=customXml/itemProps3.xml><?xml version="1.0" encoding="utf-8"?>
<ds:datastoreItem xmlns:ds="http://schemas.openxmlformats.org/officeDocument/2006/customXml" ds:itemID="{6D3614D8-E6FB-401D-B3EC-B4D526A1ABCA}"/>
</file>

<file path=docProps/app.xml><?xml version="1.0" encoding="utf-8"?>
<Properties xmlns="http://schemas.openxmlformats.org/officeDocument/2006/extended-properties" xmlns:vt="http://schemas.openxmlformats.org/officeDocument/2006/docPropsVTypes">
  <Template>Office Theme</Template>
  <TotalTime>5</TotalTime>
  <Words>2020</Words>
  <Application>Microsoft Office PowerPoint</Application>
  <PresentationFormat>On-screen Show (4:3)</PresentationFormat>
  <Paragraphs>381</Paragraphs>
  <Slides>24</Slides>
  <Notes>5</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Strengthen Your Feeding and Canteening Skills</vt:lpstr>
      <vt:lpstr>Agenda</vt:lpstr>
      <vt:lpstr>PowerPoint Presentation</vt:lpstr>
      <vt:lpstr>PowerPoint Presentation</vt:lpstr>
      <vt:lpstr>Before We Get There...</vt:lpstr>
      <vt:lpstr>PowerPoint Presentation</vt:lpstr>
      <vt:lpstr>PowerPoint Presentation</vt:lpstr>
      <vt:lpstr>PowerPoint Presentation</vt:lpstr>
      <vt:lpstr>PowerPoint Presentation</vt:lpstr>
      <vt:lpstr>Preparation - Personal </vt:lpstr>
      <vt:lpstr>Preparation - Congregate &amp; Fixed Outreach Feeding</vt:lpstr>
      <vt:lpstr>Preparation - Congregate &amp; Fixed Outreach Feeding</vt:lpstr>
      <vt:lpstr>Preparation - Congregate &amp; Fixed Outreach Feeding</vt:lpstr>
      <vt:lpstr>Preparations - Mobile &amp; Canteen Feeding</vt:lpstr>
      <vt:lpstr>Event Set Up - Congregate &amp; Fixed Outreach Feeding</vt:lpstr>
      <vt:lpstr>Event Set Up - Congregate &amp; Fixed Outreach Feeding</vt:lpstr>
      <vt:lpstr>DINING HOURS</vt:lpstr>
      <vt:lpstr>Event Set Up - Mobile &amp; Canteen Feeding</vt:lpstr>
      <vt:lpstr>Mass Casualty Incident Feeding </vt:lpstr>
      <vt:lpstr>Mass Casualty Incident Feeding </vt:lpstr>
      <vt:lpstr>Congregate &amp; Fixed Outreach Feeding Process</vt:lpstr>
      <vt:lpstr>Mobile &amp; Canteen Feeding Process</vt:lpstr>
      <vt:lpstr>Wrap Up &amp; Next Steps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Hughes, Joe</dc:creator>
  <cp:lastModifiedBy>Hughes, Joe</cp:lastModifiedBy>
  <cp:revision>349</cp:revision>
  <cp:lastPrinted>2025-10-25T11:14:01Z</cp:lastPrinted>
  <dcterms:created xsi:type="dcterms:W3CDTF">2025-08-30T16:49:29Z</dcterms:created>
  <dcterms:modified xsi:type="dcterms:W3CDTF">2025-10-28T22:38:19Z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0x0101000EFE0FBC03247B4B905B7B9E047DB519</vt:lpwstr>
  </property>
</Properties>
</file>
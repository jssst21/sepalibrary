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diagrams/data1.xml" ContentType="application/vnd.openxmlformats-officedocument.drawingml.diagramData+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notesSlides/notesSlide9.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10.xml" ContentType="application/vnd.openxmlformats-officedocument.presentationml.notesSlid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notesSlides/notesSlide11.xml" ContentType="application/vnd.openxmlformats-officedocument.presentationml.notes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diagrams/drawing1.xml" ContentType="application/vnd.ms-office.drawingml.diagramDrawing+xml"/>
  <Override PartName="/ppt/diagrams/quickStyle1.xml" ContentType="application/vnd.openxmlformats-officedocument.drawingml.diagramStyle+xml"/>
  <Override PartName="/ppt/diagrams/colors1.xml" ContentType="application/vnd.openxmlformats-officedocument.drawingml.diagramColors+xml"/>
  <Override PartName="/ppt/diagrams/layout1.xml" ContentType="application/vnd.openxmlformats-officedocument.drawingml.diagramLayout+xml"/>
  <Override PartName="/ppt/notesMasters/notesMaster1.xml" ContentType="application/vnd.openxmlformats-officedocument.presentationml.notes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tags/tag5.xml" ContentType="application/vnd.openxmlformats-officedocument.presentationml.tags+xml"/>
  <Override PartName="/ppt/tags/tag6.xml" ContentType="application/vnd.openxmlformats-officedocument.presentationml.tags+xml"/>
  <Override PartName="/ppt/tags/tag4.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docProps/app.xml" ContentType="application/vnd.openxmlformats-officedocument.extended-properties+xml"/>
  <Override PartName="/ppt/tags/tag1.xml" ContentType="application/vnd.openxmlformats-officedocument.presentationml.tag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7" r:id="rId2"/>
    <p:sldId id="271" r:id="rId3"/>
    <p:sldId id="469" r:id="rId4"/>
    <p:sldId id="1250" r:id="rId5"/>
    <p:sldId id="472" r:id="rId6"/>
    <p:sldId id="1251" r:id="rId7"/>
    <p:sldId id="274" r:id="rId8"/>
    <p:sldId id="598" r:id="rId9"/>
    <p:sldId id="1253" r:id="rId10"/>
    <p:sldId id="1254" r:id="rId11"/>
    <p:sldId id="745" r:id="rId12"/>
    <p:sldId id="1255" r:id="rId13"/>
    <p:sldId id="470" r:id="rId14"/>
    <p:sldId id="1173" r:id="rId15"/>
    <p:sldId id="1184" r:id="rId16"/>
    <p:sldId id="1234" r:id="rId17"/>
    <p:sldId id="1256" r:id="rId18"/>
    <p:sldId id="1257" r:id="rId19"/>
    <p:sldId id="276" r:id="rId20"/>
    <p:sldId id="32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p:restoredTop sz="94658"/>
  </p:normalViewPr>
  <p:slideViewPr>
    <p:cSldViewPr snapToGrid="0">
      <p:cViewPr varScale="1">
        <p:scale>
          <a:sx n="102" d="100"/>
          <a:sy n="102" d="100"/>
        </p:scale>
        <p:origin x="1440"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customXml" Target="../customXml/item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7D73A-3187-4EDE-AB45-0B94A35F4F2A}" type="doc">
      <dgm:prSet loTypeId="urn:microsoft.com/office/officeart/2005/8/layout/vList5" loCatId="list" qsTypeId="urn:microsoft.com/office/officeart/2005/8/quickstyle/simple5" qsCatId="simple" csTypeId="urn:microsoft.com/office/officeart/2005/8/colors/accent2_2" csCatId="accent2" phldr="1"/>
      <dgm:spPr/>
      <dgm:t>
        <a:bodyPr/>
        <a:lstStyle/>
        <a:p>
          <a:endParaRPr lang="en-US"/>
        </a:p>
      </dgm:t>
    </dgm:pt>
    <dgm:pt modelId="{3B5BC64C-77BC-4562-A353-A81E6CF49A76}">
      <dgm:prSet/>
      <dgm:spPr>
        <a:solidFill>
          <a:schemeClr val="accent3">
            <a:lumMod val="60000"/>
            <a:lumOff val="40000"/>
          </a:schemeClr>
        </a:solidFill>
      </dgm:spPr>
      <dgm:t>
        <a:bodyPr/>
        <a:lstStyle/>
        <a:p>
          <a:r>
            <a:rPr lang="en-US"/>
            <a:t>Sheltering</a:t>
          </a:r>
        </a:p>
      </dgm:t>
    </dgm:pt>
    <dgm:pt modelId="{0B0A269F-22AA-4D3A-A467-9481321978E1}" type="parTrans" cxnId="{482A9607-517A-4D4F-AD9A-4717F6A74CD5}">
      <dgm:prSet/>
      <dgm:spPr/>
      <dgm:t>
        <a:bodyPr/>
        <a:lstStyle/>
        <a:p>
          <a:endParaRPr lang="en-US"/>
        </a:p>
      </dgm:t>
    </dgm:pt>
    <dgm:pt modelId="{EF3E3305-BA94-4751-9D8F-F204F95C1493}" type="sibTrans" cxnId="{482A9607-517A-4D4F-AD9A-4717F6A74CD5}">
      <dgm:prSet/>
      <dgm:spPr/>
      <dgm:t>
        <a:bodyPr/>
        <a:lstStyle/>
        <a:p>
          <a:endParaRPr lang="en-US"/>
        </a:p>
      </dgm:t>
    </dgm:pt>
    <dgm:pt modelId="{75E77719-480B-4C5D-89A0-E6D81C77573C}">
      <dgm:prSet/>
      <dgm:spPr>
        <a:solidFill>
          <a:schemeClr val="accent3">
            <a:lumMod val="60000"/>
            <a:lumOff val="40000"/>
          </a:schemeClr>
        </a:solidFill>
      </dgm:spPr>
      <dgm:t>
        <a:bodyPr/>
        <a:lstStyle/>
        <a:p>
          <a:r>
            <a:rPr lang="en-US"/>
            <a:t>Feeding</a:t>
          </a:r>
        </a:p>
      </dgm:t>
    </dgm:pt>
    <dgm:pt modelId="{00830FE4-410E-450A-8813-38BEFD31D556}" type="parTrans" cxnId="{09DCD4A4-0209-4744-9E12-5BF1E65DB56A}">
      <dgm:prSet/>
      <dgm:spPr/>
      <dgm:t>
        <a:bodyPr/>
        <a:lstStyle/>
        <a:p>
          <a:endParaRPr lang="en-US"/>
        </a:p>
      </dgm:t>
    </dgm:pt>
    <dgm:pt modelId="{DABC97C9-844B-4384-BBB7-459B989FF158}" type="sibTrans" cxnId="{09DCD4A4-0209-4744-9E12-5BF1E65DB56A}">
      <dgm:prSet/>
      <dgm:spPr/>
      <dgm:t>
        <a:bodyPr/>
        <a:lstStyle/>
        <a:p>
          <a:endParaRPr lang="en-US"/>
        </a:p>
      </dgm:t>
    </dgm:pt>
    <dgm:pt modelId="{ED140C94-42CB-4CF0-8C91-EB7693243866}">
      <dgm:prSet/>
      <dgm:spPr>
        <a:solidFill>
          <a:schemeClr val="accent3">
            <a:lumMod val="60000"/>
            <a:lumOff val="40000"/>
          </a:schemeClr>
        </a:solidFill>
      </dgm:spPr>
      <dgm:t>
        <a:bodyPr/>
        <a:lstStyle/>
        <a:p>
          <a:r>
            <a:rPr lang="en-US" dirty="0"/>
            <a:t>Distribution of Emergency Supplies (DES)</a:t>
          </a:r>
        </a:p>
      </dgm:t>
    </dgm:pt>
    <dgm:pt modelId="{5D127671-6A16-40B8-ADD5-A9770F31F671}" type="parTrans" cxnId="{EEBAF618-3A31-4D1E-82E2-DE3DB458B4D1}">
      <dgm:prSet/>
      <dgm:spPr/>
      <dgm:t>
        <a:bodyPr/>
        <a:lstStyle/>
        <a:p>
          <a:endParaRPr lang="en-US"/>
        </a:p>
      </dgm:t>
    </dgm:pt>
    <dgm:pt modelId="{4B94F342-3C9B-47CD-84A5-5C408A330D39}" type="sibTrans" cxnId="{EEBAF618-3A31-4D1E-82E2-DE3DB458B4D1}">
      <dgm:prSet/>
      <dgm:spPr/>
      <dgm:t>
        <a:bodyPr/>
        <a:lstStyle/>
        <a:p>
          <a:endParaRPr lang="en-US"/>
        </a:p>
      </dgm:t>
    </dgm:pt>
    <dgm:pt modelId="{A2454744-6A69-4D7F-B424-797E391D9041}">
      <dgm:prSet/>
      <dgm:spPr>
        <a:solidFill>
          <a:schemeClr val="accent3">
            <a:lumMod val="60000"/>
            <a:lumOff val="40000"/>
          </a:schemeClr>
        </a:solidFill>
      </dgm:spPr>
      <dgm:t>
        <a:bodyPr/>
        <a:lstStyle/>
        <a:p>
          <a:r>
            <a:rPr lang="en-US" dirty="0"/>
            <a:t>Recovery/Client Care</a:t>
          </a:r>
        </a:p>
      </dgm:t>
    </dgm:pt>
    <dgm:pt modelId="{DBF59F91-3DB3-418A-94A1-9ADAD1A24A4F}" type="parTrans" cxnId="{F6AF738A-3AE3-428F-AC0C-54C35062ED2B}">
      <dgm:prSet/>
      <dgm:spPr/>
      <dgm:t>
        <a:bodyPr/>
        <a:lstStyle/>
        <a:p>
          <a:endParaRPr lang="en-US"/>
        </a:p>
      </dgm:t>
    </dgm:pt>
    <dgm:pt modelId="{F2EE8AC9-8690-4D13-B33F-98F1063942E2}" type="sibTrans" cxnId="{F6AF738A-3AE3-428F-AC0C-54C35062ED2B}">
      <dgm:prSet/>
      <dgm:spPr/>
      <dgm:t>
        <a:bodyPr/>
        <a:lstStyle/>
        <a:p>
          <a:endParaRPr lang="en-US"/>
        </a:p>
      </dgm:t>
    </dgm:pt>
    <dgm:pt modelId="{D0DA2469-D7DD-465C-B9E0-4809B4EA06D5}">
      <dgm:prSet/>
      <dgm:spPr>
        <a:solidFill>
          <a:schemeClr val="accent3">
            <a:lumMod val="60000"/>
            <a:lumOff val="40000"/>
          </a:schemeClr>
        </a:solidFill>
      </dgm:spPr>
      <dgm:t>
        <a:bodyPr/>
        <a:lstStyle/>
        <a:p>
          <a:r>
            <a:rPr lang="en-US"/>
            <a:t>Government Operations</a:t>
          </a:r>
        </a:p>
      </dgm:t>
    </dgm:pt>
    <dgm:pt modelId="{E1207D4E-5939-42CC-AE03-1455759954BE}" type="parTrans" cxnId="{AA8C4029-B01F-4E26-B995-6863EF781C46}">
      <dgm:prSet/>
      <dgm:spPr/>
      <dgm:t>
        <a:bodyPr/>
        <a:lstStyle/>
        <a:p>
          <a:endParaRPr lang="en-US"/>
        </a:p>
      </dgm:t>
    </dgm:pt>
    <dgm:pt modelId="{01B790F2-2A80-41B1-A58F-236A90A73DB1}" type="sibTrans" cxnId="{AA8C4029-B01F-4E26-B995-6863EF781C46}">
      <dgm:prSet/>
      <dgm:spPr/>
      <dgm:t>
        <a:bodyPr/>
        <a:lstStyle/>
        <a:p>
          <a:endParaRPr lang="en-US"/>
        </a:p>
      </dgm:t>
    </dgm:pt>
    <dgm:pt modelId="{D5DD1FFF-5C47-4F44-ABE1-EC2236A33B68}">
      <dgm:prSet/>
      <dgm:spPr>
        <a:solidFill>
          <a:schemeClr val="accent3">
            <a:lumMod val="60000"/>
            <a:lumOff val="40000"/>
          </a:schemeClr>
        </a:solidFill>
      </dgm:spPr>
      <dgm:t>
        <a:bodyPr/>
        <a:lstStyle/>
        <a:p>
          <a:r>
            <a:rPr lang="en-US"/>
            <a:t>Reunification</a:t>
          </a:r>
        </a:p>
      </dgm:t>
    </dgm:pt>
    <dgm:pt modelId="{8495893B-C515-4284-8D36-2B0E2E12FFFA}" type="parTrans" cxnId="{CE9B7EDD-542E-44DD-BE33-95AC9E762185}">
      <dgm:prSet/>
      <dgm:spPr/>
      <dgm:t>
        <a:bodyPr/>
        <a:lstStyle/>
        <a:p>
          <a:endParaRPr lang="en-US"/>
        </a:p>
      </dgm:t>
    </dgm:pt>
    <dgm:pt modelId="{9041EF5E-7FC5-4A44-9FD4-5062586FBACF}" type="sibTrans" cxnId="{CE9B7EDD-542E-44DD-BE33-95AC9E762185}">
      <dgm:prSet/>
      <dgm:spPr/>
      <dgm:t>
        <a:bodyPr/>
        <a:lstStyle/>
        <a:p>
          <a:endParaRPr lang="en-US"/>
        </a:p>
      </dgm:t>
    </dgm:pt>
    <dgm:pt modelId="{AB221305-AED2-134A-B129-C8B399879153}" type="pres">
      <dgm:prSet presAssocID="{3147D73A-3187-4EDE-AB45-0B94A35F4F2A}" presName="Name0" presStyleCnt="0">
        <dgm:presLayoutVars>
          <dgm:dir/>
          <dgm:animLvl val="lvl"/>
          <dgm:resizeHandles val="exact"/>
        </dgm:presLayoutVars>
      </dgm:prSet>
      <dgm:spPr/>
    </dgm:pt>
    <dgm:pt modelId="{B140486D-0E2C-8A45-A8C8-F27F6C8F1AE9}" type="pres">
      <dgm:prSet presAssocID="{3B5BC64C-77BC-4562-A353-A81E6CF49A76}" presName="linNode" presStyleCnt="0"/>
      <dgm:spPr/>
    </dgm:pt>
    <dgm:pt modelId="{9BBDCA7A-8029-E740-A730-6A2402CAA473}" type="pres">
      <dgm:prSet presAssocID="{3B5BC64C-77BC-4562-A353-A81E6CF49A76}" presName="parentText" presStyleLbl="node1" presStyleIdx="0" presStyleCnt="6">
        <dgm:presLayoutVars>
          <dgm:chMax val="1"/>
          <dgm:bulletEnabled val="1"/>
        </dgm:presLayoutVars>
      </dgm:prSet>
      <dgm:spPr/>
    </dgm:pt>
    <dgm:pt modelId="{F3949279-DCA9-A540-9F7B-12046290E702}" type="pres">
      <dgm:prSet presAssocID="{EF3E3305-BA94-4751-9D8F-F204F95C1493}" presName="sp" presStyleCnt="0"/>
      <dgm:spPr/>
    </dgm:pt>
    <dgm:pt modelId="{3EB36568-6C2F-6C45-815E-1EC1CE827473}" type="pres">
      <dgm:prSet presAssocID="{75E77719-480B-4C5D-89A0-E6D81C77573C}" presName="linNode" presStyleCnt="0"/>
      <dgm:spPr/>
    </dgm:pt>
    <dgm:pt modelId="{D8AF0DF6-9F3D-7640-8D87-97BE5AEF3F39}" type="pres">
      <dgm:prSet presAssocID="{75E77719-480B-4C5D-89A0-E6D81C77573C}" presName="parentText" presStyleLbl="node1" presStyleIdx="1" presStyleCnt="6">
        <dgm:presLayoutVars>
          <dgm:chMax val="1"/>
          <dgm:bulletEnabled val="1"/>
        </dgm:presLayoutVars>
      </dgm:prSet>
      <dgm:spPr/>
    </dgm:pt>
    <dgm:pt modelId="{52D96AD3-6500-CC4D-A709-C9C9C585DDF7}" type="pres">
      <dgm:prSet presAssocID="{DABC97C9-844B-4384-BBB7-459B989FF158}" presName="sp" presStyleCnt="0"/>
      <dgm:spPr/>
    </dgm:pt>
    <dgm:pt modelId="{F4AE69A3-946A-7149-9266-1456554EFEC3}" type="pres">
      <dgm:prSet presAssocID="{ED140C94-42CB-4CF0-8C91-EB7693243866}" presName="linNode" presStyleCnt="0"/>
      <dgm:spPr/>
    </dgm:pt>
    <dgm:pt modelId="{91396535-8AAB-654F-B27F-EAD5E3B73C38}" type="pres">
      <dgm:prSet presAssocID="{ED140C94-42CB-4CF0-8C91-EB7693243866}" presName="parentText" presStyleLbl="node1" presStyleIdx="2" presStyleCnt="6">
        <dgm:presLayoutVars>
          <dgm:chMax val="1"/>
          <dgm:bulletEnabled val="1"/>
        </dgm:presLayoutVars>
      </dgm:prSet>
      <dgm:spPr/>
    </dgm:pt>
    <dgm:pt modelId="{D360E57B-D480-7C48-A924-925ABF1BC8CD}" type="pres">
      <dgm:prSet presAssocID="{4B94F342-3C9B-47CD-84A5-5C408A330D39}" presName="sp" presStyleCnt="0"/>
      <dgm:spPr/>
    </dgm:pt>
    <dgm:pt modelId="{3ACD3099-7365-434B-B1F5-121556B52AB0}" type="pres">
      <dgm:prSet presAssocID="{A2454744-6A69-4D7F-B424-797E391D9041}" presName="linNode" presStyleCnt="0"/>
      <dgm:spPr/>
    </dgm:pt>
    <dgm:pt modelId="{32602A8D-7A39-5440-BAD0-15CBD021108C}" type="pres">
      <dgm:prSet presAssocID="{A2454744-6A69-4D7F-B424-797E391D9041}" presName="parentText" presStyleLbl="node1" presStyleIdx="3" presStyleCnt="6">
        <dgm:presLayoutVars>
          <dgm:chMax val="1"/>
          <dgm:bulletEnabled val="1"/>
        </dgm:presLayoutVars>
      </dgm:prSet>
      <dgm:spPr/>
    </dgm:pt>
    <dgm:pt modelId="{7E1A7FD8-9BE0-2C49-8C4E-EF1C3B632E52}" type="pres">
      <dgm:prSet presAssocID="{F2EE8AC9-8690-4D13-B33F-98F1063942E2}" presName="sp" presStyleCnt="0"/>
      <dgm:spPr/>
    </dgm:pt>
    <dgm:pt modelId="{DAA43E94-262F-2C4C-9A8A-F91A92E471EB}" type="pres">
      <dgm:prSet presAssocID="{D0DA2469-D7DD-465C-B9E0-4809B4EA06D5}" presName="linNode" presStyleCnt="0"/>
      <dgm:spPr/>
    </dgm:pt>
    <dgm:pt modelId="{7677D3F4-DB70-204F-A382-BF1515381FB2}" type="pres">
      <dgm:prSet presAssocID="{D0DA2469-D7DD-465C-B9E0-4809B4EA06D5}" presName="parentText" presStyleLbl="node1" presStyleIdx="4" presStyleCnt="6">
        <dgm:presLayoutVars>
          <dgm:chMax val="1"/>
          <dgm:bulletEnabled val="1"/>
        </dgm:presLayoutVars>
      </dgm:prSet>
      <dgm:spPr/>
    </dgm:pt>
    <dgm:pt modelId="{6096B35D-4315-FF40-9D97-838A5FB628DB}" type="pres">
      <dgm:prSet presAssocID="{01B790F2-2A80-41B1-A58F-236A90A73DB1}" presName="sp" presStyleCnt="0"/>
      <dgm:spPr/>
    </dgm:pt>
    <dgm:pt modelId="{A8DF4CCE-DD3F-6B4B-954D-F2D2FFD232A3}" type="pres">
      <dgm:prSet presAssocID="{D5DD1FFF-5C47-4F44-ABE1-EC2236A33B68}" presName="linNode" presStyleCnt="0"/>
      <dgm:spPr/>
    </dgm:pt>
    <dgm:pt modelId="{6A6F7C9E-D933-C045-8963-44571F34148A}" type="pres">
      <dgm:prSet presAssocID="{D5DD1FFF-5C47-4F44-ABE1-EC2236A33B68}" presName="parentText" presStyleLbl="node1" presStyleIdx="5" presStyleCnt="6">
        <dgm:presLayoutVars>
          <dgm:chMax val="1"/>
          <dgm:bulletEnabled val="1"/>
        </dgm:presLayoutVars>
      </dgm:prSet>
      <dgm:spPr/>
    </dgm:pt>
  </dgm:ptLst>
  <dgm:cxnLst>
    <dgm:cxn modelId="{482A9607-517A-4D4F-AD9A-4717F6A74CD5}" srcId="{3147D73A-3187-4EDE-AB45-0B94A35F4F2A}" destId="{3B5BC64C-77BC-4562-A353-A81E6CF49A76}" srcOrd="0" destOrd="0" parTransId="{0B0A269F-22AA-4D3A-A467-9481321978E1}" sibTransId="{EF3E3305-BA94-4751-9D8F-F204F95C1493}"/>
    <dgm:cxn modelId="{EEBAF618-3A31-4D1E-82E2-DE3DB458B4D1}" srcId="{3147D73A-3187-4EDE-AB45-0B94A35F4F2A}" destId="{ED140C94-42CB-4CF0-8C91-EB7693243866}" srcOrd="2" destOrd="0" parTransId="{5D127671-6A16-40B8-ADD5-A9770F31F671}" sibTransId="{4B94F342-3C9B-47CD-84A5-5C408A330D39}"/>
    <dgm:cxn modelId="{AA8C4029-B01F-4E26-B995-6863EF781C46}" srcId="{3147D73A-3187-4EDE-AB45-0B94A35F4F2A}" destId="{D0DA2469-D7DD-465C-B9E0-4809B4EA06D5}" srcOrd="4" destOrd="0" parTransId="{E1207D4E-5939-42CC-AE03-1455759954BE}" sibTransId="{01B790F2-2A80-41B1-A58F-236A90A73DB1}"/>
    <dgm:cxn modelId="{1EB52263-F378-5149-9B65-BE7D5E4C1E9A}" type="presOf" srcId="{3147D73A-3187-4EDE-AB45-0B94A35F4F2A}" destId="{AB221305-AED2-134A-B129-C8B399879153}" srcOrd="0" destOrd="0" presId="urn:microsoft.com/office/officeart/2005/8/layout/vList5"/>
    <dgm:cxn modelId="{67EC0271-4DAC-BD4D-80F2-082522D28D4E}" type="presOf" srcId="{ED140C94-42CB-4CF0-8C91-EB7693243866}" destId="{91396535-8AAB-654F-B27F-EAD5E3B73C38}" srcOrd="0" destOrd="0" presId="urn:microsoft.com/office/officeart/2005/8/layout/vList5"/>
    <dgm:cxn modelId="{F6AF738A-3AE3-428F-AC0C-54C35062ED2B}" srcId="{3147D73A-3187-4EDE-AB45-0B94A35F4F2A}" destId="{A2454744-6A69-4D7F-B424-797E391D9041}" srcOrd="3" destOrd="0" parTransId="{DBF59F91-3DB3-418A-94A1-9ADAD1A24A4F}" sibTransId="{F2EE8AC9-8690-4D13-B33F-98F1063942E2}"/>
    <dgm:cxn modelId="{B6F86097-1D58-8941-92B0-2981EC669BD1}" type="presOf" srcId="{D5DD1FFF-5C47-4F44-ABE1-EC2236A33B68}" destId="{6A6F7C9E-D933-C045-8963-44571F34148A}" srcOrd="0" destOrd="0" presId="urn:microsoft.com/office/officeart/2005/8/layout/vList5"/>
    <dgm:cxn modelId="{5B591BA2-9A0C-1C4D-96E7-C531F50E2C5B}" type="presOf" srcId="{D0DA2469-D7DD-465C-B9E0-4809B4EA06D5}" destId="{7677D3F4-DB70-204F-A382-BF1515381FB2}" srcOrd="0" destOrd="0" presId="urn:microsoft.com/office/officeart/2005/8/layout/vList5"/>
    <dgm:cxn modelId="{1A1854A4-CF31-034E-8F7E-442DE8C81E9A}" type="presOf" srcId="{75E77719-480B-4C5D-89A0-E6D81C77573C}" destId="{D8AF0DF6-9F3D-7640-8D87-97BE5AEF3F39}" srcOrd="0" destOrd="0" presId="urn:microsoft.com/office/officeart/2005/8/layout/vList5"/>
    <dgm:cxn modelId="{09DCD4A4-0209-4744-9E12-5BF1E65DB56A}" srcId="{3147D73A-3187-4EDE-AB45-0B94A35F4F2A}" destId="{75E77719-480B-4C5D-89A0-E6D81C77573C}" srcOrd="1" destOrd="0" parTransId="{00830FE4-410E-450A-8813-38BEFD31D556}" sibTransId="{DABC97C9-844B-4384-BBB7-459B989FF158}"/>
    <dgm:cxn modelId="{926911CB-1187-2645-B06E-8D4527214983}" type="presOf" srcId="{3B5BC64C-77BC-4562-A353-A81E6CF49A76}" destId="{9BBDCA7A-8029-E740-A730-6A2402CAA473}" srcOrd="0" destOrd="0" presId="urn:microsoft.com/office/officeart/2005/8/layout/vList5"/>
    <dgm:cxn modelId="{CE9B7EDD-542E-44DD-BE33-95AC9E762185}" srcId="{3147D73A-3187-4EDE-AB45-0B94A35F4F2A}" destId="{D5DD1FFF-5C47-4F44-ABE1-EC2236A33B68}" srcOrd="5" destOrd="0" parTransId="{8495893B-C515-4284-8D36-2B0E2E12FFFA}" sibTransId="{9041EF5E-7FC5-4A44-9FD4-5062586FBACF}"/>
    <dgm:cxn modelId="{E7C45BDF-292D-D44B-8B1D-6313B954EA05}" type="presOf" srcId="{A2454744-6A69-4D7F-B424-797E391D9041}" destId="{32602A8D-7A39-5440-BAD0-15CBD021108C}" srcOrd="0" destOrd="0" presId="urn:microsoft.com/office/officeart/2005/8/layout/vList5"/>
    <dgm:cxn modelId="{C134E70C-67B4-554D-B9D4-6039824AE51A}" type="presParOf" srcId="{AB221305-AED2-134A-B129-C8B399879153}" destId="{B140486D-0E2C-8A45-A8C8-F27F6C8F1AE9}" srcOrd="0" destOrd="0" presId="urn:microsoft.com/office/officeart/2005/8/layout/vList5"/>
    <dgm:cxn modelId="{60DF38F0-A673-FA48-8B75-D4374BDA6B90}" type="presParOf" srcId="{B140486D-0E2C-8A45-A8C8-F27F6C8F1AE9}" destId="{9BBDCA7A-8029-E740-A730-6A2402CAA473}" srcOrd="0" destOrd="0" presId="urn:microsoft.com/office/officeart/2005/8/layout/vList5"/>
    <dgm:cxn modelId="{1557887B-E185-264B-9A38-EE5D7A5323D3}" type="presParOf" srcId="{AB221305-AED2-134A-B129-C8B399879153}" destId="{F3949279-DCA9-A540-9F7B-12046290E702}" srcOrd="1" destOrd="0" presId="urn:microsoft.com/office/officeart/2005/8/layout/vList5"/>
    <dgm:cxn modelId="{8452C881-462C-0347-91A9-F8DC2DAD3CE0}" type="presParOf" srcId="{AB221305-AED2-134A-B129-C8B399879153}" destId="{3EB36568-6C2F-6C45-815E-1EC1CE827473}" srcOrd="2" destOrd="0" presId="urn:microsoft.com/office/officeart/2005/8/layout/vList5"/>
    <dgm:cxn modelId="{7C98134F-420F-CB42-BB7B-4A26C0979184}" type="presParOf" srcId="{3EB36568-6C2F-6C45-815E-1EC1CE827473}" destId="{D8AF0DF6-9F3D-7640-8D87-97BE5AEF3F39}" srcOrd="0" destOrd="0" presId="urn:microsoft.com/office/officeart/2005/8/layout/vList5"/>
    <dgm:cxn modelId="{FEC06931-65B2-1541-967C-E208D512DB97}" type="presParOf" srcId="{AB221305-AED2-134A-B129-C8B399879153}" destId="{52D96AD3-6500-CC4D-A709-C9C9C585DDF7}" srcOrd="3" destOrd="0" presId="urn:microsoft.com/office/officeart/2005/8/layout/vList5"/>
    <dgm:cxn modelId="{310B1B84-E37B-4745-AF31-3E8FCEEAB100}" type="presParOf" srcId="{AB221305-AED2-134A-B129-C8B399879153}" destId="{F4AE69A3-946A-7149-9266-1456554EFEC3}" srcOrd="4" destOrd="0" presId="urn:microsoft.com/office/officeart/2005/8/layout/vList5"/>
    <dgm:cxn modelId="{0ABEC1FA-6F9A-504E-BAD7-2AEDD8BD84DF}" type="presParOf" srcId="{F4AE69A3-946A-7149-9266-1456554EFEC3}" destId="{91396535-8AAB-654F-B27F-EAD5E3B73C38}" srcOrd="0" destOrd="0" presId="urn:microsoft.com/office/officeart/2005/8/layout/vList5"/>
    <dgm:cxn modelId="{7367B3E9-9A5A-C94E-97B0-F46513B33BA8}" type="presParOf" srcId="{AB221305-AED2-134A-B129-C8B399879153}" destId="{D360E57B-D480-7C48-A924-925ABF1BC8CD}" srcOrd="5" destOrd="0" presId="urn:microsoft.com/office/officeart/2005/8/layout/vList5"/>
    <dgm:cxn modelId="{50A2AE5A-5133-7647-8D6F-F7FFD5796AC8}" type="presParOf" srcId="{AB221305-AED2-134A-B129-C8B399879153}" destId="{3ACD3099-7365-434B-B1F5-121556B52AB0}" srcOrd="6" destOrd="0" presId="urn:microsoft.com/office/officeart/2005/8/layout/vList5"/>
    <dgm:cxn modelId="{E3B30973-7849-504B-B452-5D476D08E6EE}" type="presParOf" srcId="{3ACD3099-7365-434B-B1F5-121556B52AB0}" destId="{32602A8D-7A39-5440-BAD0-15CBD021108C}" srcOrd="0" destOrd="0" presId="urn:microsoft.com/office/officeart/2005/8/layout/vList5"/>
    <dgm:cxn modelId="{F37B411B-633A-1C44-9047-199A2C2A1B87}" type="presParOf" srcId="{AB221305-AED2-134A-B129-C8B399879153}" destId="{7E1A7FD8-9BE0-2C49-8C4E-EF1C3B632E52}" srcOrd="7" destOrd="0" presId="urn:microsoft.com/office/officeart/2005/8/layout/vList5"/>
    <dgm:cxn modelId="{8550F27E-D060-CC4E-871E-A2D776CA7885}" type="presParOf" srcId="{AB221305-AED2-134A-B129-C8B399879153}" destId="{DAA43E94-262F-2C4C-9A8A-F91A92E471EB}" srcOrd="8" destOrd="0" presId="urn:microsoft.com/office/officeart/2005/8/layout/vList5"/>
    <dgm:cxn modelId="{6C00550C-3B30-B44A-A630-B7F362A331C2}" type="presParOf" srcId="{DAA43E94-262F-2C4C-9A8A-F91A92E471EB}" destId="{7677D3F4-DB70-204F-A382-BF1515381FB2}" srcOrd="0" destOrd="0" presId="urn:microsoft.com/office/officeart/2005/8/layout/vList5"/>
    <dgm:cxn modelId="{8ED92F08-F2F0-434F-A277-09A89198B85D}" type="presParOf" srcId="{AB221305-AED2-134A-B129-C8B399879153}" destId="{6096B35D-4315-FF40-9D97-838A5FB628DB}" srcOrd="9" destOrd="0" presId="urn:microsoft.com/office/officeart/2005/8/layout/vList5"/>
    <dgm:cxn modelId="{0B23D895-F786-4F45-8B86-DF48BDF3A869}" type="presParOf" srcId="{AB221305-AED2-134A-B129-C8B399879153}" destId="{A8DF4CCE-DD3F-6B4B-954D-F2D2FFD232A3}" srcOrd="10" destOrd="0" presId="urn:microsoft.com/office/officeart/2005/8/layout/vList5"/>
    <dgm:cxn modelId="{591B5B03-5DD7-1243-9059-E36E998F0D7E}" type="presParOf" srcId="{A8DF4CCE-DD3F-6B4B-954D-F2D2FFD232A3}" destId="{6A6F7C9E-D933-C045-8963-44571F34148A}"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BDCA7A-8029-E740-A730-6A2402CAA473}">
      <dsp:nvSpPr>
        <dsp:cNvPr id="0" name=""/>
        <dsp:cNvSpPr/>
      </dsp:nvSpPr>
      <dsp:spPr>
        <a:xfrm>
          <a:off x="3364992" y="1195"/>
          <a:ext cx="3785616" cy="695831"/>
        </a:xfrm>
        <a:prstGeom prst="roundRect">
          <a:avLst/>
        </a:prstGeom>
        <a:solidFill>
          <a:schemeClr val="accent3">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Sheltering</a:t>
          </a:r>
        </a:p>
      </dsp:txBody>
      <dsp:txXfrm>
        <a:off x="3398960" y="35163"/>
        <a:ext cx="3717680" cy="627895"/>
      </dsp:txXfrm>
    </dsp:sp>
    <dsp:sp modelId="{D8AF0DF6-9F3D-7640-8D87-97BE5AEF3F39}">
      <dsp:nvSpPr>
        <dsp:cNvPr id="0" name=""/>
        <dsp:cNvSpPr/>
      </dsp:nvSpPr>
      <dsp:spPr>
        <a:xfrm>
          <a:off x="3364992" y="731818"/>
          <a:ext cx="3785616" cy="695831"/>
        </a:xfrm>
        <a:prstGeom prst="roundRect">
          <a:avLst/>
        </a:prstGeom>
        <a:solidFill>
          <a:schemeClr val="accent3">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Feeding</a:t>
          </a:r>
        </a:p>
      </dsp:txBody>
      <dsp:txXfrm>
        <a:off x="3398960" y="765786"/>
        <a:ext cx="3717680" cy="627895"/>
      </dsp:txXfrm>
    </dsp:sp>
    <dsp:sp modelId="{91396535-8AAB-654F-B27F-EAD5E3B73C38}">
      <dsp:nvSpPr>
        <dsp:cNvPr id="0" name=""/>
        <dsp:cNvSpPr/>
      </dsp:nvSpPr>
      <dsp:spPr>
        <a:xfrm>
          <a:off x="3364992" y="1462441"/>
          <a:ext cx="3785616" cy="695831"/>
        </a:xfrm>
        <a:prstGeom prst="roundRect">
          <a:avLst/>
        </a:prstGeom>
        <a:solidFill>
          <a:schemeClr val="accent3">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dirty="0"/>
            <a:t>Distribution of Emergency Supplies (DES)</a:t>
          </a:r>
        </a:p>
      </dsp:txBody>
      <dsp:txXfrm>
        <a:off x="3398960" y="1496409"/>
        <a:ext cx="3717680" cy="627895"/>
      </dsp:txXfrm>
    </dsp:sp>
    <dsp:sp modelId="{32602A8D-7A39-5440-BAD0-15CBD021108C}">
      <dsp:nvSpPr>
        <dsp:cNvPr id="0" name=""/>
        <dsp:cNvSpPr/>
      </dsp:nvSpPr>
      <dsp:spPr>
        <a:xfrm>
          <a:off x="3364992" y="2193064"/>
          <a:ext cx="3785616" cy="695831"/>
        </a:xfrm>
        <a:prstGeom prst="roundRect">
          <a:avLst/>
        </a:prstGeom>
        <a:solidFill>
          <a:schemeClr val="accent3">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dirty="0"/>
            <a:t>Recovery/Client Care</a:t>
          </a:r>
        </a:p>
      </dsp:txBody>
      <dsp:txXfrm>
        <a:off x="3398960" y="2227032"/>
        <a:ext cx="3717680" cy="627895"/>
      </dsp:txXfrm>
    </dsp:sp>
    <dsp:sp modelId="{7677D3F4-DB70-204F-A382-BF1515381FB2}">
      <dsp:nvSpPr>
        <dsp:cNvPr id="0" name=""/>
        <dsp:cNvSpPr/>
      </dsp:nvSpPr>
      <dsp:spPr>
        <a:xfrm>
          <a:off x="3364992" y="2923688"/>
          <a:ext cx="3785616" cy="695831"/>
        </a:xfrm>
        <a:prstGeom prst="roundRect">
          <a:avLst/>
        </a:prstGeom>
        <a:solidFill>
          <a:schemeClr val="accent3">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Government Operations</a:t>
          </a:r>
        </a:p>
      </dsp:txBody>
      <dsp:txXfrm>
        <a:off x="3398960" y="2957656"/>
        <a:ext cx="3717680" cy="627895"/>
      </dsp:txXfrm>
    </dsp:sp>
    <dsp:sp modelId="{6A6F7C9E-D933-C045-8963-44571F34148A}">
      <dsp:nvSpPr>
        <dsp:cNvPr id="0" name=""/>
        <dsp:cNvSpPr/>
      </dsp:nvSpPr>
      <dsp:spPr>
        <a:xfrm>
          <a:off x="3364992" y="3654311"/>
          <a:ext cx="3785616" cy="695831"/>
        </a:xfrm>
        <a:prstGeom prst="roundRect">
          <a:avLst/>
        </a:prstGeom>
        <a:solidFill>
          <a:schemeClr val="accent3">
            <a:lumMod val="60000"/>
            <a:lumOff val="40000"/>
          </a:schemeClr>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kern="1200"/>
            <a:t>Reunification</a:t>
          </a:r>
        </a:p>
      </dsp:txBody>
      <dsp:txXfrm>
        <a:off x="3398960" y="3688279"/>
        <a:ext cx="3717680" cy="627895"/>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794E8F-CE3F-D547-98AD-D11CE186C3A3}" type="datetimeFigureOut">
              <a:rPr lang="en-US" smtClean="0"/>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683C2C-4D76-D848-8078-3627E5062973}" type="slidenum">
              <a:rPr lang="en-US" smtClean="0"/>
              <a:t>‹#›</a:t>
            </a:fld>
            <a:endParaRPr lang="en-US"/>
          </a:p>
        </p:txBody>
      </p:sp>
    </p:spTree>
    <p:extLst>
      <p:ext uri="{BB962C8B-B14F-4D97-AF65-F5344CB8AC3E}">
        <p14:creationId xmlns:p14="http://schemas.microsoft.com/office/powerpoint/2010/main" val="129385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3825" y="2338388"/>
            <a:ext cx="11220450" cy="63119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rPr>
              <a:t>Emphasize that Montgomery County is part of Delaware Valley Chapter. Two chapters make up the SEPA region. The region reports to a district. And the District reports to the National.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rPr>
              <a:t>The steady state Red Cross organization is organized geographically.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baseline="0" dirty="0">
              <a:solidFill>
                <a:schemeClr val="tx1"/>
              </a:solidFill>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baseline="0" dirty="0">
                <a:solidFill>
                  <a:schemeClr val="tx1"/>
                </a:solidFill>
              </a:rPr>
              <a:t>This</a:t>
            </a:r>
            <a:r>
              <a:rPr lang="en-US" sz="1200" b="1" baseline="0" dirty="0">
                <a:solidFill>
                  <a:schemeClr val="tx1"/>
                </a:solidFill>
              </a:rPr>
              <a:t> structure enables </a:t>
            </a:r>
            <a:r>
              <a:rPr lang="en-US" sz="1200" b="0" baseline="0" dirty="0">
                <a:solidFill>
                  <a:schemeClr val="tx1"/>
                </a:solidFill>
              </a:rPr>
              <a:t>us to:</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1" baseline="0" dirty="0">
                <a:solidFill>
                  <a:schemeClr val="tx1"/>
                </a:solidFill>
              </a:rPr>
              <a:t>Leverage local knowledge </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1" baseline="0" dirty="0">
                <a:solidFill>
                  <a:schemeClr val="tx1"/>
                </a:solidFill>
              </a:rPr>
              <a:t>Collaborate</a:t>
            </a:r>
            <a:r>
              <a:rPr lang="en-US" sz="1200" baseline="0" dirty="0">
                <a:solidFill>
                  <a:schemeClr val="tx1"/>
                </a:solidFill>
              </a:rPr>
              <a:t> with partners and the community </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1" baseline="0" dirty="0">
                <a:solidFill>
                  <a:schemeClr val="tx1"/>
                </a:solidFill>
              </a:rPr>
              <a:t>Align</a:t>
            </a:r>
            <a:r>
              <a:rPr lang="en-US" sz="1200" baseline="0" dirty="0">
                <a:solidFill>
                  <a:schemeClr val="tx1"/>
                </a:solidFill>
              </a:rPr>
              <a:t> with partners at every level of government</a:t>
            </a:r>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1" baseline="0" dirty="0">
                <a:solidFill>
                  <a:schemeClr val="tx1"/>
                </a:solidFill>
              </a:rPr>
              <a:t>Mobilize quickly </a:t>
            </a:r>
            <a:r>
              <a:rPr lang="en-US" sz="1200" baseline="0" dirty="0">
                <a:solidFill>
                  <a:schemeClr val="tx1"/>
                </a:solidFill>
              </a:rPr>
              <a:t>in times of disaster.</a:t>
            </a:r>
          </a:p>
          <a:p>
            <a:pPr marL="0" marR="0" indent="0" algn="l" defTabSz="914400" rtl="0" eaLnBrk="1" fontAlgn="auto" latinLnBrk="0" hangingPunct="1">
              <a:lnSpc>
                <a:spcPct val="100000"/>
              </a:lnSpc>
              <a:spcBef>
                <a:spcPts val="0"/>
              </a:spcBef>
              <a:spcAft>
                <a:spcPts val="0"/>
              </a:spcAft>
              <a:buClrTx/>
              <a:buSzTx/>
              <a:buFont typeface="Arial" charset="0"/>
              <a:buNone/>
              <a:tabLst/>
              <a:defRPr/>
            </a:pPr>
            <a:endParaRPr lang="en-US" sz="1200" baseline="0" dirty="0">
              <a:solidFill>
                <a:schemeClr val="tx1"/>
              </a:solidFill>
            </a:endParaRPr>
          </a:p>
          <a:p>
            <a:pPr>
              <a:defRPr/>
            </a:pPr>
            <a:r>
              <a:rPr lang="en-US" sz="1200" baseline="0" dirty="0">
                <a:solidFill>
                  <a:schemeClr val="tx1"/>
                </a:solidFill>
              </a:rPr>
              <a:t>Our county is within the </a:t>
            </a:r>
            <a:r>
              <a:rPr lang="en-US" dirty="0"/>
              <a:t>Southeastern PA </a:t>
            </a:r>
            <a:r>
              <a:rPr lang="en-US" sz="1200" baseline="0" dirty="0">
                <a:solidFill>
                  <a:schemeClr val="tx1"/>
                </a:solidFill>
              </a:rPr>
              <a:t>Region (aka</a:t>
            </a:r>
            <a:r>
              <a:rPr lang="en-US" dirty="0"/>
              <a:t>: SEPA). </a:t>
            </a:r>
            <a:r>
              <a:rPr lang="en-US" sz="1200" baseline="0" dirty="0">
                <a:solidFill>
                  <a:schemeClr val="tx1"/>
                </a:solidFill>
              </a:rPr>
              <a:t> The </a:t>
            </a:r>
            <a:r>
              <a:rPr lang="en-US" dirty="0"/>
              <a:t>SEPA Offices</a:t>
            </a:r>
            <a:r>
              <a:rPr lang="en-US" sz="1200" baseline="0" dirty="0">
                <a:solidFill>
                  <a:schemeClr val="tx1"/>
                </a:solidFill>
              </a:rPr>
              <a:t> are in </a:t>
            </a:r>
            <a:r>
              <a:rPr lang="en-US" dirty="0"/>
              <a:t>Philadelphia.</a:t>
            </a:r>
            <a:endParaRPr lang="en-US" sz="1200" baseline="0" dirty="0">
              <a:solidFill>
                <a:schemeClr val="tx1"/>
              </a:solidFill>
              <a:cs typeface="Calibri"/>
            </a:endParaRPr>
          </a:p>
        </p:txBody>
      </p:sp>
      <p:sp>
        <p:nvSpPr>
          <p:cNvPr id="4" name="Date Placeholder 3"/>
          <p:cNvSpPr>
            <a:spLocks noGrp="1"/>
          </p:cNvSpPr>
          <p:nvPr>
            <p:ph type="dt" idx="10"/>
          </p:nvPr>
        </p:nvSpPr>
        <p:spPr/>
        <p:txBody>
          <a:bodyPr/>
          <a:lstStyle/>
          <a:p>
            <a:endParaRPr lang="en-US"/>
          </a:p>
        </p:txBody>
      </p:sp>
    </p:spTree>
    <p:extLst>
      <p:ext uri="{BB962C8B-B14F-4D97-AF65-F5344CB8AC3E}">
        <p14:creationId xmlns:p14="http://schemas.microsoft.com/office/powerpoint/2010/main" val="892556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67526-0E34-AF02-00B3-FFADE26178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749913-BA48-F5E2-D3B2-DF8D7EB1F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7D082F-20FC-0368-6CDB-ED2B3A214558}"/>
              </a:ext>
            </a:extLst>
          </p:cNvPr>
          <p:cNvSpPr>
            <a:spLocks noGrp="1"/>
          </p:cNvSpPr>
          <p:nvPr>
            <p:ph type="body" idx="1"/>
          </p:nvPr>
        </p:nvSpPr>
        <p:spPr>
          <a:xfrm>
            <a:off x="293914" y="4560570"/>
            <a:ext cx="6716486" cy="4541098"/>
          </a:xfrm>
        </p:spPr>
        <p:txBody>
          <a:bodyPr/>
          <a:lstStyle/>
          <a:p>
            <a:r>
              <a:rPr lang="en-US" dirty="0"/>
              <a:t>Explain how one signs up to be a volunteer. Heather does NOT want this to be a recruitment presentation. </a:t>
            </a:r>
          </a:p>
        </p:txBody>
      </p:sp>
    </p:spTree>
    <p:extLst>
      <p:ext uri="{BB962C8B-B14F-4D97-AF65-F5344CB8AC3E}">
        <p14:creationId xmlns:p14="http://schemas.microsoft.com/office/powerpoint/2010/main" val="3165922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3825" y="2338388"/>
            <a:ext cx="11220450" cy="6311900"/>
          </a:xfrm>
        </p:spPr>
      </p:sp>
      <p:sp>
        <p:nvSpPr>
          <p:cNvPr id="3" name="Notes Placeholder 2"/>
          <p:cNvSpPr>
            <a:spLocks noGrp="1"/>
          </p:cNvSpPr>
          <p:nvPr>
            <p:ph type="body" idx="1"/>
          </p:nvPr>
        </p:nvSpPr>
        <p:spPr/>
        <p:txBody>
          <a:bodyPr/>
          <a:lstStyle/>
          <a:p>
            <a:pPr marL="0" indent="0">
              <a:buFont typeface="Arial" charset="0"/>
              <a:buNone/>
              <a:defRPr/>
            </a:pPr>
            <a:r>
              <a:rPr lang="en-US" b="1" dirty="0"/>
              <a:t>Begin running through DCS.  The first few slides are examples of how we prepare (this is not an all encompassing presentation)  </a:t>
            </a:r>
            <a:endParaRPr lang="en-US" sz="1200" b="1" baseline="0" dirty="0">
              <a:cs typeface="Calibri"/>
            </a:endParaRPr>
          </a:p>
          <a:p>
            <a:pPr marL="171450" lvl="0" indent="-171450">
              <a:buFont typeface="Arial" charset="0"/>
              <a:buChar char="•"/>
            </a:pPr>
            <a:endParaRPr lang="en-US" sz="1200" kern="1200" dirty="0">
              <a:solidFill>
                <a:schemeClr val="tx1"/>
              </a:solidFill>
              <a:effectLst/>
              <a:latin typeface="+mn-lt"/>
              <a:ea typeface="+mn-ea"/>
              <a:cs typeface="+mn-cs"/>
            </a:endParaRPr>
          </a:p>
        </p:txBody>
      </p:sp>
      <p:sp>
        <p:nvSpPr>
          <p:cNvPr id="4" name="Date Placeholder 3"/>
          <p:cNvSpPr>
            <a:spLocks noGrp="1"/>
          </p:cNvSpPr>
          <p:nvPr>
            <p:ph type="dt" idx="10"/>
          </p:nvPr>
        </p:nvSpPr>
        <p:spPr/>
        <p:txBody>
          <a:bodyPr/>
          <a:lstStyle/>
          <a:p>
            <a:endParaRPr lang="en-US"/>
          </a:p>
        </p:txBody>
      </p:sp>
    </p:spTree>
    <p:extLst>
      <p:ext uri="{BB962C8B-B14F-4D97-AF65-F5344CB8AC3E}">
        <p14:creationId xmlns:p14="http://schemas.microsoft.com/office/powerpoint/2010/main" val="4125353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3825" y="2338388"/>
            <a:ext cx="11220450" cy="6311900"/>
          </a:xfrm>
        </p:spPr>
      </p:sp>
      <p:sp>
        <p:nvSpPr>
          <p:cNvPr id="3" name="Notes Placeholder 2"/>
          <p:cNvSpPr>
            <a:spLocks noGrp="1"/>
          </p:cNvSpPr>
          <p:nvPr>
            <p:ph type="body" idx="1"/>
          </p:nvPr>
        </p:nvSpPr>
        <p:spPr/>
        <p:txBody>
          <a:bodyPr/>
          <a:lstStyle/>
          <a:p>
            <a:r>
              <a:rPr lang="en-US" sz="1200" b="1" i="0" kern="1200" dirty="0">
                <a:solidFill>
                  <a:schemeClr val="tx1"/>
                </a:solidFill>
                <a:latin typeface="+mn-lt"/>
                <a:ea typeface="+mn-ea"/>
                <a:cs typeface="+mn-cs"/>
              </a:rPr>
              <a:t>LOGISTICS:</a:t>
            </a:r>
          </a:p>
          <a:p>
            <a:pPr marL="171450" indent="-171450">
              <a:buFont typeface="Arial" charset="0"/>
              <a:buChar char="•"/>
            </a:pPr>
            <a:r>
              <a:rPr lang="en-US" sz="1200" b="0" i="0" kern="1200" baseline="0" dirty="0">
                <a:solidFill>
                  <a:schemeClr val="tx1"/>
                </a:solidFill>
                <a:latin typeface="+mn-lt"/>
                <a:ea typeface="+mn-ea"/>
                <a:cs typeface="+mn-cs"/>
              </a:rPr>
              <a:t>Inventory and restock trailers with disaster supplies on a scheduled basis</a:t>
            </a:r>
            <a:endParaRPr lang="en-US" sz="1200" b="0" i="0" kern="1200" baseline="0" dirty="0">
              <a:solidFill>
                <a:schemeClr val="tx1"/>
              </a:solidFill>
              <a:latin typeface="+mn-lt"/>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0" i="0" kern="1200" baseline="0" dirty="0">
                <a:solidFill>
                  <a:schemeClr val="tx1"/>
                </a:solidFill>
                <a:latin typeface="+mn-lt"/>
                <a:ea typeface="+mn-ea"/>
                <a:cs typeface="+mn-cs"/>
              </a:rPr>
              <a:t>Supply DAT teams (comfort kits, blankets, snacks, water etc.)</a:t>
            </a:r>
            <a:endParaRPr lang="en-US" sz="1200" b="0" i="0" kern="1200" baseline="0" dirty="0">
              <a:solidFill>
                <a:schemeClr val="tx1"/>
              </a:solidFill>
              <a:latin typeface="+mn-lt"/>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0" i="0" kern="1200" dirty="0">
                <a:solidFill>
                  <a:schemeClr val="tx1"/>
                </a:solidFill>
                <a:latin typeface="+mn-lt"/>
                <a:ea typeface="+mn-ea"/>
                <a:cs typeface="+mn-cs"/>
              </a:rPr>
              <a:t>Ensure</a:t>
            </a:r>
            <a:r>
              <a:rPr lang="en-US" sz="1200" b="0" i="0" kern="1200" baseline="0" dirty="0">
                <a:solidFill>
                  <a:schemeClr val="tx1"/>
                </a:solidFill>
                <a:latin typeface="+mn-lt"/>
                <a:ea typeface="+mn-ea"/>
                <a:cs typeface="+mn-cs"/>
              </a:rPr>
              <a:t> vehicle fleet and trailers are safe and ready to roll</a:t>
            </a:r>
            <a:endParaRPr lang="en-US" sz="1200" b="0" i="0" kern="1200" baseline="0" dirty="0">
              <a:solidFill>
                <a:schemeClr val="tx1"/>
              </a:solidFill>
              <a:latin typeface="+mn-lt"/>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0" i="0" kern="1200" baseline="0" dirty="0">
                <a:solidFill>
                  <a:schemeClr val="tx1"/>
                </a:solidFill>
                <a:latin typeface="+mn-lt"/>
                <a:ea typeface="+mn-ea"/>
                <a:cs typeface="+mn-cs"/>
              </a:rPr>
              <a:t>Plan for effective </a:t>
            </a:r>
            <a:r>
              <a:rPr lang="en-US" dirty="0"/>
              <a:t>facility</a:t>
            </a:r>
            <a:r>
              <a:rPr lang="en-US" sz="1200" b="0" i="0" kern="1200" baseline="0" dirty="0">
                <a:solidFill>
                  <a:schemeClr val="tx1"/>
                </a:solidFill>
                <a:latin typeface="+mn-lt"/>
                <a:ea typeface="+mn-ea"/>
                <a:cs typeface="+mn-cs"/>
              </a:rPr>
              <a:t> and fleet management during local disasters</a:t>
            </a:r>
            <a:endParaRPr lang="en-US" sz="1200" b="0" i="0" kern="1200" baseline="0" dirty="0">
              <a:solidFill>
                <a:schemeClr val="tx1"/>
              </a:solidFill>
              <a:latin typeface="+mn-lt"/>
              <a:cs typeface="Calibri"/>
            </a:endParaRPr>
          </a:p>
          <a:p>
            <a:pPr marL="171450" marR="0" lvl="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0" i="0" kern="1200" baseline="0" dirty="0">
                <a:solidFill>
                  <a:schemeClr val="tx1"/>
                </a:solidFill>
                <a:latin typeface="+mn-lt"/>
                <a:ea typeface="+mn-ea"/>
                <a:cs typeface="+mn-cs"/>
              </a:rPr>
              <a:t>Inspect </a:t>
            </a:r>
            <a:r>
              <a:rPr lang="en-US" dirty="0"/>
              <a:t>facilities</a:t>
            </a:r>
            <a:r>
              <a:rPr lang="en-US" sz="1200" b="0" i="0" kern="1200" baseline="0" dirty="0">
                <a:solidFill>
                  <a:schemeClr val="tx1"/>
                </a:solidFill>
                <a:latin typeface="+mn-lt"/>
                <a:ea typeface="+mn-ea"/>
                <a:cs typeface="+mn-cs"/>
              </a:rPr>
              <a:t> for appropriate use during local disasters (in conjunction with Mass Care)</a:t>
            </a:r>
          </a:p>
          <a:p>
            <a:pPr marL="171450" indent="-171450">
              <a:buFont typeface="Arial" charset="0"/>
              <a:buChar char="•"/>
            </a:pPr>
            <a:endParaRPr lang="en-US" sz="1200" b="0" i="0" kern="1200" baseline="0" dirty="0">
              <a:solidFill>
                <a:schemeClr val="tx1"/>
              </a:solidFill>
              <a:latin typeface="+mn-lt"/>
              <a:ea typeface="+mn-ea"/>
              <a:cs typeface="+mn-cs"/>
            </a:endParaRPr>
          </a:p>
          <a:p>
            <a:r>
              <a:rPr lang="en-US" b="1" i="1" dirty="0"/>
              <a:t> </a:t>
            </a:r>
            <a:endParaRPr lang="en-US" i="0" dirty="0"/>
          </a:p>
          <a:p>
            <a:pPr marL="171450" indent="-171450">
              <a:buFont typeface="Arial" charset="0"/>
              <a:buChar char="•"/>
            </a:pPr>
            <a:endParaRPr lang="en-US" b="0" i="0" baseline="0" dirty="0"/>
          </a:p>
          <a:p>
            <a:pPr marL="171450" indent="-171450">
              <a:buFont typeface="Arial" charset="0"/>
              <a:buChar char="•"/>
            </a:pPr>
            <a:endParaRPr lang="en-US" b="0" i="0" dirty="0"/>
          </a:p>
          <a:p>
            <a:pPr marL="171450" indent="-171450">
              <a:buFont typeface="Arial" charset="0"/>
              <a:buChar char="•"/>
            </a:pPr>
            <a:endParaRPr lang="en-US" i="0" dirty="0"/>
          </a:p>
          <a:p>
            <a:endParaRPr lang="en-US" dirty="0"/>
          </a:p>
        </p:txBody>
      </p:sp>
      <p:sp>
        <p:nvSpPr>
          <p:cNvPr id="4" name="Date Placeholder 3"/>
          <p:cNvSpPr>
            <a:spLocks noGrp="1"/>
          </p:cNvSpPr>
          <p:nvPr>
            <p:ph type="dt" idx="10"/>
          </p:nvPr>
        </p:nvSpPr>
        <p:spPr/>
        <p:txBody>
          <a:bodyPr/>
          <a:lstStyle/>
          <a:p>
            <a:endParaRPr lang="en-US"/>
          </a:p>
        </p:txBody>
      </p:sp>
    </p:spTree>
    <p:extLst>
      <p:ext uri="{BB962C8B-B14F-4D97-AF65-F5344CB8AC3E}">
        <p14:creationId xmlns:p14="http://schemas.microsoft.com/office/powerpoint/2010/main" val="3424582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933825" y="2338388"/>
            <a:ext cx="11220450" cy="6311900"/>
          </a:xfrm>
        </p:spPr>
      </p:sp>
      <p:sp>
        <p:nvSpPr>
          <p:cNvPr id="3" name="Notes Placeholder 2"/>
          <p:cNvSpPr>
            <a:spLocks noGrp="1"/>
          </p:cNvSpPr>
          <p:nvPr>
            <p:ph type="body" idx="1"/>
          </p:nvPr>
        </p:nvSpPr>
        <p:spPr/>
        <p:txBody>
          <a:bodyPr/>
          <a:lstStyle/>
          <a:p>
            <a:pPr marL="171450" indent="-171450">
              <a:buFont typeface="Arial" charset="0"/>
              <a:buChar char="•"/>
            </a:pPr>
            <a:endParaRPr lang="en-US" b="0" baseline="0" dirty="0">
              <a:cs typeface="Calibri"/>
            </a:endParaRPr>
          </a:p>
          <a:p>
            <a:pPr marL="0" lvl="0" indent="0">
              <a:buFont typeface="Arial" charset="0"/>
              <a:buNone/>
            </a:pPr>
            <a:endParaRPr lang="en-US" b="1" baseline="0" dirty="0"/>
          </a:p>
          <a:p>
            <a:r>
              <a:rPr lang="en-US" b="1" baseline="0" dirty="0"/>
              <a:t>If a DAT response escalates beyond what the team can handle, they escalate the response, drawing on additional local, District, Regional or National Red Cross resources AND WE TRANSITION FROM STEADY STATE TO </a:t>
            </a:r>
            <a:r>
              <a:rPr lang="en-US" b="1" dirty="0"/>
              <a:t>OPERATIONAL </a:t>
            </a:r>
            <a:r>
              <a:rPr lang="en-US" b="1" baseline="0" dirty="0"/>
              <a:t>status immediately.</a:t>
            </a:r>
            <a:endParaRPr lang="en-US" b="1" baseline="0" dirty="0">
              <a:cs typeface="Calibri"/>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dirty="0"/>
              <a:t>DAT is </a:t>
            </a:r>
            <a:r>
              <a:rPr lang="en-US" b="1" u="none" baseline="0" dirty="0"/>
              <a:t>the heartbeat of the local American Red Cross p</a:t>
            </a:r>
            <a:r>
              <a:rPr lang="en-US" b="1" baseline="0" dirty="0"/>
              <a:t>roviding immediate response to those impacted by local disasters:</a:t>
            </a:r>
          </a:p>
          <a:p>
            <a:pPr marL="171450" indent="-171450">
              <a:buFont typeface="Arial" charset="0"/>
              <a:buChar char="•"/>
              <a:defRPr/>
            </a:pPr>
            <a:r>
              <a:rPr lang="en-US" b="0" baseline="0" dirty="0"/>
              <a:t>DAT Teams are </a:t>
            </a:r>
            <a:r>
              <a:rPr lang="en-US" b="0" u="sng" baseline="0" dirty="0"/>
              <a:t>activated </a:t>
            </a:r>
            <a:r>
              <a:rPr lang="en-US" u="sng" dirty="0"/>
              <a:t>by a Duty Officer</a:t>
            </a:r>
            <a:r>
              <a:rPr lang="en-US" b="0" baseline="0" dirty="0"/>
              <a:t>.</a:t>
            </a:r>
            <a:r>
              <a:rPr lang="en-US" dirty="0"/>
              <a:t>  </a:t>
            </a:r>
            <a:endParaRPr lang="en-US" b="0" baseline="0" dirty="0">
              <a:cs typeface="Calibri"/>
            </a:endParaRPr>
          </a:p>
          <a:p>
            <a:pPr marL="171450" indent="-171450">
              <a:buFont typeface="Arial" charset="0"/>
              <a:buChar char="•"/>
              <a:defRPr/>
            </a:pPr>
            <a:r>
              <a:rPr lang="en-US" dirty="0"/>
              <a:t>Larger</a:t>
            </a:r>
            <a:r>
              <a:rPr lang="en-US" b="0" baseline="0" dirty="0"/>
              <a:t> scale responses (called Disaster Relief Operation) like the </a:t>
            </a:r>
            <a:r>
              <a:rPr lang="en-US" dirty="0"/>
              <a:t>recent MFF in the Tioga section of Philadelphia began</a:t>
            </a:r>
            <a:r>
              <a:rPr lang="en-US" b="0" baseline="0" dirty="0"/>
              <a:t> with a DAT response.</a:t>
            </a:r>
            <a:endParaRPr lang="en-US" b="0" baseline="0" dirty="0">
              <a:cs typeface="Calibri"/>
            </a:endParaRPr>
          </a:p>
          <a:p>
            <a:pPr marL="171450" indent="-171450">
              <a:buFont typeface="Arial" charset="0"/>
              <a:buChar char="•"/>
              <a:defRPr/>
            </a:pPr>
            <a:r>
              <a:rPr lang="en-US" b="0" baseline="0" dirty="0"/>
              <a:t>DAT Teams </a:t>
            </a:r>
            <a:r>
              <a:rPr lang="en-US" b="0" u="sng" baseline="0" dirty="0"/>
              <a:t>assess damage</a:t>
            </a:r>
            <a:r>
              <a:rPr lang="en-US" b="0" baseline="0" dirty="0"/>
              <a:t>, client’s </a:t>
            </a:r>
            <a:r>
              <a:rPr lang="en-US" b="0" u="sng" baseline="0" dirty="0"/>
              <a:t>post disaster needs </a:t>
            </a:r>
            <a:r>
              <a:rPr lang="en-US" b="0" baseline="0" dirty="0"/>
              <a:t>and </a:t>
            </a:r>
            <a:r>
              <a:rPr lang="en-US" b="1" u="sng" baseline="0" dirty="0"/>
              <a:t>offer immediate assistance in </a:t>
            </a:r>
            <a:r>
              <a:rPr lang="en-US" b="1" u="sng" dirty="0"/>
              <a:t>the form </a:t>
            </a:r>
            <a:r>
              <a:rPr lang="en-US" b="1" u="sng" baseline="0" dirty="0"/>
              <a:t>of CAC </a:t>
            </a:r>
            <a:r>
              <a:rPr lang="en-US" b="0" baseline="0" dirty="0"/>
              <a:t>activated using mobile device or computer.</a:t>
            </a:r>
            <a:r>
              <a:rPr lang="en-US" dirty="0"/>
              <a:t> </a:t>
            </a:r>
            <a:r>
              <a:rPr lang="en-US" b="0" baseline="0" dirty="0"/>
              <a:t> Value of CAC uses a</a:t>
            </a:r>
            <a:r>
              <a:rPr lang="en-US" sz="1200" kern="1200" dirty="0">
                <a:solidFill>
                  <a:schemeClr val="tx1"/>
                </a:solidFill>
                <a:effectLst/>
                <a:latin typeface="+mn-lt"/>
                <a:ea typeface="+mn-ea"/>
                <a:cs typeface="+mn-cs"/>
              </a:rPr>
              <a:t> simple formula based on need, livability of home and number of family members.</a:t>
            </a:r>
            <a:r>
              <a:rPr lang="en-US" dirty="0"/>
              <a:t> </a:t>
            </a:r>
            <a:endParaRPr lang="en-US" dirty="0">
              <a:effectLst/>
              <a:cs typeface="Calibri"/>
            </a:endParaRPr>
          </a:p>
          <a:p>
            <a:endParaRPr lang="en-US" dirty="0">
              <a:cs typeface="Calibri"/>
            </a:endParaRPr>
          </a:p>
          <a:p>
            <a:r>
              <a:rPr lang="en-US" b="1" dirty="0"/>
              <a:t>DAT makes</a:t>
            </a:r>
            <a:r>
              <a:rPr lang="en-US" b="1" baseline="0" dirty="0"/>
              <a:t> referrals to other Red Cross volunteers or community resources for:</a:t>
            </a:r>
            <a:r>
              <a:rPr lang="en-US" b="1" dirty="0"/>
              <a:t> </a:t>
            </a:r>
            <a:endParaRPr lang="en-US" b="1" dirty="0">
              <a:cs typeface="Calibri"/>
            </a:endParaRPr>
          </a:p>
          <a:p>
            <a:pPr marL="171450" lvl="0" indent="-171450">
              <a:buFont typeface="Arial" charset="0"/>
              <a:buChar char="•"/>
            </a:pPr>
            <a:r>
              <a:rPr lang="en-US" b="1" i="1" dirty="0"/>
              <a:t>Medical needs </a:t>
            </a:r>
            <a:r>
              <a:rPr lang="en-US" b="0" i="1" dirty="0"/>
              <a:t>(</a:t>
            </a:r>
            <a:r>
              <a:rPr lang="en-US" b="0" i="0" baseline="0" dirty="0"/>
              <a:t>provided by team members with professional licenses and specialized training)</a:t>
            </a:r>
            <a:endParaRPr lang="en-US" b="0" i="1" dirty="0"/>
          </a:p>
          <a:p>
            <a:pPr marL="171450" lvl="0" indent="-171450">
              <a:buFont typeface="Arial" charset="0"/>
              <a:buChar char="•"/>
            </a:pPr>
            <a:r>
              <a:rPr lang="en-US" b="1" i="1" dirty="0"/>
              <a:t>Mental health counseling </a:t>
            </a:r>
            <a:r>
              <a:rPr lang="en-US" b="0" i="1" dirty="0"/>
              <a:t>(</a:t>
            </a:r>
            <a:r>
              <a:rPr lang="en-US" b="0" i="0" baseline="0" dirty="0"/>
              <a:t>provided by team members with professional licenses and specialized training)</a:t>
            </a:r>
            <a:endParaRPr lang="en-US" b="0" i="0" baseline="0" dirty="0">
              <a:cs typeface="Calibri"/>
            </a:endParaRPr>
          </a:p>
          <a:p>
            <a:pPr marL="171450" lvl="0" indent="-171450">
              <a:buFont typeface="Arial" charset="0"/>
              <a:buChar char="•"/>
            </a:pPr>
            <a:r>
              <a:rPr lang="en-US" b="1" i="1" baseline="0" dirty="0"/>
              <a:t>Spiritual Care needs </a:t>
            </a:r>
            <a:r>
              <a:rPr lang="en-US" b="0" i="1" baseline="0" dirty="0"/>
              <a:t>(provided by volunteers who have been Chaplains with other organizations)</a:t>
            </a:r>
            <a:endParaRPr lang="en-US" b="1" i="1" baseline="0" dirty="0"/>
          </a:p>
          <a:p>
            <a:pPr marL="171450" lvl="0" indent="-171450">
              <a:buFont typeface="Arial" charset="0"/>
              <a:buChar char="•"/>
            </a:pPr>
            <a:r>
              <a:rPr lang="en-US" b="1" i="1" baseline="0" dirty="0"/>
              <a:t>Longer term needs such as housing</a:t>
            </a:r>
            <a:endParaRPr lang="en-US" b="1" i="1" dirty="0">
              <a:cs typeface="Calibri"/>
            </a:endParaRPr>
          </a:p>
          <a:p>
            <a:pPr lvl="0"/>
            <a:endParaRPr lang="en-US" b="1" i="0" dirty="0"/>
          </a:p>
          <a:p>
            <a:r>
              <a:rPr lang="en-US" b="1" i="0" dirty="0"/>
              <a:t>TYPICALLY</a:t>
            </a:r>
            <a:r>
              <a:rPr lang="en-US" b="1" i="0" baseline="0" dirty="0"/>
              <a:t> </a:t>
            </a:r>
            <a:r>
              <a:rPr lang="en-US" b="1" dirty="0"/>
              <a:t>HOW MANY? HOW MANY? +-</a:t>
            </a:r>
            <a:r>
              <a:rPr lang="en-US" b="1" i="0" baseline="0" dirty="0"/>
              <a:t> DAT RESPONSES PER YEAR IN </a:t>
            </a:r>
            <a:r>
              <a:rPr lang="en-US" b="1" dirty="0"/>
              <a:t>SEPA Region</a:t>
            </a:r>
            <a:r>
              <a:rPr lang="en-US" b="1" i="0" baseline="0" dirty="0"/>
              <a:t>.</a:t>
            </a:r>
            <a:r>
              <a:rPr lang="en-US" b="1" dirty="0"/>
              <a:t> </a:t>
            </a:r>
            <a:r>
              <a:rPr lang="en-US" b="1" i="0" baseline="0" dirty="0"/>
              <a:t> </a:t>
            </a:r>
            <a:endParaRPr lang="en-US" b="1" dirty="0"/>
          </a:p>
          <a:p>
            <a:r>
              <a:rPr lang="en-US" b="1" dirty="0"/>
              <a:t> About THIS MANY in Bucks County</a:t>
            </a:r>
            <a:endParaRPr lang="en-US" b="1" i="0" baseline="0" dirty="0">
              <a:cs typeface="Calibri"/>
            </a:endParaRPr>
          </a:p>
          <a:p>
            <a:r>
              <a:rPr lang="en-US" b="1" dirty="0"/>
              <a:t> About THIS MANY in Chester County</a:t>
            </a:r>
            <a:endParaRPr lang="en-US" dirty="0"/>
          </a:p>
          <a:p>
            <a:r>
              <a:rPr lang="en-US" b="1" dirty="0"/>
              <a:t> About THIS MANY in Delaware County</a:t>
            </a:r>
            <a:endParaRPr lang="en-US" dirty="0"/>
          </a:p>
          <a:p>
            <a:r>
              <a:rPr lang="en-US" b="1" dirty="0"/>
              <a:t> About THIS MANY in Montgomery County</a:t>
            </a:r>
            <a:endParaRPr lang="en-US" dirty="0"/>
          </a:p>
          <a:p>
            <a:r>
              <a:rPr lang="en-US" b="1" dirty="0"/>
              <a:t> About THIS MANY in Philadelphia County</a:t>
            </a:r>
            <a:endParaRPr lang="en-US" dirty="0"/>
          </a:p>
          <a:p>
            <a:endParaRPr lang="en-US" b="1" dirty="0">
              <a:cs typeface="Calibri"/>
            </a:endParaRPr>
          </a:p>
        </p:txBody>
      </p:sp>
      <p:sp>
        <p:nvSpPr>
          <p:cNvPr id="4" name="Date Placeholder 3"/>
          <p:cNvSpPr>
            <a:spLocks noGrp="1"/>
          </p:cNvSpPr>
          <p:nvPr>
            <p:ph type="dt" idx="10"/>
          </p:nvPr>
        </p:nvSpPr>
        <p:spPr/>
        <p:txBody>
          <a:bodyPr/>
          <a:lstStyle/>
          <a:p>
            <a:endParaRPr lang="en-US"/>
          </a:p>
        </p:txBody>
      </p:sp>
    </p:spTree>
    <p:extLst>
      <p:ext uri="{BB962C8B-B14F-4D97-AF65-F5344CB8AC3E}">
        <p14:creationId xmlns:p14="http://schemas.microsoft.com/office/powerpoint/2010/main" val="1518769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INSTRUCTOR: Please review the points below.</a:t>
            </a:r>
          </a:p>
          <a:p>
            <a:endParaRPr lang="en-US" dirty="0"/>
          </a:p>
          <a:p>
            <a:r>
              <a:rPr lang="en-US" dirty="0"/>
              <a:t>The American Red Cross CLIENT CARE PROGRAM:</a:t>
            </a:r>
          </a:p>
          <a:p>
            <a:r>
              <a:rPr lang="en-US" dirty="0"/>
              <a:t>Every client will receive similar types of recovery support from Red Cross regardless of the disaster or unique disaster-caused needs. </a:t>
            </a:r>
          </a:p>
          <a:p>
            <a:endParaRPr lang="en-US" dirty="0"/>
          </a:p>
          <a:p>
            <a:r>
              <a:rPr lang="en-US" dirty="0"/>
              <a:t>The first step with the Client Care Program is Intake. All client cases in the RC Care system are created during Intake.  </a:t>
            </a:r>
          </a:p>
          <a:p>
            <a:r>
              <a:rPr lang="en-US" dirty="0"/>
              <a:t>As a DAT Responder you will participate in the Intake process for eligible clients with whom you meet during the disaster response.  </a:t>
            </a:r>
          </a:p>
          <a:p>
            <a:r>
              <a:rPr lang="en-US" dirty="0"/>
              <a:t>Basic client information is collected to identify disaster-caused needs, determine eligibility, and provide financial assistance and other resources to help with recovery.  </a:t>
            </a:r>
          </a:p>
          <a:p>
            <a:r>
              <a:rPr lang="en-US" dirty="0"/>
              <a:t>Meeting with a client during intake also sets the stage for Recovery and the information you collect during the intake interview will be used throughout the Client Journey towards Recovery.</a:t>
            </a:r>
          </a:p>
          <a:p>
            <a:endParaRPr lang="en-US" dirty="0"/>
          </a:p>
          <a:p>
            <a:endParaRPr lang="en-US" dirty="0"/>
          </a:p>
          <a:p>
            <a:pPr lvl="0"/>
            <a:r>
              <a:rPr lang="en-US" dirty="0"/>
              <a:t>We will discuss Intake in more detail shortly</a:t>
            </a:r>
          </a:p>
          <a:p>
            <a:endParaRPr lang="en-US" dirty="0"/>
          </a:p>
          <a:p>
            <a:r>
              <a:rPr lang="en-US" dirty="0"/>
              <a:t>We strive for Continuous Improvement to all of the Disaster Cycle Services policies and procedures.  To ensure this the Red Cross encourages client feedback.  Primary clients will receive a client satisfaction survey when their case is closed.  </a:t>
            </a:r>
            <a:r>
              <a:rPr lang="en-US" b="1" u="sng" dirty="0"/>
              <a:t>REMEMBER: the client experience during a DAT response is usually the most important one in determining their overall satisfaction with the Red Cross.</a:t>
            </a:r>
          </a:p>
          <a:p>
            <a:endParaRPr lang="en-US" b="1" dirty="0"/>
          </a:p>
          <a:p>
            <a:endParaRPr lang="en-US" dirty="0"/>
          </a:p>
        </p:txBody>
      </p:sp>
      <p:sp>
        <p:nvSpPr>
          <p:cNvPr id="7" name="Slide Image Placeholder 6">
            <a:extLst>
              <a:ext uri="{FF2B5EF4-FFF2-40B4-BE49-F238E27FC236}">
                <a16:creationId xmlns:a16="http://schemas.microsoft.com/office/drawing/2014/main" id="{708181ED-A7FA-F1CA-6C01-552F1FF95575}"/>
              </a:ext>
            </a:extLst>
          </p:cNvPr>
          <p:cNvSpPr>
            <a:spLocks noGrp="1" noRot="1" noChangeAspect="1"/>
          </p:cNvSpPr>
          <p:nvPr>
            <p:ph type="sldImg"/>
          </p:nvPr>
        </p:nvSpPr>
        <p:spPr>
          <a:xfrm>
            <a:off x="1754188" y="349250"/>
            <a:ext cx="3349625" cy="1884363"/>
          </a:xfrm>
        </p:spPr>
      </p:sp>
    </p:spTree>
    <p:extLst>
      <p:ext uri="{BB962C8B-B14F-4D97-AF65-F5344CB8AC3E}">
        <p14:creationId xmlns:p14="http://schemas.microsoft.com/office/powerpoint/2010/main" val="450392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DF0CD-BDAF-DF67-E1D5-FC76A6B1F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D1F48-AFE0-9F19-73DE-8AD8D41D2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4572F-F137-91AA-18A6-79F2B08949BA}"/>
              </a:ext>
            </a:extLst>
          </p:cNvPr>
          <p:cNvSpPr>
            <a:spLocks noGrp="1"/>
          </p:cNvSpPr>
          <p:nvPr>
            <p:ph type="body" idx="1"/>
          </p:nvPr>
        </p:nvSpPr>
        <p:spPr>
          <a:xfrm>
            <a:off x="293914" y="4560570"/>
            <a:ext cx="6716486" cy="4541098"/>
          </a:xfrm>
        </p:spPr>
        <p:txBody>
          <a:bodyPr/>
          <a:lstStyle/>
          <a:p>
            <a:pPr>
              <a:spcBef>
                <a:spcPts val="0"/>
              </a:spcBef>
            </a:pPr>
            <a:r>
              <a:rPr lang="en-US" noProof="0" dirty="0"/>
              <a:t>The Fundamental Principles of the Global Red Cross Network also guide all of our actions.</a:t>
            </a:r>
          </a:p>
          <a:p>
            <a:pPr marL="181240" indent="-181240">
              <a:spcBef>
                <a:spcPts val="0"/>
              </a:spcBef>
              <a:buFont typeface="Arial" panose="020B0604020202020204" pitchFamily="34" charset="0"/>
              <a:buChar char="•"/>
            </a:pPr>
            <a:r>
              <a:rPr lang="en-US" b="1" noProof="0" dirty="0"/>
              <a:t>Humanity:  </a:t>
            </a:r>
            <a:r>
              <a:rPr lang="en-US" noProof="0" dirty="0"/>
              <a:t>The Red Cross, born of a desire to bring assistance without discrimination to the wounded on the battlefield, endeavors—in its international and national capacity—to prevent and alleviate human suffering wherever it may be found. Its purpose is to protect life and health and to ensure respect for the human being. It promotes mutual understanding, friendship, cooperation and lasting peace amongst all peoples.</a:t>
            </a:r>
          </a:p>
          <a:p>
            <a:pPr marL="181240" indent="-181240">
              <a:spcBef>
                <a:spcPts val="0"/>
              </a:spcBef>
              <a:buFont typeface="Arial" panose="020B0604020202020204" pitchFamily="34" charset="0"/>
              <a:buChar char="•"/>
            </a:pPr>
            <a:r>
              <a:rPr lang="en-US" b="1" noProof="0" dirty="0"/>
              <a:t>Impartiality</a:t>
            </a:r>
            <a:r>
              <a:rPr lang="en-US" noProof="0" dirty="0"/>
              <a:t>:  It makes no discrimination as to nationality, race, religious beliefs, class or political opinions. It endeavors to relieve the suffering of individuals, being guided solely by their needs, and to give priority to the most urgent cases of distress.</a:t>
            </a:r>
          </a:p>
          <a:p>
            <a:pPr marL="181240" indent="-181240">
              <a:spcBef>
                <a:spcPts val="0"/>
              </a:spcBef>
              <a:buFont typeface="Arial" panose="020B0604020202020204" pitchFamily="34" charset="0"/>
              <a:buChar char="•"/>
            </a:pPr>
            <a:r>
              <a:rPr lang="en-US" b="1" noProof="0" dirty="0"/>
              <a:t>Neutrality</a:t>
            </a:r>
            <a:r>
              <a:rPr lang="en-US" noProof="0" dirty="0"/>
              <a:t>:  In order to continue to enjoy the confidence of all, the Red Cross may not take sides in hostilities or engage at any time in controversies of a political, racial, religious or ideological nature.</a:t>
            </a:r>
          </a:p>
          <a:p>
            <a:pPr marL="181240" indent="-181240">
              <a:spcBef>
                <a:spcPts val="0"/>
              </a:spcBef>
              <a:buFont typeface="Arial" panose="020B0604020202020204" pitchFamily="34" charset="0"/>
              <a:buChar char="•"/>
            </a:pPr>
            <a:r>
              <a:rPr lang="en-US" b="1" noProof="0" dirty="0"/>
              <a:t>Independence</a:t>
            </a:r>
            <a:r>
              <a:rPr lang="en-US" noProof="0" dirty="0"/>
              <a:t>:  The Red Cross is independent. The national societies, while auxiliaries in the humanitarian services of their governments and subject to the laws of their respective countries, must always maintain their autonomy so that they may be able at all times to act in accordance with Red Cross principles.</a:t>
            </a:r>
          </a:p>
          <a:p>
            <a:pPr marL="181240" indent="-181240">
              <a:spcBef>
                <a:spcPts val="0"/>
              </a:spcBef>
              <a:buFont typeface="Arial" panose="020B0604020202020204" pitchFamily="34" charset="0"/>
              <a:buChar char="•"/>
            </a:pPr>
            <a:r>
              <a:rPr lang="en-US" b="1" noProof="0" dirty="0"/>
              <a:t>Voluntary</a:t>
            </a:r>
            <a:r>
              <a:rPr lang="en-US" noProof="0" dirty="0"/>
              <a:t> </a:t>
            </a:r>
            <a:r>
              <a:rPr lang="en-US" b="1" noProof="0" dirty="0"/>
              <a:t>Service</a:t>
            </a:r>
            <a:r>
              <a:rPr lang="en-US" noProof="0" dirty="0"/>
              <a:t>:  The Red Cross is a voluntary relief movement not prompted in any manner by desire for gain.</a:t>
            </a:r>
          </a:p>
          <a:p>
            <a:pPr marL="181240" indent="-181240">
              <a:spcBef>
                <a:spcPts val="0"/>
              </a:spcBef>
              <a:buFont typeface="Arial" panose="020B0604020202020204" pitchFamily="34" charset="0"/>
              <a:buChar char="•"/>
            </a:pPr>
            <a:r>
              <a:rPr lang="en-US" b="1" noProof="0" dirty="0"/>
              <a:t>Unity</a:t>
            </a:r>
            <a:r>
              <a:rPr lang="en-US" noProof="0" dirty="0"/>
              <a:t>:  There can be only one Red Cross society in any one country. It must be open to all. It must carry on its humanitarian work throughout its territory.</a:t>
            </a:r>
          </a:p>
          <a:p>
            <a:pPr marL="181240" indent="-181240">
              <a:spcBef>
                <a:spcPts val="0"/>
              </a:spcBef>
              <a:buFont typeface="Arial" panose="020B0604020202020204" pitchFamily="34" charset="0"/>
              <a:buChar char="•"/>
            </a:pPr>
            <a:r>
              <a:rPr lang="en-US" b="1" noProof="0" dirty="0"/>
              <a:t>Universality</a:t>
            </a:r>
            <a:r>
              <a:rPr lang="en-US" noProof="0" dirty="0"/>
              <a:t>:  The Red Cross is a worldwide institution in which all societies have equal status and share equal responsibilities and duties in helping each other.</a:t>
            </a:r>
          </a:p>
          <a:p>
            <a:pPr>
              <a:spcBef>
                <a:spcPts val="0"/>
              </a:spcBef>
            </a:pPr>
            <a:endParaRPr lang="en-US" noProof="0" dirty="0"/>
          </a:p>
          <a:p>
            <a:pPr>
              <a:spcBef>
                <a:spcPts val="0"/>
              </a:spcBef>
            </a:pPr>
            <a:r>
              <a:rPr lang="en-US" noProof="0" dirty="0"/>
              <a:t>If you ever question the proper response to a situation in a shelter, let these principles guide your decisions.</a:t>
            </a:r>
          </a:p>
          <a:p>
            <a:endParaRPr lang="en-US" dirty="0"/>
          </a:p>
        </p:txBody>
      </p:sp>
    </p:spTree>
    <p:extLst>
      <p:ext uri="{BB962C8B-B14F-4D97-AF65-F5344CB8AC3E}">
        <p14:creationId xmlns:p14="http://schemas.microsoft.com/office/powerpoint/2010/main" val="4197773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DF0CD-BDAF-DF67-E1D5-FC76A6B1F8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7D1F48-AFE0-9F19-73DE-8AD8D41D2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4572F-F137-91AA-18A6-79F2B08949BA}"/>
              </a:ext>
            </a:extLst>
          </p:cNvPr>
          <p:cNvSpPr>
            <a:spLocks noGrp="1"/>
          </p:cNvSpPr>
          <p:nvPr>
            <p:ph type="body" idx="1"/>
          </p:nvPr>
        </p:nvSpPr>
        <p:spPr>
          <a:xfrm>
            <a:off x="293914" y="4560570"/>
            <a:ext cx="6716486" cy="4541098"/>
          </a:xfrm>
        </p:spPr>
        <p:txBody>
          <a:bodyPr/>
          <a:lstStyle/>
          <a:p>
            <a:pPr>
              <a:spcBef>
                <a:spcPts val="0"/>
              </a:spcBef>
            </a:pPr>
            <a:r>
              <a:rPr lang="en-US" noProof="0" dirty="0"/>
              <a:t>The Fundamental Principles of the Global Red Cross Network also guide all of our actions.</a:t>
            </a:r>
          </a:p>
          <a:p>
            <a:pPr marL="181240" indent="-181240">
              <a:spcBef>
                <a:spcPts val="0"/>
              </a:spcBef>
              <a:buFont typeface="Arial" panose="020B0604020202020204" pitchFamily="34" charset="0"/>
              <a:buChar char="•"/>
            </a:pPr>
            <a:r>
              <a:rPr lang="en-US" b="1" noProof="0" dirty="0"/>
              <a:t>Humanity:  </a:t>
            </a:r>
            <a:r>
              <a:rPr lang="en-US" noProof="0" dirty="0"/>
              <a:t>The Red Cross, born of a desire to bring assistance without discrimination to the wounded on the battlefield, endeavors—in its international and national capacity—to prevent and alleviate human suffering wherever it may be found. Its purpose is to protect life and health and to ensure respect for the human being. It promotes mutual understanding, friendship, cooperation and lasting peace amongst all peoples.</a:t>
            </a:r>
          </a:p>
          <a:p>
            <a:pPr marL="181240" indent="-181240">
              <a:spcBef>
                <a:spcPts val="0"/>
              </a:spcBef>
              <a:buFont typeface="Arial" panose="020B0604020202020204" pitchFamily="34" charset="0"/>
              <a:buChar char="•"/>
            </a:pPr>
            <a:r>
              <a:rPr lang="en-US" b="1" noProof="0" dirty="0"/>
              <a:t>Impartiality</a:t>
            </a:r>
            <a:r>
              <a:rPr lang="en-US" noProof="0" dirty="0"/>
              <a:t>:  It makes no discrimination as to nationality, race, religious beliefs, class or political opinions. It endeavors to relieve the suffering of individuals, being guided solely by their needs, and to give priority to the most urgent cases of distress.</a:t>
            </a:r>
          </a:p>
          <a:p>
            <a:pPr marL="181240" indent="-181240">
              <a:spcBef>
                <a:spcPts val="0"/>
              </a:spcBef>
              <a:buFont typeface="Arial" panose="020B0604020202020204" pitchFamily="34" charset="0"/>
              <a:buChar char="•"/>
            </a:pPr>
            <a:r>
              <a:rPr lang="en-US" b="1" noProof="0" dirty="0"/>
              <a:t>Neutrality</a:t>
            </a:r>
            <a:r>
              <a:rPr lang="en-US" noProof="0" dirty="0"/>
              <a:t>:  In order to continue to enjoy the confidence of all, the Red Cross may not take sides in hostilities or engage at any time in controversies of a political, racial, religious or ideological nature.</a:t>
            </a:r>
          </a:p>
          <a:p>
            <a:pPr marL="181240" indent="-181240">
              <a:spcBef>
                <a:spcPts val="0"/>
              </a:spcBef>
              <a:buFont typeface="Arial" panose="020B0604020202020204" pitchFamily="34" charset="0"/>
              <a:buChar char="•"/>
            </a:pPr>
            <a:r>
              <a:rPr lang="en-US" b="1" noProof="0" dirty="0"/>
              <a:t>Independence</a:t>
            </a:r>
            <a:r>
              <a:rPr lang="en-US" noProof="0" dirty="0"/>
              <a:t>:  The Red Cross is independent. The national societies, while auxiliaries in the humanitarian services of their governments and subject to the laws of their respective countries, must always maintain their autonomy so that they may be able at all times to act in accordance with Red Cross principles.</a:t>
            </a:r>
          </a:p>
          <a:p>
            <a:pPr marL="181240" indent="-181240">
              <a:spcBef>
                <a:spcPts val="0"/>
              </a:spcBef>
              <a:buFont typeface="Arial" panose="020B0604020202020204" pitchFamily="34" charset="0"/>
              <a:buChar char="•"/>
            </a:pPr>
            <a:r>
              <a:rPr lang="en-US" b="1" noProof="0" dirty="0"/>
              <a:t>Voluntary</a:t>
            </a:r>
            <a:r>
              <a:rPr lang="en-US" noProof="0" dirty="0"/>
              <a:t> </a:t>
            </a:r>
            <a:r>
              <a:rPr lang="en-US" b="1" noProof="0" dirty="0"/>
              <a:t>Service</a:t>
            </a:r>
            <a:r>
              <a:rPr lang="en-US" noProof="0" dirty="0"/>
              <a:t>:  The Red Cross is a voluntary relief movement not prompted in any manner by desire for gain.</a:t>
            </a:r>
          </a:p>
          <a:p>
            <a:pPr marL="181240" indent="-181240">
              <a:spcBef>
                <a:spcPts val="0"/>
              </a:spcBef>
              <a:buFont typeface="Arial" panose="020B0604020202020204" pitchFamily="34" charset="0"/>
              <a:buChar char="•"/>
            </a:pPr>
            <a:r>
              <a:rPr lang="en-US" b="1" noProof="0" dirty="0"/>
              <a:t>Unity</a:t>
            </a:r>
            <a:r>
              <a:rPr lang="en-US" noProof="0" dirty="0"/>
              <a:t>:  There can be only one Red Cross society in any one country. It must be open to all. It must carry on its humanitarian work throughout its territory.</a:t>
            </a:r>
          </a:p>
          <a:p>
            <a:pPr marL="181240" indent="-181240">
              <a:spcBef>
                <a:spcPts val="0"/>
              </a:spcBef>
              <a:buFont typeface="Arial" panose="020B0604020202020204" pitchFamily="34" charset="0"/>
              <a:buChar char="•"/>
            </a:pPr>
            <a:r>
              <a:rPr lang="en-US" b="1" noProof="0" dirty="0"/>
              <a:t>Universality</a:t>
            </a:r>
            <a:r>
              <a:rPr lang="en-US" noProof="0" dirty="0"/>
              <a:t>:  The Red Cross is a worldwide institution in which all societies have equal status and share equal responsibilities and duties in helping each other.</a:t>
            </a:r>
          </a:p>
          <a:p>
            <a:pPr>
              <a:spcBef>
                <a:spcPts val="0"/>
              </a:spcBef>
            </a:pPr>
            <a:endParaRPr lang="en-US" noProof="0" dirty="0"/>
          </a:p>
          <a:p>
            <a:pPr>
              <a:spcBef>
                <a:spcPts val="0"/>
              </a:spcBef>
            </a:pPr>
            <a:r>
              <a:rPr lang="en-US" noProof="0" dirty="0"/>
              <a:t>If you ever question the proper response to a situation in a shelter, let these principles guide your decisions.</a:t>
            </a:r>
          </a:p>
          <a:p>
            <a:endParaRPr lang="en-US" dirty="0"/>
          </a:p>
        </p:txBody>
      </p:sp>
    </p:spTree>
    <p:extLst>
      <p:ext uri="{BB962C8B-B14F-4D97-AF65-F5344CB8AC3E}">
        <p14:creationId xmlns:p14="http://schemas.microsoft.com/office/powerpoint/2010/main" val="4197773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13412-A57F-4598-8C29-A3EFCE9CB968}" type="slidenum">
              <a:rPr lang="en-GB" altLang="en-US" smtClean="0"/>
              <a:pPr/>
              <a:t>14</a:t>
            </a:fld>
            <a:endParaRPr lang="en-GB" altLang="en-US" dirty="0"/>
          </a:p>
        </p:txBody>
      </p:sp>
    </p:spTree>
    <p:extLst>
      <p:ext uri="{BB962C8B-B14F-4D97-AF65-F5344CB8AC3E}">
        <p14:creationId xmlns:p14="http://schemas.microsoft.com/office/powerpoint/2010/main" val="850087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cs typeface="Calibri"/>
            </a:endParaRPr>
          </a:p>
        </p:txBody>
      </p:sp>
      <p:sp>
        <p:nvSpPr>
          <p:cNvPr id="4" name="Slide Number Placeholder 3"/>
          <p:cNvSpPr>
            <a:spLocks noGrp="1"/>
          </p:cNvSpPr>
          <p:nvPr>
            <p:ph type="sldNum" sz="quarter" idx="5"/>
          </p:nvPr>
        </p:nvSpPr>
        <p:spPr/>
        <p:txBody>
          <a:bodyPr/>
          <a:lstStyle/>
          <a:p>
            <a:fld id="{70A13412-A57F-4598-8C29-A3EFCE9CB968}" type="slidenum">
              <a:rPr lang="en-GB" altLang="en-US" smtClean="0"/>
              <a:pPr/>
              <a:t>15</a:t>
            </a:fld>
            <a:endParaRPr lang="en-GB" altLang="en-US" dirty="0"/>
          </a:p>
        </p:txBody>
      </p:sp>
    </p:spTree>
    <p:extLst>
      <p:ext uri="{BB962C8B-B14F-4D97-AF65-F5344CB8AC3E}">
        <p14:creationId xmlns:p14="http://schemas.microsoft.com/office/powerpoint/2010/main" val="2233917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A13412-A57F-4598-8C29-A3EFCE9CB968}" type="slidenum">
              <a:rPr lang="en-GB" altLang="en-US" smtClean="0"/>
              <a:pPr/>
              <a:t>16</a:t>
            </a:fld>
            <a:endParaRPr lang="en-GB" altLang="en-US" dirty="0"/>
          </a:p>
        </p:txBody>
      </p:sp>
    </p:spTree>
    <p:extLst>
      <p:ext uri="{BB962C8B-B14F-4D97-AF65-F5344CB8AC3E}">
        <p14:creationId xmlns:p14="http://schemas.microsoft.com/office/powerpoint/2010/main" val="721822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8FC1E-CC1C-5BFE-DB3C-F389345042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7F33E3-7144-50A2-E78D-5D3958AFED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429866-DEAE-D163-F1C3-2EFB01E6F4F8}"/>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5" name="Footer Placeholder 4">
            <a:extLst>
              <a:ext uri="{FF2B5EF4-FFF2-40B4-BE49-F238E27FC236}">
                <a16:creationId xmlns:a16="http://schemas.microsoft.com/office/drawing/2014/main" id="{66E16650-712D-F81A-EFCF-432EE2045C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484AF-E5DD-6A25-FAC7-AE43E42A49C4}"/>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3484360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488E4-2E52-BB07-5981-628FB4F9AB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259535-1BAF-41C2-5862-0312B948B8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48CA56-5C82-99B2-12A2-30BA7B480722}"/>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5" name="Footer Placeholder 4">
            <a:extLst>
              <a:ext uri="{FF2B5EF4-FFF2-40B4-BE49-F238E27FC236}">
                <a16:creationId xmlns:a16="http://schemas.microsoft.com/office/drawing/2014/main" id="{70A3FFF8-115E-9C43-5CCE-F2C2E40F0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8497E8-9A1A-154D-3350-7780E026C13B}"/>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2283806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55085-2F8F-358D-72BB-48D4CDE6A3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79FF3E-1D1A-C157-376F-1048E6080C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35EF55-281B-BDFE-2D02-8F1CA1732252}"/>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5" name="Footer Placeholder 4">
            <a:extLst>
              <a:ext uri="{FF2B5EF4-FFF2-40B4-BE49-F238E27FC236}">
                <a16:creationId xmlns:a16="http://schemas.microsoft.com/office/drawing/2014/main" id="{E5290FCB-72C3-AE32-6536-A55ED1DFBA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CACD44-D4E5-8020-8E7F-3333D48AAD59}"/>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2544166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458E3-F296-240B-029C-7015613AB2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C30B08-D691-6E7F-7B4D-FEEC694AAE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92970F-4158-95BC-CF79-21DE0A324A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628DD5-A361-C6AC-17EB-8984FE2D1509}"/>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6" name="Footer Placeholder 5">
            <a:extLst>
              <a:ext uri="{FF2B5EF4-FFF2-40B4-BE49-F238E27FC236}">
                <a16:creationId xmlns:a16="http://schemas.microsoft.com/office/drawing/2014/main" id="{71BE19A7-487D-1BA7-DC3E-5B7F5C8CC1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24C88C-DF4A-AE3C-0CCF-B3C103E6E887}"/>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2396090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3250D-C032-A9D1-B3A6-025F4CA95B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F72E4-BC13-5BF0-B90A-E787F5F065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DE77FC-1CA6-3752-64F6-3A13F0B3F4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5C6906-28E9-999A-D14A-C65CAD714B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CCF40B-AFEA-9F75-4979-92061B7E04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82E1E3-0A09-C5FD-A434-0EBD66660568}"/>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8" name="Footer Placeholder 7">
            <a:extLst>
              <a:ext uri="{FF2B5EF4-FFF2-40B4-BE49-F238E27FC236}">
                <a16:creationId xmlns:a16="http://schemas.microsoft.com/office/drawing/2014/main" id="{383F33AC-9C3A-5B07-5017-68C2AAAE5E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FA6F2A-09BB-31F7-3A94-6EA41FF8D128}"/>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313660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43AD3-7A3A-7F32-885D-F0669C7FC4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34B1CA-9595-19AA-E3E4-26FE6331298F}"/>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4" name="Footer Placeholder 3">
            <a:extLst>
              <a:ext uri="{FF2B5EF4-FFF2-40B4-BE49-F238E27FC236}">
                <a16:creationId xmlns:a16="http://schemas.microsoft.com/office/drawing/2014/main" id="{395E4B3A-142B-E932-F3D5-AD0C51B03F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A78A46-7BCF-F9FB-786E-80A08D34DA00}"/>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489897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AD2F46-04B6-AB36-DC9C-E3E454183156}"/>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3" name="Footer Placeholder 2">
            <a:extLst>
              <a:ext uri="{FF2B5EF4-FFF2-40B4-BE49-F238E27FC236}">
                <a16:creationId xmlns:a16="http://schemas.microsoft.com/office/drawing/2014/main" id="{DBCC4291-11EB-306E-C4C3-EBEC235052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9954D6-AA8F-F590-B7C5-378DBB68F4AD}"/>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3022981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8E84D-DB6E-F063-CAEE-C7914930A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3B3C2E-D200-2FD3-93D3-ED0CA6BDFE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9C5A28-0C82-AFEE-8116-FC096530D9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4C57D0-33D4-71DA-8343-00B1CADA50CD}"/>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6" name="Footer Placeholder 5">
            <a:extLst>
              <a:ext uri="{FF2B5EF4-FFF2-40B4-BE49-F238E27FC236}">
                <a16:creationId xmlns:a16="http://schemas.microsoft.com/office/drawing/2014/main" id="{4B655B25-3003-1D17-B943-7BBC25EF99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05875-AC73-F098-2D74-D2CE8358E220}"/>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1223588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9D4F9-CFE1-5752-38ED-3EFE4053FE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207CE2-5B5C-E4AF-68AB-2E9F0025C4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42A3EF-3754-EFF4-5638-B66F2F5B94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B27362-114A-A3B7-1928-C679668904DD}"/>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6" name="Footer Placeholder 5">
            <a:extLst>
              <a:ext uri="{FF2B5EF4-FFF2-40B4-BE49-F238E27FC236}">
                <a16:creationId xmlns:a16="http://schemas.microsoft.com/office/drawing/2014/main" id="{9D9B8BCE-457F-11E5-F4E5-0E8C8697B9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CA7BE2-9D55-2A5C-47A9-7500C21AE0D9}"/>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1898103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326FE-B554-6E9B-D532-6790C979DF4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4A9A21-D9D8-D216-6B3C-5B53F840A1B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1BE811-91EC-E62B-904F-C6F61B3A2584}"/>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5" name="Footer Placeholder 4">
            <a:extLst>
              <a:ext uri="{FF2B5EF4-FFF2-40B4-BE49-F238E27FC236}">
                <a16:creationId xmlns:a16="http://schemas.microsoft.com/office/drawing/2014/main" id="{738AF620-AAD0-F614-FE1E-118BD4772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2CCB00-BF83-3DEE-6AC5-37595D1DE192}"/>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186003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5BFBD3-1C39-5A1C-DDD1-3A04C54025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0718C6-FB0E-507E-BE93-AC0F83F625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3B5576-1968-5F65-7F96-32DDB3233C55}"/>
              </a:ext>
            </a:extLst>
          </p:cNvPr>
          <p:cNvSpPr>
            <a:spLocks noGrp="1"/>
          </p:cNvSpPr>
          <p:nvPr>
            <p:ph type="dt" sz="half" idx="10"/>
          </p:nvPr>
        </p:nvSpPr>
        <p:spPr/>
        <p:txBody>
          <a:bodyPr/>
          <a:lstStyle/>
          <a:p>
            <a:fld id="{A24FC6D5-EADB-1042-AAAF-B63377EC86ED}" type="datetimeFigureOut">
              <a:rPr lang="en-US" smtClean="0"/>
              <a:t>3/24/26</a:t>
            </a:fld>
            <a:endParaRPr lang="en-US"/>
          </a:p>
        </p:txBody>
      </p:sp>
      <p:sp>
        <p:nvSpPr>
          <p:cNvPr id="5" name="Footer Placeholder 4">
            <a:extLst>
              <a:ext uri="{FF2B5EF4-FFF2-40B4-BE49-F238E27FC236}">
                <a16:creationId xmlns:a16="http://schemas.microsoft.com/office/drawing/2014/main" id="{E145EE92-4E9D-9FF3-F59C-C4A3F167F5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50104D-4F80-5B02-D6FC-16D9E91BF3B5}"/>
              </a:ext>
            </a:extLst>
          </p:cNvPr>
          <p:cNvSpPr>
            <a:spLocks noGrp="1"/>
          </p:cNvSpPr>
          <p:nvPr>
            <p:ph type="sldNum" sz="quarter" idx="12"/>
          </p:nvPr>
        </p:nvSpPr>
        <p:spPr/>
        <p:txBody>
          <a:bodyPr/>
          <a:lstStyle/>
          <a:p>
            <a:fld id="{F643681B-F039-684F-B92F-2B5605F6D9E8}" type="slidenum">
              <a:rPr lang="en-US" smtClean="0"/>
              <a:t>‹#›</a:t>
            </a:fld>
            <a:endParaRPr lang="en-US"/>
          </a:p>
        </p:txBody>
      </p:sp>
    </p:spTree>
    <p:extLst>
      <p:ext uri="{BB962C8B-B14F-4D97-AF65-F5344CB8AC3E}">
        <p14:creationId xmlns:p14="http://schemas.microsoft.com/office/powerpoint/2010/main" val="1023482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C54A66A-D430-8C48-8EBF-E30C4BAF8176}"/>
              </a:ext>
            </a:extLst>
          </p:cNvPr>
          <p:cNvPicPr>
            <a:picLocks noChangeAspect="1"/>
          </p:cNvPicPr>
          <p:nvPr userDrawn="1"/>
        </p:nvPicPr>
        <p:blipFill rotWithShape="1">
          <a:blip r:embed="rId2" cstate="print">
            <a:alphaModFix/>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9" name="Text Placeholder 3"/>
          <p:cNvSpPr>
            <a:spLocks noGrp="1"/>
          </p:cNvSpPr>
          <p:nvPr>
            <p:ph type="body" sz="quarter" idx="10"/>
          </p:nvPr>
        </p:nvSpPr>
        <p:spPr>
          <a:xfrm>
            <a:off x="6485467" y="1001182"/>
            <a:ext cx="5266267" cy="2771391"/>
          </a:xfrm>
        </p:spPr>
        <p:txBody>
          <a:bodyPr anchor="ctr">
            <a:noAutofit/>
          </a:bodyPr>
          <a:lstStyle>
            <a:lvl1pPr marL="0" indent="0" algn="ctr">
              <a:lnSpc>
                <a:spcPct val="100000"/>
              </a:lnSpc>
              <a:spcAft>
                <a:spcPts val="800"/>
              </a:spcAft>
              <a:buNone/>
              <a:defRPr sz="4000" b="1">
                <a:solidFill>
                  <a:schemeClr val="bg1"/>
                </a:solidFill>
              </a:defRPr>
            </a:lvl1pPr>
          </a:lstStyle>
          <a:p>
            <a:pPr lvl="0"/>
            <a:r>
              <a:rPr lang="en-US" dirty="0"/>
              <a:t>Click to edit Master text</a:t>
            </a:r>
          </a:p>
        </p:txBody>
      </p:sp>
      <p:pic>
        <p:nvPicPr>
          <p:cNvPr id="7" name="Picture 6">
            <a:extLst>
              <a:ext uri="{FF2B5EF4-FFF2-40B4-BE49-F238E27FC236}">
                <a16:creationId xmlns:a16="http://schemas.microsoft.com/office/drawing/2014/main" id="{83421B2B-4FDB-1F4D-BD41-4A009A4F40A2}"/>
              </a:ext>
            </a:extLst>
          </p:cNvPr>
          <p:cNvPicPr>
            <a:picLocks noChangeAspect="1"/>
          </p:cNvPicPr>
          <p:nvPr userDrawn="1"/>
        </p:nvPicPr>
        <p:blipFill>
          <a:blip r:embed="rId3"/>
          <a:srcRect/>
          <a:stretch/>
        </p:blipFill>
        <p:spPr>
          <a:xfrm>
            <a:off x="7689039" y="4739071"/>
            <a:ext cx="2808323" cy="1288407"/>
          </a:xfrm>
          <a:prstGeom prst="rect">
            <a:avLst/>
          </a:prstGeom>
        </p:spPr>
      </p:pic>
      <p:sp>
        <p:nvSpPr>
          <p:cNvPr id="12" name="Text Placeholder 11">
            <a:extLst>
              <a:ext uri="{FF2B5EF4-FFF2-40B4-BE49-F238E27FC236}">
                <a16:creationId xmlns:a16="http://schemas.microsoft.com/office/drawing/2014/main" id="{BCE69A9C-A608-4C4F-9880-C354F38D3762}"/>
              </a:ext>
            </a:extLst>
          </p:cNvPr>
          <p:cNvSpPr>
            <a:spLocks noGrp="1"/>
          </p:cNvSpPr>
          <p:nvPr>
            <p:ph type="body" sz="quarter" idx="11"/>
          </p:nvPr>
        </p:nvSpPr>
        <p:spPr>
          <a:xfrm>
            <a:off x="6485467" y="3675038"/>
            <a:ext cx="5266267" cy="709084"/>
          </a:xfrm>
        </p:spPr>
        <p:txBody>
          <a:bodyPr/>
          <a:lstStyle>
            <a:lvl1pPr marL="0" indent="0" algn="ctr">
              <a:buNone/>
              <a:defRPr b="1">
                <a:solidFill>
                  <a:schemeClr val="bg1"/>
                </a:solidFill>
              </a:defRPr>
            </a:lvl1pPr>
            <a:lvl2pPr marL="243834" indent="0" algn="ctr">
              <a:buNone/>
              <a:defRPr>
                <a:solidFill>
                  <a:schemeClr val="bg1"/>
                </a:solidFill>
              </a:defRPr>
            </a:lvl2pPr>
            <a:lvl3pPr marL="487668" indent="0" algn="ctr">
              <a:buNone/>
              <a:defRPr>
                <a:solidFill>
                  <a:schemeClr val="bg1"/>
                </a:solidFill>
              </a:defRPr>
            </a:lvl3pPr>
            <a:lvl4pPr marL="1828754" indent="0" algn="ctr">
              <a:buNone/>
              <a:defRPr>
                <a:solidFill>
                  <a:schemeClr val="bg1"/>
                </a:solidFill>
              </a:defRPr>
            </a:lvl4pPr>
            <a:lvl5pPr marL="2438339" indent="0" algn="ctr">
              <a:buNone/>
              <a:defRPr>
                <a:solidFill>
                  <a:schemeClr val="bg1"/>
                </a:solidFill>
              </a:defRPr>
            </a:lvl5pPr>
          </a:lstStyle>
          <a:p>
            <a:pPr lvl="0"/>
            <a:r>
              <a:rPr lang="en-US" dirty="0"/>
              <a:t>Edit Master text styles</a:t>
            </a:r>
          </a:p>
        </p:txBody>
      </p:sp>
    </p:spTree>
    <p:extLst>
      <p:ext uri="{BB962C8B-B14F-4D97-AF65-F5344CB8AC3E}">
        <p14:creationId xmlns:p14="http://schemas.microsoft.com/office/powerpoint/2010/main" val="795595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Quote with Photo">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FD4732B-4852-4F4F-AD87-B9F20ECECF9E}"/>
              </a:ext>
            </a:extLst>
          </p:cNvPr>
          <p:cNvSpPr txBox="1"/>
          <p:nvPr userDrawn="1"/>
        </p:nvSpPr>
        <p:spPr>
          <a:xfrm>
            <a:off x="665870" y="661846"/>
            <a:ext cx="5178700" cy="3200876"/>
          </a:xfrm>
          <a:prstGeom prst="rect">
            <a:avLst/>
          </a:prstGeom>
          <a:noFill/>
        </p:spPr>
        <p:txBody>
          <a:bodyPr wrap="none" rtlCol="0">
            <a:noAutofit/>
          </a:bodyPr>
          <a:lstStyle/>
          <a:p>
            <a:pPr marL="0" marR="0" indent="0" algn="ctr" defTabSz="609585" rtl="0" eaLnBrk="1" fontAlgn="base" latinLnBrk="0" hangingPunct="1">
              <a:lnSpc>
                <a:spcPct val="100000"/>
              </a:lnSpc>
              <a:spcBef>
                <a:spcPct val="0"/>
              </a:spcBef>
              <a:spcAft>
                <a:spcPct val="0"/>
              </a:spcAft>
              <a:buClrTx/>
              <a:buSzTx/>
              <a:buFontTx/>
              <a:buNone/>
              <a:tabLst/>
              <a:defRPr/>
            </a:pPr>
            <a:r>
              <a:rPr kumimoji="0" lang="en-US" sz="20000" b="0" i="0" u="none" strike="noStrike" kern="1200" cap="none" spc="0" normalizeH="0" baseline="0" noProof="0" dirty="0">
                <a:ln>
                  <a:noFill/>
                </a:ln>
                <a:solidFill>
                  <a:srgbClr val="ED1B2E"/>
                </a:solidFill>
                <a:effectLst/>
                <a:uLnTx/>
                <a:uFillTx/>
                <a:latin typeface="Georgia" panose="02040502050405020303" pitchFamily="18" charset="0"/>
                <a:ea typeface="Geneva" charset="0"/>
                <a:cs typeface="Arial"/>
              </a:rPr>
              <a:t>“</a:t>
            </a:r>
            <a:endParaRPr lang="en-US" sz="20000" dirty="0">
              <a:solidFill>
                <a:srgbClr val="ED1B2E"/>
              </a:solidFill>
              <a:latin typeface="Georgia" panose="02040502050405020303" pitchFamily="18" charset="0"/>
            </a:endParaRPr>
          </a:p>
        </p:txBody>
      </p:sp>
      <p:sp>
        <p:nvSpPr>
          <p:cNvPr id="2" name="Title 1"/>
          <p:cNvSpPr>
            <a:spLocks noGrp="1"/>
          </p:cNvSpPr>
          <p:nvPr>
            <p:ph type="title"/>
          </p:nvPr>
        </p:nvSpPr>
        <p:spPr>
          <a:xfrm>
            <a:off x="665870" y="2262283"/>
            <a:ext cx="5178700" cy="3630749"/>
          </a:xfrm>
          <a:prstGeom prst="rect">
            <a:avLst/>
          </a:prstGeom>
        </p:spPr>
        <p:txBody>
          <a:bodyPr wrap="square" lIns="0" rIns="0" anchor="t">
            <a:noAutofit/>
          </a:bodyPr>
          <a:lstStyle>
            <a:lvl1pPr algn="ctr">
              <a:defRPr sz="4800" b="0">
                <a:solidFill>
                  <a:schemeClr val="tx1"/>
                </a:solidFill>
                <a:latin typeface="Georgia" panose="02040502050405020303" pitchFamily="18" charset="0"/>
              </a:defRPr>
            </a:lvl1pPr>
          </a:lstStyle>
          <a:p>
            <a:r>
              <a:rPr lang="en-US" dirty="0"/>
              <a:t>Click to edit Master title</a:t>
            </a:r>
          </a:p>
        </p:txBody>
      </p:sp>
      <p:sp>
        <p:nvSpPr>
          <p:cNvPr id="4" name="Picture Placeholder 3">
            <a:extLst>
              <a:ext uri="{FF2B5EF4-FFF2-40B4-BE49-F238E27FC236}">
                <a16:creationId xmlns:a16="http://schemas.microsoft.com/office/drawing/2014/main" id="{FDCD3F5A-928A-E445-9575-B2BE0DB50CC7}"/>
              </a:ext>
            </a:extLst>
          </p:cNvPr>
          <p:cNvSpPr>
            <a:spLocks noGrp="1"/>
          </p:cNvSpPr>
          <p:nvPr>
            <p:ph type="pic" sz="quarter" idx="16"/>
          </p:nvPr>
        </p:nvSpPr>
        <p:spPr>
          <a:xfrm>
            <a:off x="6711407" y="0"/>
            <a:ext cx="5480595" cy="6858000"/>
          </a:xfrm>
          <a:solidFill>
            <a:schemeClr val="bg1">
              <a:lumMod val="95000"/>
            </a:schemeClr>
          </a:solidFill>
        </p:spPr>
        <p:txBody>
          <a:bodyPr/>
          <a:lstStyle>
            <a:lvl1pPr marL="0" indent="0">
              <a:buNone/>
              <a:defRPr/>
            </a:lvl1pPr>
          </a:lstStyle>
          <a:p>
            <a:endParaRPr lang="en-US"/>
          </a:p>
        </p:txBody>
      </p:sp>
      <p:sp>
        <p:nvSpPr>
          <p:cNvPr id="7" name="Slide Number Placeholder 8">
            <a:extLst>
              <a:ext uri="{FF2B5EF4-FFF2-40B4-BE49-F238E27FC236}">
                <a16:creationId xmlns:a16="http://schemas.microsoft.com/office/drawing/2014/main" id="{C44F37EE-EBDF-994F-A5AE-94CC08EE1D54}"/>
              </a:ext>
            </a:extLst>
          </p:cNvPr>
          <p:cNvSpPr>
            <a:spLocks noGrp="1"/>
          </p:cNvSpPr>
          <p:nvPr>
            <p:ph type="sldNum" sz="quarter" idx="14"/>
          </p:nvPr>
        </p:nvSpPr>
        <p:spPr>
          <a:xfrm>
            <a:off x="383192" y="6354301"/>
            <a:ext cx="393899" cy="366184"/>
          </a:xfrm>
        </p:spPr>
        <p:txBody>
          <a:bodyPr/>
          <a:lstStyle>
            <a:lvl1pPr>
              <a:defRPr/>
            </a:lvl1pPr>
          </a:lstStyle>
          <a:p>
            <a:fld id="{C602A7E9-85B4-EB4A-8CED-A3527A5FD66A}" type="slidenum">
              <a:rPr lang="en-US" altLang="en-US" smtClean="0"/>
              <a:pPr/>
              <a:t>‹#›</a:t>
            </a:fld>
            <a:r>
              <a:rPr lang="en-US" altLang="en-US" dirty="0"/>
              <a:t> </a:t>
            </a:r>
          </a:p>
        </p:txBody>
      </p:sp>
    </p:spTree>
    <p:extLst>
      <p:ext uri="{BB962C8B-B14F-4D97-AF65-F5344CB8AC3E}">
        <p14:creationId xmlns:p14="http://schemas.microsoft.com/office/powerpoint/2010/main" val="1415404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losing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6C10C86-872F-E449-B336-8D2DCCE894F2}"/>
              </a:ext>
            </a:extLst>
          </p:cNvPr>
          <p:cNvPicPr>
            <a:picLocks noChangeAspect="1"/>
          </p:cNvPicPr>
          <p:nvPr userDrawn="1"/>
        </p:nvPicPr>
        <p:blipFill>
          <a:blip r:embed="rId2"/>
          <a:srcRect/>
          <a:stretch/>
        </p:blipFill>
        <p:spPr>
          <a:xfrm>
            <a:off x="7821024" y="2751908"/>
            <a:ext cx="3008771" cy="1385333"/>
          </a:xfrm>
          <a:prstGeom prst="rect">
            <a:avLst/>
          </a:prstGeom>
        </p:spPr>
      </p:pic>
      <p:pic>
        <p:nvPicPr>
          <p:cNvPr id="7" name="Picture 6">
            <a:extLst>
              <a:ext uri="{FF2B5EF4-FFF2-40B4-BE49-F238E27FC236}">
                <a16:creationId xmlns:a16="http://schemas.microsoft.com/office/drawing/2014/main" id="{E9AD8A72-59D7-4D42-8A8B-FC12A0A502A0}"/>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Lst>
          </a:blip>
          <a:srcRect l="11769" t="20923" r="36461" b="24239"/>
          <a:stretch/>
        </p:blipFill>
        <p:spPr>
          <a:xfrm>
            <a:off x="1079305" y="1434905"/>
            <a:ext cx="6311705" cy="3760764"/>
          </a:xfrm>
          <a:prstGeom prst="rect">
            <a:avLst/>
          </a:prstGeom>
        </p:spPr>
      </p:pic>
      <p:sp>
        <p:nvSpPr>
          <p:cNvPr id="5" name="Slide Number Placeholder 8">
            <a:extLst>
              <a:ext uri="{FF2B5EF4-FFF2-40B4-BE49-F238E27FC236}">
                <a16:creationId xmlns:a16="http://schemas.microsoft.com/office/drawing/2014/main" id="{775B3AB0-A98F-004C-995F-B26014FD131B}"/>
              </a:ext>
            </a:extLst>
          </p:cNvPr>
          <p:cNvSpPr>
            <a:spLocks noGrp="1"/>
          </p:cNvSpPr>
          <p:nvPr>
            <p:ph type="sldNum" sz="quarter" idx="14"/>
          </p:nvPr>
        </p:nvSpPr>
        <p:spPr>
          <a:xfrm>
            <a:off x="383192" y="6354301"/>
            <a:ext cx="393899" cy="366184"/>
          </a:xfrm>
        </p:spPr>
        <p:txBody>
          <a:bodyPr/>
          <a:lstStyle>
            <a:lvl1pPr>
              <a:defRPr/>
            </a:lvl1pPr>
          </a:lstStyle>
          <a:p>
            <a:fld id="{C602A7E9-85B4-EB4A-8CED-A3527A5FD66A}" type="slidenum">
              <a:rPr lang="en-US" altLang="en-US" smtClean="0"/>
              <a:pPr/>
              <a:t>‹#›</a:t>
            </a:fld>
            <a:r>
              <a:rPr lang="en-US" altLang="en-US" dirty="0"/>
              <a:t> </a:t>
            </a:r>
          </a:p>
        </p:txBody>
      </p:sp>
    </p:spTree>
    <p:extLst>
      <p:ext uri="{BB962C8B-B14F-4D97-AF65-F5344CB8AC3E}">
        <p14:creationId xmlns:p14="http://schemas.microsoft.com/office/powerpoint/2010/main" val="6232987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act Information">
    <p:spTree>
      <p:nvGrpSpPr>
        <p:cNvPr id="1" name=""/>
        <p:cNvGrpSpPr/>
        <p:nvPr/>
      </p:nvGrpSpPr>
      <p:grpSpPr>
        <a:xfrm>
          <a:off x="0" y="0"/>
          <a:ext cx="0" cy="0"/>
          <a:chOff x="0" y="0"/>
          <a:chExt cx="0" cy="0"/>
        </a:xfrm>
      </p:grpSpPr>
      <p:sp>
        <p:nvSpPr>
          <p:cNvPr id="2" name="Title 1"/>
          <p:cNvSpPr>
            <a:spLocks noGrp="1"/>
          </p:cNvSpPr>
          <p:nvPr>
            <p:ph type="title"/>
          </p:nvPr>
        </p:nvSpPr>
        <p:spPr>
          <a:xfrm>
            <a:off x="1404983" y="2363883"/>
            <a:ext cx="9416868" cy="904251"/>
          </a:xfrm>
          <a:prstGeom prst="rect">
            <a:avLst/>
          </a:prstGeom>
        </p:spPr>
        <p:txBody>
          <a:bodyPr wrap="square" lIns="0" rIns="0" anchor="t">
            <a:noAutofit/>
          </a:bodyPr>
          <a:lstStyle>
            <a:lvl1pPr algn="ctr">
              <a:defRPr sz="3867" b="1">
                <a:solidFill>
                  <a:schemeClr val="accent1"/>
                </a:solidFill>
                <a:latin typeface="Arial" panose="020B0604020202020204" pitchFamily="34" charset="0"/>
                <a:cs typeface="Arial" panose="020B0604020202020204" pitchFamily="34" charset="0"/>
              </a:defRPr>
            </a:lvl1pPr>
          </a:lstStyle>
          <a:p>
            <a:r>
              <a:rPr lang="en-US" dirty="0"/>
              <a:t>Click to edit Master title</a:t>
            </a:r>
          </a:p>
        </p:txBody>
      </p:sp>
      <p:sp>
        <p:nvSpPr>
          <p:cNvPr id="6" name="Text Placeholder 5">
            <a:extLst>
              <a:ext uri="{FF2B5EF4-FFF2-40B4-BE49-F238E27FC236}">
                <a16:creationId xmlns:a16="http://schemas.microsoft.com/office/drawing/2014/main" id="{1025C421-C1CC-584F-AA73-AB3AF049C91F}"/>
              </a:ext>
            </a:extLst>
          </p:cNvPr>
          <p:cNvSpPr>
            <a:spLocks noGrp="1"/>
          </p:cNvSpPr>
          <p:nvPr>
            <p:ph type="body" sz="quarter" idx="15"/>
          </p:nvPr>
        </p:nvSpPr>
        <p:spPr>
          <a:xfrm>
            <a:off x="1404983" y="3454400"/>
            <a:ext cx="9416868" cy="1727200"/>
          </a:xfrm>
        </p:spPr>
        <p:txBody>
          <a:bodyPr/>
          <a:lstStyle>
            <a:lvl1pPr marL="0" indent="0" algn="ctr">
              <a:spcAft>
                <a:spcPts val="800"/>
              </a:spcAft>
              <a:buNone/>
              <a:defRPr b="0">
                <a:solidFill>
                  <a:schemeClr val="tx1"/>
                </a:solidFill>
              </a:defRPr>
            </a:lvl1pPr>
          </a:lstStyle>
          <a:p>
            <a:pPr lvl="0"/>
            <a:r>
              <a:rPr lang="en-US" dirty="0"/>
              <a:t>Edit Master text styles</a:t>
            </a:r>
          </a:p>
        </p:txBody>
      </p:sp>
      <p:sp>
        <p:nvSpPr>
          <p:cNvPr id="7" name="Slide Number Placeholder 8">
            <a:extLst>
              <a:ext uri="{FF2B5EF4-FFF2-40B4-BE49-F238E27FC236}">
                <a16:creationId xmlns:a16="http://schemas.microsoft.com/office/drawing/2014/main" id="{154E31F2-791E-DD4C-8BCA-75F827AE0E8F}"/>
              </a:ext>
            </a:extLst>
          </p:cNvPr>
          <p:cNvSpPr>
            <a:spLocks noGrp="1"/>
          </p:cNvSpPr>
          <p:nvPr>
            <p:ph type="sldNum" sz="quarter" idx="14"/>
          </p:nvPr>
        </p:nvSpPr>
        <p:spPr>
          <a:xfrm>
            <a:off x="383192" y="6354301"/>
            <a:ext cx="393899" cy="366184"/>
          </a:xfrm>
        </p:spPr>
        <p:txBody>
          <a:bodyPr/>
          <a:lstStyle>
            <a:lvl1pPr>
              <a:defRPr/>
            </a:lvl1pPr>
          </a:lstStyle>
          <a:p>
            <a:fld id="{C602A7E9-85B4-EB4A-8CED-A3527A5FD66A}" type="slidenum">
              <a:rPr lang="en-US" altLang="en-US" smtClean="0"/>
              <a:pPr/>
              <a:t>‹#›</a:t>
            </a:fld>
            <a:r>
              <a:rPr lang="en-US" altLang="en-US" dirty="0"/>
              <a:t> </a:t>
            </a:r>
          </a:p>
        </p:txBody>
      </p:sp>
    </p:spTree>
    <p:extLst>
      <p:ext uri="{BB962C8B-B14F-4D97-AF65-F5344CB8AC3E}">
        <p14:creationId xmlns:p14="http://schemas.microsoft.com/office/powerpoint/2010/main" val="15920758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b="1">
                <a:solidFill>
                  <a:schemeClr val="tx1"/>
                </a:solidFill>
              </a:defRPr>
            </a:lvl1pPr>
          </a:lstStyle>
          <a:p>
            <a:r>
              <a:rPr lang="en-US" dirty="0"/>
              <a:t>Click to edit Master title</a:t>
            </a:r>
          </a:p>
        </p:txBody>
      </p:sp>
      <p:sp>
        <p:nvSpPr>
          <p:cNvPr id="9" name="Text Placeholder 8"/>
          <p:cNvSpPr>
            <a:spLocks noGrp="1"/>
          </p:cNvSpPr>
          <p:nvPr>
            <p:ph type="body" sz="quarter" idx="12"/>
          </p:nvPr>
        </p:nvSpPr>
        <p:spPr>
          <a:xfrm>
            <a:off x="609600" y="1592263"/>
            <a:ext cx="10972800" cy="4089400"/>
          </a:xfrm>
        </p:spPr>
        <p:txBody>
          <a:bodyPr/>
          <a:lstStyle>
            <a:lvl1pPr>
              <a:defRPr sz="2400">
                <a:solidFill>
                  <a:schemeClr val="tx1"/>
                </a:solidFill>
              </a:defRPr>
            </a:lvl1pPr>
            <a:lvl2pPr>
              <a:defRPr sz="2400">
                <a:solidFill>
                  <a:schemeClr val="tx1"/>
                </a:solidFill>
              </a:defRPr>
            </a:lvl2pPr>
            <a:lvl3pPr>
              <a:defRPr sz="2400">
                <a:solidFill>
                  <a:schemeClr val="tx1"/>
                </a:solidFill>
              </a:defRPr>
            </a:lvl3pPr>
            <a:lvl4pPr>
              <a:defRPr sz="2400">
                <a:solidFill>
                  <a:schemeClr val="tx1"/>
                </a:solidFill>
              </a:defRPr>
            </a:lvl4pPr>
            <a:lvl5pPr>
              <a:defRPr sz="2400">
                <a:solidFill>
                  <a:schemeClr val="tx1"/>
                </a:solidFill>
              </a:defRPr>
            </a:lvl5pPr>
          </a:lstStyle>
          <a:p>
            <a:pPr lvl="0"/>
            <a:r>
              <a:rPr lang="en-US" dirty="0"/>
              <a:t>Click to edit Master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6DF6C0C6-02AB-47FF-80CA-ED6A46928BF4}"/>
              </a:ext>
            </a:extLst>
          </p:cNvPr>
          <p:cNvSpPr>
            <a:spLocks noGrp="1"/>
          </p:cNvSpPr>
          <p:nvPr>
            <p:ph type="ftr" sz="quarter" idx="13"/>
          </p:nvPr>
        </p:nvSpPr>
        <p:spPr/>
        <p:txBody>
          <a:bodyPr/>
          <a:lstStyle>
            <a:lvl1pPr>
              <a:defRPr/>
            </a:lvl1pPr>
          </a:lstStyle>
          <a:p>
            <a:pPr>
              <a:defRPr/>
            </a:pPr>
            <a:endParaRPr lang="en-US" dirty="0"/>
          </a:p>
        </p:txBody>
      </p:sp>
      <p:sp>
        <p:nvSpPr>
          <p:cNvPr id="5" name="Slide Number Placeholder 8">
            <a:extLst>
              <a:ext uri="{FF2B5EF4-FFF2-40B4-BE49-F238E27FC236}">
                <a16:creationId xmlns:a16="http://schemas.microsoft.com/office/drawing/2014/main" id="{9DE21D63-A159-4778-8414-ED1932961359}"/>
              </a:ext>
            </a:extLst>
          </p:cNvPr>
          <p:cNvSpPr>
            <a:spLocks noGrp="1"/>
          </p:cNvSpPr>
          <p:nvPr>
            <p:ph type="sldNum" sz="quarter" idx="14"/>
          </p:nvPr>
        </p:nvSpPr>
        <p:spPr/>
        <p:txBody>
          <a:bodyPr/>
          <a:lstStyle>
            <a:lvl1pPr>
              <a:defRPr/>
            </a:lvl1pPr>
          </a:lstStyle>
          <a:p>
            <a:pPr>
              <a:defRPr/>
            </a:pPr>
            <a:fld id="{5D72FB17-64C3-4476-A4A3-474045A7F45E}" type="slidenum">
              <a:rPr lang="en-US" altLang="en-US"/>
              <a:pPr>
                <a:defRPr/>
              </a:pPr>
              <a:t>‹#›</a:t>
            </a:fld>
            <a:endParaRPr lang="en-US" altLang="en-US" dirty="0"/>
          </a:p>
        </p:txBody>
      </p:sp>
    </p:spTree>
    <p:custDataLst>
      <p:tags r:id="rId1"/>
    </p:custDataLst>
    <p:extLst>
      <p:ext uri="{BB962C8B-B14F-4D97-AF65-F5344CB8AC3E}">
        <p14:creationId xmlns:p14="http://schemas.microsoft.com/office/powerpoint/2010/main" val="651248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7ECE61-3DB6-B934-6F1D-B7EA790A41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F28240-1393-B446-D5A0-B81C3F758E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BED4D-B7DD-7098-3BF5-CD05D85781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4FC6D5-EADB-1042-AAAF-B63377EC86ED}" type="datetimeFigureOut">
              <a:rPr lang="en-US" smtClean="0"/>
              <a:t>3/24/26</a:t>
            </a:fld>
            <a:endParaRPr lang="en-US"/>
          </a:p>
        </p:txBody>
      </p:sp>
      <p:sp>
        <p:nvSpPr>
          <p:cNvPr id="5" name="Footer Placeholder 4">
            <a:extLst>
              <a:ext uri="{FF2B5EF4-FFF2-40B4-BE49-F238E27FC236}">
                <a16:creationId xmlns:a16="http://schemas.microsoft.com/office/drawing/2014/main" id="{BE16F883-5C51-F1B9-F865-3D701AA979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781E8B1-4CE7-226A-CED1-F5201178E1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43681B-F039-684F-B92F-2B5605F6D9E8}" type="slidenum">
              <a:rPr lang="en-US" smtClean="0"/>
              <a:t>‹#›</a:t>
            </a:fld>
            <a:endParaRPr lang="en-US"/>
          </a:p>
        </p:txBody>
      </p:sp>
    </p:spTree>
    <p:extLst>
      <p:ext uri="{BB962C8B-B14F-4D97-AF65-F5344CB8AC3E}">
        <p14:creationId xmlns:p14="http://schemas.microsoft.com/office/powerpoint/2010/main" val="2556384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jpeg"/><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6.xml"/><Relationship Id="rId1" Type="http://schemas.openxmlformats.org/officeDocument/2006/relationships/tags" Target="../tags/tag4.xml"/><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21.jpeg"/><Relationship Id="rId2" Type="http://schemas.openxmlformats.org/officeDocument/2006/relationships/slideLayout" Target="../slideLayouts/slideLayout6.xml"/><Relationship Id="rId1" Type="http://schemas.openxmlformats.org/officeDocument/2006/relationships/tags" Target="../tags/tag5.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hyperlink" Target="https://www.redcross.org/volunteer/become-a-volunteer.html" TargetMode="Externa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886C15F-9322-A943-B4FC-32BE3D32904B}"/>
              </a:ext>
            </a:extLst>
          </p:cNvPr>
          <p:cNvSpPr>
            <a:spLocks noGrp="1"/>
          </p:cNvSpPr>
          <p:nvPr>
            <p:ph type="body" sz="quarter" idx="10"/>
          </p:nvPr>
        </p:nvSpPr>
        <p:spPr/>
        <p:txBody>
          <a:bodyPr/>
          <a:lstStyle/>
          <a:p>
            <a:r>
              <a:rPr lang="en-US" dirty="0"/>
              <a:t>American Red Cross Mass Care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B0478F-B43A-4D4E-9D4B-BFE43E5529B8}"/>
              </a:ext>
            </a:extLst>
          </p:cNvPr>
          <p:cNvSpPr>
            <a:spLocks noGrp="1"/>
          </p:cNvSpPr>
          <p:nvPr>
            <p:ph type="title"/>
          </p:nvPr>
        </p:nvSpPr>
        <p:spPr>
          <a:xfrm>
            <a:off x="665870" y="2262283"/>
            <a:ext cx="5178700" cy="3630749"/>
          </a:xfrm>
        </p:spPr>
        <p:txBody>
          <a:bodyPr wrap="square" anchor="t">
            <a:normAutofit/>
          </a:bodyPr>
          <a:lstStyle/>
          <a:p>
            <a:r>
              <a:rPr lang="en-US" sz="3200" dirty="0"/>
              <a:t>The American Red Cross prevents and alleviates human suffering in the face of emergencies by mobilizing the power of volunteers and the generosity of donors</a:t>
            </a:r>
          </a:p>
        </p:txBody>
      </p:sp>
      <p:pic>
        <p:nvPicPr>
          <p:cNvPr id="7170" name="Picture 2" descr="The mission of the Red Cross">
            <a:extLst>
              <a:ext uri="{FF2B5EF4-FFF2-40B4-BE49-F238E27FC236}">
                <a16:creationId xmlns:a16="http://schemas.microsoft.com/office/drawing/2014/main" id="{A661BCDD-69AF-F486-E4EB-327281C80D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4442" r="20606"/>
          <a:stretch>
            <a:fillRect/>
          </a:stretch>
        </p:blipFill>
        <p:spPr bwMode="auto">
          <a:xfrm>
            <a:off x="6711407" y="10"/>
            <a:ext cx="5480595" cy="6857990"/>
          </a:xfrm>
          <a:prstGeom prst="rect">
            <a:avLst/>
          </a:prstGeom>
          <a:solidFill>
            <a:srgbClr val="FFFFFF"/>
          </a:solidFill>
        </p:spPr>
      </p:pic>
      <p:sp>
        <p:nvSpPr>
          <p:cNvPr id="4" name="Slide Number Placeholder 3" hidden="1">
            <a:extLst>
              <a:ext uri="{FF2B5EF4-FFF2-40B4-BE49-F238E27FC236}">
                <a16:creationId xmlns:a16="http://schemas.microsoft.com/office/drawing/2014/main" id="{8575E62C-A998-0F46-A5E6-DAA6EBE1F0D5}"/>
              </a:ext>
            </a:extLst>
          </p:cNvPr>
          <p:cNvSpPr>
            <a:spLocks noGrp="1"/>
          </p:cNvSpPr>
          <p:nvPr>
            <p:ph type="sldNum" sz="quarter" idx="14"/>
          </p:nvPr>
        </p:nvSpPr>
        <p:spPr/>
        <p:txBody>
          <a:bodyPr/>
          <a:lstStyle/>
          <a:p>
            <a:pPr>
              <a:spcAft>
                <a:spcPts val="600"/>
              </a:spcAft>
            </a:pPr>
            <a:fld id="{C602A7E9-85B4-EB4A-8CED-A3527A5FD66A}" type="slidenum">
              <a:rPr lang="en-US" altLang="en-US" smtClean="0"/>
              <a:pPr>
                <a:spcAft>
                  <a:spcPts val="600"/>
                </a:spcAft>
              </a:pPr>
              <a:t>2</a:t>
            </a:fld>
            <a:r>
              <a:rPr lang="en-US" altLang="en-US"/>
              <a:t> </a:t>
            </a:r>
          </a:p>
        </p:txBody>
      </p:sp>
    </p:spTree>
    <p:extLst>
      <p:ext uri="{BB962C8B-B14F-4D97-AF65-F5344CB8AC3E}">
        <p14:creationId xmlns:p14="http://schemas.microsoft.com/office/powerpoint/2010/main" val="32592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2B8854A-8DC7-4624-B8E2-78E62AEA9DFC}"/>
              </a:ext>
            </a:extLst>
          </p:cNvPr>
          <p:cNvSpPr>
            <a:spLocks noGrp="1"/>
          </p:cNvSpPr>
          <p:nvPr>
            <p:ph type="title"/>
          </p:nvPr>
        </p:nvSpPr>
        <p:spPr>
          <a:xfrm>
            <a:off x="2152651" y="344253"/>
            <a:ext cx="7886700" cy="1325563"/>
          </a:xfrm>
        </p:spPr>
        <p:txBody>
          <a:bodyPr vert="horz" lIns="91440" tIns="45720" rIns="91440" bIns="45720" rtlCol="0" anchor="t">
            <a:normAutofit fontScale="90000"/>
          </a:bodyPr>
          <a:lstStyle/>
          <a:p>
            <a:pPr algn="ctr"/>
            <a:br>
              <a:rPr lang="en-US" b="1">
                <a:cs typeface="Calibri Light"/>
              </a:rPr>
            </a:br>
            <a:r>
              <a:rPr lang="en-US" sz="5400" b="1">
                <a:solidFill>
                  <a:srgbClr val="C00000"/>
                </a:solidFill>
              </a:rPr>
              <a:t>SOUTHEASTERN  PA REGION</a:t>
            </a:r>
            <a:endParaRPr lang="en-US" sz="5400" b="1" i="1" dirty="0">
              <a:solidFill>
                <a:srgbClr val="C00000"/>
              </a:solidFill>
              <a:cs typeface="Calibri Light"/>
            </a:endParaRPr>
          </a:p>
        </p:txBody>
      </p:sp>
      <p:sp>
        <p:nvSpPr>
          <p:cNvPr id="2" name="TextBox 1"/>
          <p:cNvSpPr txBox="1"/>
          <p:nvPr/>
        </p:nvSpPr>
        <p:spPr>
          <a:xfrm>
            <a:off x="8995833" y="4035778"/>
            <a:ext cx="762000" cy="369332"/>
          </a:xfrm>
          <a:prstGeom prst="rect">
            <a:avLst/>
          </a:prstGeom>
          <a:noFill/>
        </p:spPr>
        <p:txBody>
          <a:bodyPr wrap="square" rtlCol="0">
            <a:spAutoFit/>
          </a:bodyPr>
          <a:lstStyle/>
          <a:p>
            <a:endParaRPr lang="en-US"/>
          </a:p>
        </p:txBody>
      </p:sp>
      <p:sp>
        <p:nvSpPr>
          <p:cNvPr id="4" name="Slide Number Placeholder 3"/>
          <p:cNvSpPr>
            <a:spLocks noGrp="1"/>
          </p:cNvSpPr>
          <p:nvPr>
            <p:ph type="sldNum" sz="quarter" idx="12"/>
          </p:nvPr>
        </p:nvSpPr>
        <p:spPr/>
        <p:txBody>
          <a:bodyPr/>
          <a:lstStyle/>
          <a:p>
            <a:endParaRPr lang="en-US" dirty="0"/>
          </a:p>
        </p:txBody>
      </p:sp>
      <p:pic>
        <p:nvPicPr>
          <p:cNvPr id="5" name="Picture 6" descr="A picture containing text, map&#10;&#10;Description generated with very high confidence">
            <a:extLst>
              <a:ext uri="{FF2B5EF4-FFF2-40B4-BE49-F238E27FC236}">
                <a16:creationId xmlns:a16="http://schemas.microsoft.com/office/drawing/2014/main" id="{24D5777B-20BB-4C27-9585-96E3E122D6FA}"/>
              </a:ext>
            </a:extLst>
          </p:cNvPr>
          <p:cNvPicPr>
            <a:picLocks noChangeAspect="1"/>
          </p:cNvPicPr>
          <p:nvPr/>
        </p:nvPicPr>
        <p:blipFill>
          <a:blip r:embed="rId3"/>
          <a:stretch>
            <a:fillRect/>
          </a:stretch>
        </p:blipFill>
        <p:spPr>
          <a:xfrm>
            <a:off x="3462627" y="2111260"/>
            <a:ext cx="5276862" cy="3544164"/>
          </a:xfrm>
          <a:prstGeom prst="rect">
            <a:avLst/>
          </a:prstGeom>
        </p:spPr>
      </p:pic>
    </p:spTree>
    <p:extLst>
      <p:ext uri="{BB962C8B-B14F-4D97-AF65-F5344CB8AC3E}">
        <p14:creationId xmlns:p14="http://schemas.microsoft.com/office/powerpoint/2010/main" val="13736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D7D67-56FB-3230-673A-E896665D387D}"/>
            </a:ext>
          </a:extLst>
        </p:cNvPr>
        <p:cNvGrpSpPr/>
        <p:nvPr/>
      </p:nvGrpSpPr>
      <p:grpSpPr>
        <a:xfrm>
          <a:off x="0" y="0"/>
          <a:ext cx="0" cy="0"/>
          <a:chOff x="0" y="0"/>
          <a:chExt cx="0" cy="0"/>
        </a:xfrm>
      </p:grpSpPr>
      <p:sp>
        <p:nvSpPr>
          <p:cNvPr id="141" name="Our Principles">
            <a:extLst>
              <a:ext uri="{FF2B5EF4-FFF2-40B4-BE49-F238E27FC236}">
                <a16:creationId xmlns:a16="http://schemas.microsoft.com/office/drawing/2014/main" id="{0B2D4BF3-D13C-1E82-8913-DB0959DB6726}"/>
              </a:ext>
            </a:extLst>
          </p:cNvPr>
          <p:cNvSpPr txBox="1"/>
          <p:nvPr/>
        </p:nvSpPr>
        <p:spPr>
          <a:xfrm>
            <a:off x="8014757" y="483462"/>
            <a:ext cx="2594289" cy="369332"/>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lvl1pPr algn="ctr">
              <a:defRPr>
                <a:solidFill>
                  <a:srgbClr val="FFFFFF"/>
                </a:solidFill>
                <a:latin typeface="Arial Black"/>
                <a:ea typeface="Arial Black"/>
                <a:cs typeface="Arial Black"/>
                <a:sym typeface="Arial Black"/>
              </a:defRPr>
            </a:lvl1pPr>
          </a:lstStyle>
          <a:p>
            <a:r>
              <a:t>Our Principles</a:t>
            </a:r>
          </a:p>
        </p:txBody>
      </p:sp>
      <p:sp>
        <p:nvSpPr>
          <p:cNvPr id="6" name="Take Care of Yourself">
            <a:extLst>
              <a:ext uri="{FF2B5EF4-FFF2-40B4-BE49-F238E27FC236}">
                <a16:creationId xmlns:a16="http://schemas.microsoft.com/office/drawing/2014/main" id="{0CB66C29-E2BF-EAFD-9A06-D98A2554077C}"/>
              </a:ext>
            </a:extLst>
          </p:cNvPr>
          <p:cNvSpPr txBox="1"/>
          <p:nvPr/>
        </p:nvSpPr>
        <p:spPr>
          <a:xfrm>
            <a:off x="1620532" y="756801"/>
            <a:ext cx="8333524" cy="646331"/>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a:defRPr sz="2400">
                <a:solidFill>
                  <a:schemeClr val="accent1">
                    <a:satOff val="-5820"/>
                    <a:lumOff val="-10352"/>
                  </a:schemeClr>
                </a:solidFill>
                <a:latin typeface="Arial Black"/>
                <a:ea typeface="Arial Black"/>
                <a:cs typeface="Arial Black"/>
                <a:sym typeface="Arial Black"/>
              </a:defRPr>
            </a:lvl1pPr>
          </a:lstStyle>
          <a:p>
            <a:pPr algn="ctr"/>
            <a:r>
              <a:rPr lang="en-US" sz="3600" dirty="0">
                <a:solidFill>
                  <a:srgbClr val="C00000"/>
                </a:solidFill>
              </a:rPr>
              <a:t>WHO ARE OUR VOLUNTEERS?</a:t>
            </a:r>
            <a:endParaRPr sz="3600" dirty="0">
              <a:solidFill>
                <a:srgbClr val="C00000"/>
              </a:solidFill>
            </a:endParaRPr>
          </a:p>
        </p:txBody>
      </p:sp>
      <p:sp>
        <p:nvSpPr>
          <p:cNvPr id="2" name="TextBox 1">
            <a:extLst>
              <a:ext uri="{FF2B5EF4-FFF2-40B4-BE49-F238E27FC236}">
                <a16:creationId xmlns:a16="http://schemas.microsoft.com/office/drawing/2014/main" id="{A9F99927-0737-BA9E-D548-7E025149C4F8}"/>
              </a:ext>
            </a:extLst>
          </p:cNvPr>
          <p:cNvSpPr txBox="1"/>
          <p:nvPr/>
        </p:nvSpPr>
        <p:spPr>
          <a:xfrm>
            <a:off x="521489" y="1613831"/>
            <a:ext cx="7493268" cy="1754326"/>
          </a:xfrm>
          <a:prstGeom prst="rect">
            <a:avLst/>
          </a:prstGeom>
          <a:noFill/>
        </p:spPr>
        <p:txBody>
          <a:bodyPr wrap="square" rtlCol="0">
            <a:spAutoFit/>
          </a:bodyPr>
          <a:lstStyle/>
          <a:p>
            <a:r>
              <a:rPr lang="en-US" b="1" u="sng" dirty="0">
                <a:solidFill>
                  <a:srgbClr val="C00000"/>
                </a:solidFill>
              </a:rPr>
              <a:t>Red Cross Volunteers:</a:t>
            </a:r>
          </a:p>
          <a:p>
            <a:endParaRPr lang="en-US" b="1" dirty="0"/>
          </a:p>
          <a:p>
            <a:pPr marL="285750" indent="-285750">
              <a:buFont typeface="Arial" panose="020B0604020202020204" pitchFamily="34" charset="0"/>
              <a:buChar char="•"/>
            </a:pPr>
            <a:r>
              <a:rPr lang="en-US" dirty="0"/>
              <a:t>Have reached out to us via our website or phone number to become active members of the Red Cross. </a:t>
            </a:r>
          </a:p>
          <a:p>
            <a:pPr marL="285750" indent="-285750">
              <a:buFont typeface="Arial" panose="020B0604020202020204" pitchFamily="34" charset="0"/>
              <a:buChar char="•"/>
            </a:pPr>
            <a:r>
              <a:rPr lang="en-US" dirty="0"/>
              <a:t>Vetted by our DWE teams and received significant training</a:t>
            </a:r>
          </a:p>
          <a:p>
            <a:pPr marL="285750" indent="-285750">
              <a:buFont typeface="Arial" panose="020B0604020202020204" pitchFamily="34" charset="0"/>
              <a:buChar char="•"/>
            </a:pPr>
            <a:r>
              <a:rPr lang="en-US" b="1" dirty="0"/>
              <a:t>Volunteers comprise 90% of our workforce</a:t>
            </a:r>
            <a:endParaRPr lang="en-US" dirty="0"/>
          </a:p>
        </p:txBody>
      </p:sp>
      <p:sp>
        <p:nvSpPr>
          <p:cNvPr id="3" name="TextBox 2">
            <a:extLst>
              <a:ext uri="{FF2B5EF4-FFF2-40B4-BE49-F238E27FC236}">
                <a16:creationId xmlns:a16="http://schemas.microsoft.com/office/drawing/2014/main" id="{345C13F2-97C4-43D3-A9AA-CFB6480FDB31}"/>
              </a:ext>
            </a:extLst>
          </p:cNvPr>
          <p:cNvSpPr txBox="1"/>
          <p:nvPr/>
        </p:nvSpPr>
        <p:spPr>
          <a:xfrm>
            <a:off x="434285" y="3397509"/>
            <a:ext cx="7493268" cy="3139321"/>
          </a:xfrm>
          <a:prstGeom prst="rect">
            <a:avLst/>
          </a:prstGeom>
          <a:noFill/>
        </p:spPr>
        <p:txBody>
          <a:bodyPr wrap="square" rtlCol="0">
            <a:spAutoFit/>
          </a:bodyPr>
          <a:lstStyle/>
          <a:p>
            <a:r>
              <a:rPr lang="en-US" b="1" u="sng" dirty="0">
                <a:solidFill>
                  <a:srgbClr val="C00000"/>
                </a:solidFill>
              </a:rPr>
              <a:t>Event Based Volunteers</a:t>
            </a:r>
          </a:p>
          <a:p>
            <a:endParaRPr lang="en-US" b="1" dirty="0"/>
          </a:p>
          <a:p>
            <a:pPr marL="285750" indent="-285750">
              <a:buFont typeface="Arial" panose="020B0604020202020204" pitchFamily="34" charset="0"/>
              <a:buChar char="•"/>
            </a:pPr>
            <a:r>
              <a:rPr lang="en-US" dirty="0"/>
              <a:t>Flexible, short-term support during high-need situations not affiliated with the Red Cross. Friends and neighbors stepping up to help their community.</a:t>
            </a:r>
          </a:p>
          <a:p>
            <a:pPr marL="742950" lvl="1" indent="-285750">
              <a:buFont typeface="Arial" panose="020B0604020202020204" pitchFamily="34" charset="0"/>
              <a:buChar char="•"/>
            </a:pPr>
            <a:r>
              <a:rPr lang="en-US" dirty="0"/>
              <a:t>Less training required then RC volunteers</a:t>
            </a:r>
          </a:p>
          <a:p>
            <a:pPr marL="742950" lvl="1" indent="-285750">
              <a:buFont typeface="Arial" panose="020B0604020202020204" pitchFamily="34" charset="0"/>
              <a:buChar char="•"/>
            </a:pPr>
            <a:r>
              <a:rPr lang="en-US" dirty="0"/>
              <a:t>Limited access to confidential information and some shelter tasks</a:t>
            </a:r>
          </a:p>
          <a:p>
            <a:pPr marL="742950" lvl="1" indent="-285750">
              <a:buFont typeface="Arial" panose="020B0604020202020204" pitchFamily="34" charset="0"/>
              <a:buChar char="•"/>
            </a:pPr>
            <a:r>
              <a:rPr lang="en-US" dirty="0"/>
              <a:t>Tend to be in operational rather than client facing roles due to confidentiality</a:t>
            </a:r>
          </a:p>
          <a:p>
            <a:pPr marL="742950" lvl="1" indent="-285750">
              <a:buFont typeface="Arial" panose="020B0604020202020204" pitchFamily="34" charset="0"/>
              <a:buChar char="•"/>
            </a:pPr>
            <a:r>
              <a:rPr lang="en-US" dirty="0"/>
              <a:t>May be able to fill a specialized need</a:t>
            </a:r>
          </a:p>
          <a:p>
            <a:pPr marL="742950" lvl="1" indent="-285750">
              <a:buFont typeface="Arial" panose="020B0604020202020204" pitchFamily="34" charset="0"/>
              <a:buChar char="•"/>
            </a:pPr>
            <a:endParaRPr lang="en-US" dirty="0"/>
          </a:p>
        </p:txBody>
      </p:sp>
      <p:pic>
        <p:nvPicPr>
          <p:cNvPr id="8194" name="Picture 2" descr="Asheville-Mountain Area Red Cross: 15 Western Carolinians Red Cross ...">
            <a:extLst>
              <a:ext uri="{FF2B5EF4-FFF2-40B4-BE49-F238E27FC236}">
                <a16:creationId xmlns:a16="http://schemas.microsoft.com/office/drawing/2014/main" id="{57C19B3D-CE73-DD7B-CD54-9C37FD55A3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5231" y="2482787"/>
            <a:ext cx="3787017" cy="2523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574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t>DISASTER CYCLE SERVICES (DCS)</a:t>
            </a:r>
          </a:p>
        </p:txBody>
      </p:sp>
      <p:sp>
        <p:nvSpPr>
          <p:cNvPr id="7" name="Slide Number Placeholder 6"/>
          <p:cNvSpPr>
            <a:spLocks noGrp="1"/>
          </p:cNvSpPr>
          <p:nvPr>
            <p:ph type="sldNum" sz="quarter" idx="12"/>
          </p:nvPr>
        </p:nvSpPr>
        <p:spPr/>
        <p:txBody>
          <a:bodyPr/>
          <a:lstStyle/>
          <a:p>
            <a:fld id="{7153163E-11C3-2D4E-ABC3-14D65BE72F54}" type="slidenum">
              <a:rPr lang="en-US" smtClean="0"/>
              <a:t>5</a:t>
            </a:fld>
            <a:endParaRPr lang="en-US"/>
          </a:p>
        </p:txBody>
      </p:sp>
      <p:sp>
        <p:nvSpPr>
          <p:cNvPr id="3" name="Content Placeholder 2"/>
          <p:cNvSpPr>
            <a:spLocks noGrp="1"/>
          </p:cNvSpPr>
          <p:nvPr>
            <p:ph idx="4294967295"/>
          </p:nvPr>
        </p:nvSpPr>
        <p:spPr>
          <a:xfrm>
            <a:off x="1524000" y="1519238"/>
            <a:ext cx="7886700" cy="1401762"/>
          </a:xfrm>
        </p:spPr>
        <p:txBody>
          <a:bodyPr>
            <a:normAutofit/>
          </a:bodyPr>
          <a:lstStyle/>
          <a:p>
            <a:pPr marL="0" indent="0" algn="ctr">
              <a:buNone/>
            </a:pPr>
            <a:r>
              <a:rPr lang="en-US" sz="3500" b="1">
                <a:solidFill>
                  <a:srgbClr val="C00000"/>
                </a:solidFill>
              </a:rPr>
              <a:t> </a:t>
            </a: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p:txBody>
      </p:sp>
      <p:sp>
        <p:nvSpPr>
          <p:cNvPr id="5" name="Rectangle 4"/>
          <p:cNvSpPr/>
          <p:nvPr/>
        </p:nvSpPr>
        <p:spPr>
          <a:xfrm>
            <a:off x="3048000" y="719671"/>
            <a:ext cx="6096000" cy="5418667"/>
          </a:xfrm>
          <a:prstGeom prst="rect">
            <a:avLst/>
          </a:prstGeom>
        </p:spPr>
        <p:txBody>
          <a:bodyPr/>
          <a:lstStyle/>
          <a:p>
            <a:pPr lvl="0">
              <a:buChar char="•"/>
            </a:pPr>
            <a:endParaRPr lang="en-US"/>
          </a:p>
          <a:p>
            <a:pPr lvl="0">
              <a:buChar char="•"/>
            </a:pPr>
            <a:endParaRPr lang="en-US"/>
          </a:p>
          <a:p>
            <a:pPr lvl="0">
              <a:buChar char="•"/>
            </a:pPr>
            <a:endParaRPr lang="en-US"/>
          </a:p>
          <a:p>
            <a:pPr lvl="0">
              <a:buChar char="•"/>
            </a:pPr>
            <a:endParaRPr lang="en-US"/>
          </a:p>
          <a:p>
            <a:pPr lvl="0">
              <a:buChar char="•"/>
            </a:pPr>
            <a:endParaRPr lang="en-US"/>
          </a:p>
        </p:txBody>
      </p:sp>
      <p:sp>
        <p:nvSpPr>
          <p:cNvPr id="12" name="Freeform 11">
            <a:extLst>
              <a:ext uri="{FF2B5EF4-FFF2-40B4-BE49-F238E27FC236}">
                <a16:creationId xmlns:a16="http://schemas.microsoft.com/office/drawing/2014/main" id="{DF4E1CDC-C451-2444-A0EB-61418AD9F371}"/>
              </a:ext>
            </a:extLst>
          </p:cNvPr>
          <p:cNvSpPr/>
          <p:nvPr/>
        </p:nvSpPr>
        <p:spPr>
          <a:xfrm>
            <a:off x="3862421" y="1603410"/>
            <a:ext cx="3710929" cy="2117159"/>
          </a:xfrm>
          <a:custGeom>
            <a:avLst/>
            <a:gdLst>
              <a:gd name="connsiteX0" fmla="*/ 4554247 w 7421858"/>
              <a:gd name="connsiteY0" fmla="*/ 0 h 4234318"/>
              <a:gd name="connsiteX1" fmla="*/ 6735047 w 7421858"/>
              <a:gd name="connsiteY1" fmla="*/ 552199 h 4234318"/>
              <a:gd name="connsiteX2" fmla="*/ 6749999 w 7421858"/>
              <a:gd name="connsiteY2" fmla="*/ 560796 h 4234318"/>
              <a:gd name="connsiteX3" fmla="*/ 7020479 w 7421858"/>
              <a:gd name="connsiteY3" fmla="*/ 92310 h 4234318"/>
              <a:gd name="connsiteX4" fmla="*/ 7421858 w 7421858"/>
              <a:gd name="connsiteY4" fmla="*/ 2679530 h 4234318"/>
              <a:gd name="connsiteX5" fmla="*/ 4980571 w 7421858"/>
              <a:gd name="connsiteY5" fmla="*/ 3625535 h 4234318"/>
              <a:gd name="connsiteX6" fmla="*/ 5283100 w 7421858"/>
              <a:gd name="connsiteY6" fmla="*/ 3101540 h 4234318"/>
              <a:gd name="connsiteX7" fmla="*/ 5194752 w 7421858"/>
              <a:gd name="connsiteY7" fmla="*/ 3058980 h 4234318"/>
              <a:gd name="connsiteX8" fmla="*/ 4554247 w 7421858"/>
              <a:gd name="connsiteY8" fmla="*/ 2929668 h 4234318"/>
              <a:gd name="connsiteX9" fmla="*/ 2976825 w 7421858"/>
              <a:gd name="connsiteY9" fmla="*/ 4105225 h 4234318"/>
              <a:gd name="connsiteX10" fmla="*/ 2944914 w 7421858"/>
              <a:gd name="connsiteY10" fmla="*/ 4234318 h 4234318"/>
              <a:gd name="connsiteX11" fmla="*/ 1444712 w 7421858"/>
              <a:gd name="connsiteY11" fmla="*/ 3027326 h 4234318"/>
              <a:gd name="connsiteX12" fmla="*/ 0 w 7421858"/>
              <a:gd name="connsiteY12" fmla="*/ 4189673 h 4234318"/>
              <a:gd name="connsiteX13" fmla="*/ 29641 w 7421858"/>
              <a:gd name="connsiteY13" fmla="*/ 3892627 h 4234318"/>
              <a:gd name="connsiteX14" fmla="*/ 4554247 w 7421858"/>
              <a:gd name="connsiteY14" fmla="*/ 0 h 4234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858" h="4234318">
                <a:moveTo>
                  <a:pt x="4554247" y="0"/>
                </a:moveTo>
                <a:cubicBezTo>
                  <a:pt x="5343872" y="0"/>
                  <a:pt x="6086775" y="200037"/>
                  <a:pt x="6735047" y="552199"/>
                </a:cubicBezTo>
                <a:lnTo>
                  <a:pt x="6749999" y="560796"/>
                </a:lnTo>
                <a:lnTo>
                  <a:pt x="7020479" y="92310"/>
                </a:lnTo>
                <a:lnTo>
                  <a:pt x="7421858" y="2679530"/>
                </a:lnTo>
                <a:lnTo>
                  <a:pt x="4980571" y="3625535"/>
                </a:lnTo>
                <a:lnTo>
                  <a:pt x="5283100" y="3101540"/>
                </a:lnTo>
                <a:lnTo>
                  <a:pt x="5194752" y="3058980"/>
                </a:lnTo>
                <a:cubicBezTo>
                  <a:pt x="4997887" y="2975713"/>
                  <a:pt x="4781444" y="2929668"/>
                  <a:pt x="4554247" y="2929668"/>
                </a:cubicBezTo>
                <a:cubicBezTo>
                  <a:pt x="3808757" y="2929668"/>
                  <a:pt x="3179054" y="3425416"/>
                  <a:pt x="2976825" y="4105225"/>
                </a:cubicBezTo>
                <a:lnTo>
                  <a:pt x="2944914" y="4234318"/>
                </a:lnTo>
                <a:lnTo>
                  <a:pt x="1444712" y="3027326"/>
                </a:lnTo>
                <a:lnTo>
                  <a:pt x="0" y="4189673"/>
                </a:lnTo>
                <a:lnTo>
                  <a:pt x="29641" y="3892627"/>
                </a:lnTo>
                <a:cubicBezTo>
                  <a:pt x="359173" y="1689568"/>
                  <a:pt x="2259400" y="0"/>
                  <a:pt x="4554247" y="0"/>
                </a:cubicBez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600">
              <a:solidFill>
                <a:schemeClr val="tx1"/>
              </a:solidFill>
              <a:latin typeface="Calibri Light" panose="020F0302020204030204" pitchFamily="34" charset="0"/>
              <a:cs typeface="Calibri Light" panose="020F0302020204030204" pitchFamily="34" charset="0"/>
            </a:endParaRPr>
          </a:p>
        </p:txBody>
      </p:sp>
      <p:sp>
        <p:nvSpPr>
          <p:cNvPr id="13" name="Freeform 12">
            <a:extLst>
              <a:ext uri="{FF2B5EF4-FFF2-40B4-BE49-F238E27FC236}">
                <a16:creationId xmlns:a16="http://schemas.microsoft.com/office/drawing/2014/main" id="{5B797919-289F-8843-A568-D945CAA1B2DB}"/>
              </a:ext>
            </a:extLst>
          </p:cNvPr>
          <p:cNvSpPr/>
          <p:nvPr/>
        </p:nvSpPr>
        <p:spPr>
          <a:xfrm>
            <a:off x="6245890" y="2000670"/>
            <a:ext cx="2181243" cy="4071148"/>
          </a:xfrm>
          <a:custGeom>
            <a:avLst/>
            <a:gdLst>
              <a:gd name="connsiteX0" fmla="*/ 2362483 w 4362485"/>
              <a:gd name="connsiteY0" fmla="*/ 0 h 8142296"/>
              <a:gd name="connsiteX1" fmla="*/ 2402074 w 4362485"/>
              <a:gd name="connsiteY1" fmla="*/ 25803 h 8142296"/>
              <a:gd name="connsiteX2" fmla="*/ 4362485 w 4362485"/>
              <a:gd name="connsiteY2" fmla="*/ 3780653 h 8142296"/>
              <a:gd name="connsiteX3" fmla="*/ 2402074 w 4362485"/>
              <a:gd name="connsiteY3" fmla="*/ 7535503 h 8142296"/>
              <a:gd name="connsiteX4" fmla="*/ 2176016 w 4362485"/>
              <a:gd name="connsiteY4" fmla="*/ 7682833 h 8142296"/>
              <a:gd name="connsiteX5" fmla="*/ 2441287 w 4362485"/>
              <a:gd name="connsiteY5" fmla="*/ 8142296 h 8142296"/>
              <a:gd name="connsiteX6" fmla="*/ 0 w 4362485"/>
              <a:gd name="connsiteY6" fmla="*/ 7196290 h 8142296"/>
              <a:gd name="connsiteX7" fmla="*/ 401379 w 4362485"/>
              <a:gd name="connsiteY7" fmla="*/ 4609071 h 8142296"/>
              <a:gd name="connsiteX8" fmla="*/ 709786 w 4362485"/>
              <a:gd name="connsiteY8" fmla="*/ 5143248 h 8142296"/>
              <a:gd name="connsiteX9" fmla="*/ 864172 w 4362485"/>
              <a:gd name="connsiteY9" fmla="*/ 5024899 h 8142296"/>
              <a:gd name="connsiteX10" fmla="*/ 1432817 w 4362485"/>
              <a:gd name="connsiteY10" fmla="*/ 3780653 h 8142296"/>
              <a:gd name="connsiteX11" fmla="*/ 1005344 w 4362485"/>
              <a:gd name="connsiteY11" fmla="*/ 2674252 h 8142296"/>
              <a:gd name="connsiteX12" fmla="*/ 895346 w 4362485"/>
              <a:gd name="connsiteY12" fmla="*/ 2566847 h 8142296"/>
              <a:gd name="connsiteX13" fmla="*/ 2654921 w 4362485"/>
              <a:gd name="connsiteY13" fmla="*/ 1885007 h 8142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62485" h="8142296">
                <a:moveTo>
                  <a:pt x="2362483" y="0"/>
                </a:moveTo>
                <a:lnTo>
                  <a:pt x="2402074" y="25803"/>
                </a:lnTo>
                <a:cubicBezTo>
                  <a:pt x="3587147" y="852596"/>
                  <a:pt x="4362485" y="2226080"/>
                  <a:pt x="4362485" y="3780653"/>
                </a:cubicBezTo>
                <a:cubicBezTo>
                  <a:pt x="4362485" y="5335227"/>
                  <a:pt x="3587147" y="6708711"/>
                  <a:pt x="2402074" y="7535503"/>
                </a:cubicBezTo>
                <a:lnTo>
                  <a:pt x="2176016" y="7682833"/>
                </a:lnTo>
                <a:lnTo>
                  <a:pt x="2441287" y="8142296"/>
                </a:lnTo>
                <a:lnTo>
                  <a:pt x="0" y="7196290"/>
                </a:lnTo>
                <a:lnTo>
                  <a:pt x="401379" y="4609071"/>
                </a:lnTo>
                <a:lnTo>
                  <a:pt x="709786" y="5143248"/>
                </a:lnTo>
                <a:lnTo>
                  <a:pt x="864172" y="5024899"/>
                </a:lnTo>
                <a:cubicBezTo>
                  <a:pt x="1212485" y="4723179"/>
                  <a:pt x="1432817" y="4277647"/>
                  <a:pt x="1432817" y="3780653"/>
                </a:cubicBezTo>
                <a:cubicBezTo>
                  <a:pt x="1432817" y="3354659"/>
                  <a:pt x="1270940" y="2966473"/>
                  <a:pt x="1005344" y="2674252"/>
                </a:cubicBezTo>
                <a:lnTo>
                  <a:pt x="895346" y="2566847"/>
                </a:lnTo>
                <a:lnTo>
                  <a:pt x="2654921" y="1885007"/>
                </a:ln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4" name="Freeform 13">
            <a:extLst>
              <a:ext uri="{FF2B5EF4-FFF2-40B4-BE49-F238E27FC236}">
                <a16:creationId xmlns:a16="http://schemas.microsoft.com/office/drawing/2014/main" id="{577595A0-9B54-0E4E-ADD3-A4DAF279B7F3}"/>
              </a:ext>
            </a:extLst>
          </p:cNvPr>
          <p:cNvSpPr/>
          <p:nvPr/>
        </p:nvSpPr>
        <p:spPr>
          <a:xfrm>
            <a:off x="3564823" y="3117072"/>
            <a:ext cx="3578065" cy="3061512"/>
          </a:xfrm>
          <a:custGeom>
            <a:avLst/>
            <a:gdLst>
              <a:gd name="connsiteX0" fmla="*/ 2039909 w 7156130"/>
              <a:gd name="connsiteY0" fmla="*/ 0 h 6123024"/>
              <a:gd name="connsiteX1" fmla="*/ 4079817 w 7156130"/>
              <a:gd name="connsiteY1" fmla="*/ 1641214 h 6123024"/>
              <a:gd name="connsiteX2" fmla="*/ 3508652 w 7156130"/>
              <a:gd name="connsiteY2" fmla="*/ 1641214 h 6123024"/>
              <a:gd name="connsiteX3" fmla="*/ 3512433 w 7156130"/>
              <a:gd name="connsiteY3" fmla="*/ 1716092 h 6123024"/>
              <a:gd name="connsiteX4" fmla="*/ 5149444 w 7156130"/>
              <a:gd name="connsiteY4" fmla="*/ 3193356 h 6123024"/>
              <a:gd name="connsiteX5" fmla="*/ 5638767 w 7156130"/>
              <a:gd name="connsiteY5" fmla="*/ 3119377 h 6123024"/>
              <a:gd name="connsiteX6" fmla="*/ 5648797 w 7156130"/>
              <a:gd name="connsiteY6" fmla="*/ 3115706 h 6123024"/>
              <a:gd name="connsiteX7" fmla="*/ 5362134 w 7156130"/>
              <a:gd name="connsiteY7" fmla="*/ 4963487 h 6123024"/>
              <a:gd name="connsiteX8" fmla="*/ 7156130 w 7156130"/>
              <a:gd name="connsiteY8" fmla="*/ 5658666 h 6123024"/>
              <a:gd name="connsiteX9" fmla="*/ 7082800 w 7156130"/>
              <a:gd name="connsiteY9" fmla="*/ 5695661 h 6123024"/>
              <a:gd name="connsiteX10" fmla="*/ 5149444 w 7156130"/>
              <a:gd name="connsiteY10" fmla="*/ 6123024 h 6123024"/>
              <a:gd name="connsiteX11" fmla="*/ 580222 w 7156130"/>
              <a:gd name="connsiteY11" fmla="*/ 1783287 h 6123024"/>
              <a:gd name="connsiteX12" fmla="*/ 576630 w 7156130"/>
              <a:gd name="connsiteY12" fmla="*/ 1641214 h 6123024"/>
              <a:gd name="connsiteX13" fmla="*/ 0 w 7156130"/>
              <a:gd name="connsiteY13" fmla="*/ 1641214 h 6123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156130" h="6123024">
                <a:moveTo>
                  <a:pt x="2039909" y="0"/>
                </a:moveTo>
                <a:lnTo>
                  <a:pt x="4079817" y="1641214"/>
                </a:lnTo>
                <a:lnTo>
                  <a:pt x="3508652" y="1641214"/>
                </a:lnTo>
                <a:lnTo>
                  <a:pt x="3512433" y="1716092"/>
                </a:lnTo>
                <a:cubicBezTo>
                  <a:pt x="3596699" y="2545849"/>
                  <a:pt x="4297455" y="3193356"/>
                  <a:pt x="5149444" y="3193356"/>
                </a:cubicBezTo>
                <a:cubicBezTo>
                  <a:pt x="5319842" y="3193356"/>
                  <a:pt x="5484190" y="3167456"/>
                  <a:pt x="5638767" y="3119377"/>
                </a:cubicBezTo>
                <a:lnTo>
                  <a:pt x="5648797" y="3115706"/>
                </a:lnTo>
                <a:lnTo>
                  <a:pt x="5362134" y="4963487"/>
                </a:lnTo>
                <a:lnTo>
                  <a:pt x="7156130" y="5658666"/>
                </a:lnTo>
                <a:lnTo>
                  <a:pt x="7082800" y="5695661"/>
                </a:lnTo>
                <a:cubicBezTo>
                  <a:pt x="6495516" y="5969871"/>
                  <a:pt x="5840366" y="6123024"/>
                  <a:pt x="5149444" y="6123024"/>
                </a:cubicBezTo>
                <a:cubicBezTo>
                  <a:pt x="2701607" y="6123024"/>
                  <a:pt x="702760" y="4200671"/>
                  <a:pt x="580222" y="1783287"/>
                </a:cubicBezTo>
                <a:lnTo>
                  <a:pt x="576630" y="1641214"/>
                </a:lnTo>
                <a:lnTo>
                  <a:pt x="0" y="1641214"/>
                </a:ln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5" name="TextBox 14">
            <a:extLst>
              <a:ext uri="{FF2B5EF4-FFF2-40B4-BE49-F238E27FC236}">
                <a16:creationId xmlns:a16="http://schemas.microsoft.com/office/drawing/2014/main" id="{F2B93F91-B5F9-B346-A4E6-BFC61CDBFE67}"/>
              </a:ext>
            </a:extLst>
          </p:cNvPr>
          <p:cNvSpPr txBox="1"/>
          <p:nvPr/>
        </p:nvSpPr>
        <p:spPr>
          <a:xfrm>
            <a:off x="5212023" y="2205078"/>
            <a:ext cx="1458220" cy="523220"/>
          </a:xfrm>
          <a:prstGeom prst="rect">
            <a:avLst/>
          </a:prstGeom>
          <a:noFill/>
        </p:spPr>
        <p:txBody>
          <a:bodyPr wrap="none" rtlCol="0">
            <a:spAutoFit/>
          </a:bodyPr>
          <a:lstStyle/>
          <a:p>
            <a:r>
              <a:rPr lang="en-US" sz="2800" b="1">
                <a:latin typeface="Calibri Light" panose="020F0302020204030204" pitchFamily="34" charset="0"/>
                <a:cs typeface="Calibri Light" panose="020F0302020204030204" pitchFamily="34" charset="0"/>
              </a:rPr>
              <a:t>PREPARE</a:t>
            </a:r>
          </a:p>
        </p:txBody>
      </p:sp>
      <p:sp>
        <p:nvSpPr>
          <p:cNvPr id="20" name="TextBox 19">
            <a:extLst>
              <a:ext uri="{FF2B5EF4-FFF2-40B4-BE49-F238E27FC236}">
                <a16:creationId xmlns:a16="http://schemas.microsoft.com/office/drawing/2014/main" id="{CA629FE6-F801-2249-B1FD-E924FFFC5A20}"/>
              </a:ext>
            </a:extLst>
          </p:cNvPr>
          <p:cNvSpPr txBox="1"/>
          <p:nvPr/>
        </p:nvSpPr>
        <p:spPr>
          <a:xfrm>
            <a:off x="6849778" y="4124608"/>
            <a:ext cx="1577355" cy="523220"/>
          </a:xfrm>
          <a:prstGeom prst="rect">
            <a:avLst/>
          </a:prstGeom>
          <a:noFill/>
        </p:spPr>
        <p:txBody>
          <a:bodyPr wrap="none" rtlCol="0">
            <a:spAutoFit/>
          </a:bodyPr>
          <a:lstStyle/>
          <a:p>
            <a:r>
              <a:rPr lang="en-US" sz="2800" b="1">
                <a:latin typeface="Calibri Light" panose="020F0302020204030204" pitchFamily="34" charset="0"/>
                <a:cs typeface="Calibri Light" panose="020F0302020204030204" pitchFamily="34" charset="0"/>
              </a:rPr>
              <a:t>RESPOND</a:t>
            </a:r>
          </a:p>
        </p:txBody>
      </p:sp>
      <p:sp>
        <p:nvSpPr>
          <p:cNvPr id="21" name="TextBox 20">
            <a:extLst>
              <a:ext uri="{FF2B5EF4-FFF2-40B4-BE49-F238E27FC236}">
                <a16:creationId xmlns:a16="http://schemas.microsoft.com/office/drawing/2014/main" id="{A681BC1E-48AD-7C4C-9F65-C028C27C405D}"/>
              </a:ext>
            </a:extLst>
          </p:cNvPr>
          <p:cNvSpPr txBox="1"/>
          <p:nvPr/>
        </p:nvSpPr>
        <p:spPr>
          <a:xfrm>
            <a:off x="4106089" y="4426356"/>
            <a:ext cx="1535036" cy="523220"/>
          </a:xfrm>
          <a:prstGeom prst="rect">
            <a:avLst/>
          </a:prstGeom>
          <a:noFill/>
        </p:spPr>
        <p:txBody>
          <a:bodyPr wrap="none" rtlCol="0">
            <a:spAutoFit/>
          </a:bodyPr>
          <a:lstStyle/>
          <a:p>
            <a:r>
              <a:rPr lang="en-US" sz="2800" b="1">
                <a:latin typeface="Calibri Light" panose="020F0302020204030204" pitchFamily="34" charset="0"/>
                <a:cs typeface="Calibri Light" panose="020F0302020204030204" pitchFamily="34" charset="0"/>
              </a:rPr>
              <a:t>RECOVER</a:t>
            </a:r>
          </a:p>
        </p:txBody>
      </p:sp>
    </p:spTree>
    <p:extLst>
      <p:ext uri="{BB962C8B-B14F-4D97-AF65-F5344CB8AC3E}">
        <p14:creationId xmlns:p14="http://schemas.microsoft.com/office/powerpoint/2010/main" val="73576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8">
            <a:extLst>
              <a:ext uri="{FF2B5EF4-FFF2-40B4-BE49-F238E27FC236}">
                <a16:creationId xmlns:a16="http://schemas.microsoft.com/office/drawing/2014/main" id="{11205B7E-7C0D-4EE6-A774-7341C3D4CE99}"/>
              </a:ext>
            </a:extLst>
          </p:cNvPr>
          <p:cNvSpPr>
            <a:spLocks noGrp="1"/>
          </p:cNvSpPr>
          <p:nvPr>
            <p:ph type="title"/>
          </p:nvPr>
        </p:nvSpPr>
        <p:spPr>
          <a:xfrm>
            <a:off x="5297762" y="329184"/>
            <a:ext cx="6251110" cy="1783080"/>
          </a:xfrm>
        </p:spPr>
        <p:txBody>
          <a:bodyPr anchor="b">
            <a:normAutofit/>
          </a:bodyPr>
          <a:lstStyle/>
          <a:p>
            <a:r>
              <a:rPr lang="en-US" sz="5400" b="1"/>
              <a:t>Organizational Preparedness: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l="30020" r="24649"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5"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297762" y="2706624"/>
            <a:ext cx="6251110" cy="3483864"/>
          </a:xfrm>
        </p:spPr>
        <p:txBody>
          <a:bodyPr>
            <a:normAutofit/>
          </a:bodyPr>
          <a:lstStyle/>
          <a:p>
            <a:r>
              <a:rPr lang="en-US" sz="2200"/>
              <a:t>Pre-position disaster supplies</a:t>
            </a:r>
          </a:p>
          <a:p>
            <a:pPr>
              <a:buFont typeface="Arial" charset="0"/>
              <a:buChar char="•"/>
            </a:pPr>
            <a:r>
              <a:rPr lang="en-US" sz="2200"/>
              <a:t>Recruit and train response teams</a:t>
            </a:r>
          </a:p>
          <a:p>
            <a:pPr>
              <a:buFont typeface="Arial" charset="0"/>
              <a:buChar char="•"/>
            </a:pPr>
            <a:r>
              <a:rPr lang="en-US" sz="2200"/>
              <a:t>Planning for effective facility and fleet management during disasters</a:t>
            </a:r>
          </a:p>
          <a:p>
            <a:pPr>
              <a:buFont typeface="Arial" charset="0"/>
              <a:buChar char="•"/>
            </a:pPr>
            <a:r>
              <a:rPr lang="en-US" sz="2200"/>
              <a:t>Identify and inspect shelter locations.</a:t>
            </a:r>
          </a:p>
          <a:p>
            <a:pPr>
              <a:buFont typeface="Arial" charset="0"/>
              <a:buChar char="•"/>
            </a:pPr>
            <a:r>
              <a:rPr lang="en-US" sz="2200"/>
              <a:t>Target of 2 hours from request to scene</a:t>
            </a:r>
          </a:p>
          <a:p>
            <a:pPr>
              <a:buFont typeface="Arial" charset="0"/>
              <a:buChar char="•"/>
            </a:pPr>
            <a:r>
              <a:rPr lang="en-US" sz="2200"/>
              <a:t>Aim to be able to maintain 3 simultaneous shelters for 3 days to allow time for national support</a:t>
            </a:r>
          </a:p>
        </p:txBody>
      </p:sp>
      <p:sp>
        <p:nvSpPr>
          <p:cNvPr id="4" name="Slide Number Placeholder 3"/>
          <p:cNvSpPr>
            <a:spLocks noGrp="1"/>
          </p:cNvSpPr>
          <p:nvPr>
            <p:ph type="sldNum" sz="quarter" idx="12"/>
          </p:nvPr>
        </p:nvSpPr>
        <p:spPr>
          <a:xfrm>
            <a:off x="10052978" y="6356350"/>
            <a:ext cx="1300821" cy="365125"/>
          </a:xfrm>
        </p:spPr>
        <p:txBody>
          <a:bodyPr>
            <a:normAutofit/>
          </a:bodyPr>
          <a:lstStyle/>
          <a:p>
            <a:pPr>
              <a:spcAft>
                <a:spcPts val="600"/>
              </a:spcAft>
            </a:pPr>
            <a:fld id="{7153163E-11C3-2D4E-ABC3-14D65BE72F54}" type="slidenum">
              <a:rPr lang="en-US" smtClean="0"/>
              <a:pPr>
                <a:spcAft>
                  <a:spcPts val="600"/>
                </a:spcAft>
              </a:pPr>
              <a:t>6</a:t>
            </a:fld>
            <a:endParaRPr lang="en-US"/>
          </a:p>
        </p:txBody>
      </p:sp>
    </p:spTree>
    <p:extLst>
      <p:ext uri="{BB962C8B-B14F-4D97-AF65-F5344CB8AC3E}">
        <p14:creationId xmlns:p14="http://schemas.microsoft.com/office/powerpoint/2010/main" val="3122233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5782" y="1708842"/>
            <a:ext cx="6469526" cy="4453963"/>
          </a:xfrm>
        </p:spPr>
        <p:txBody>
          <a:bodyPr vert="horz" wrap="square" lIns="91440" tIns="45720" rIns="91440" bIns="45720" rtlCol="0" anchor="t">
            <a:noAutofit/>
          </a:bodyPr>
          <a:lstStyle/>
          <a:p>
            <a:pPr>
              <a:spcBef>
                <a:spcPts val="0"/>
              </a:spcBef>
              <a:spcAft>
                <a:spcPts val="600"/>
              </a:spcAft>
            </a:pPr>
            <a:r>
              <a:rPr lang="en-US" sz="2400" dirty="0">
                <a:latin typeface="+mj-lt"/>
              </a:rPr>
              <a:t>24/7 response to any disaster event of any size</a:t>
            </a:r>
          </a:p>
          <a:p>
            <a:pPr>
              <a:spcBef>
                <a:spcPts val="0"/>
              </a:spcBef>
              <a:spcAft>
                <a:spcPts val="600"/>
              </a:spcAft>
            </a:pPr>
            <a:r>
              <a:rPr lang="en-US" sz="2400" dirty="0">
                <a:latin typeface="+mj-lt"/>
              </a:rPr>
              <a:t>Will handle the needs of up to 10 individual cases in the moment</a:t>
            </a:r>
          </a:p>
          <a:p>
            <a:pPr>
              <a:spcBef>
                <a:spcPts val="0"/>
              </a:spcBef>
              <a:spcAft>
                <a:spcPts val="600"/>
              </a:spcAft>
            </a:pPr>
            <a:r>
              <a:rPr lang="en-US" sz="2400" dirty="0">
                <a:latin typeface="+mj-lt"/>
              </a:rPr>
              <a:t>Assess damage and client’s post disaster needs</a:t>
            </a:r>
          </a:p>
          <a:p>
            <a:pPr>
              <a:spcBef>
                <a:spcPts val="0"/>
              </a:spcBef>
            </a:pPr>
            <a:r>
              <a:rPr lang="en-US" sz="2400" dirty="0">
                <a:latin typeface="+mj-lt"/>
              </a:rPr>
              <a:t>Able to disburse financial assistance to help with immediate needs </a:t>
            </a:r>
          </a:p>
          <a:p>
            <a:r>
              <a:rPr lang="en-US" sz="2400" dirty="0">
                <a:latin typeface="+mj-lt"/>
              </a:rPr>
              <a:t>Create cases and notes to allow for follow on Medical, Mental Health and Spiritual Care services</a:t>
            </a:r>
          </a:p>
          <a:p>
            <a:r>
              <a:rPr lang="en-US" sz="2400" dirty="0">
                <a:latin typeface="+mj-lt"/>
              </a:rPr>
              <a:t>Serves as the pivot and information gathering element of escalating mass care situations</a:t>
            </a:r>
          </a:p>
        </p:txBody>
      </p:sp>
      <p:sp>
        <p:nvSpPr>
          <p:cNvPr id="5" name="Slide Number Placeholder 4"/>
          <p:cNvSpPr>
            <a:spLocks noGrp="1"/>
          </p:cNvSpPr>
          <p:nvPr>
            <p:ph type="sldNum" sz="quarter" idx="12"/>
          </p:nvPr>
        </p:nvSpPr>
        <p:spPr/>
        <p:txBody>
          <a:bodyPr/>
          <a:lstStyle/>
          <a:p>
            <a:fld id="{7153163E-11C3-2D4E-ABC3-14D65BE72F54}" type="slidenum">
              <a:rPr lang="en-US" smtClean="0"/>
              <a:t>7</a:t>
            </a:fld>
            <a:endParaRPr lang="en-US"/>
          </a:p>
        </p:txBody>
      </p:sp>
      <p:sp>
        <p:nvSpPr>
          <p:cNvPr id="6" name="Title 5">
            <a:extLst>
              <a:ext uri="{FF2B5EF4-FFF2-40B4-BE49-F238E27FC236}">
                <a16:creationId xmlns:a16="http://schemas.microsoft.com/office/drawing/2014/main" id="{B4FE6437-208C-47D0-B1E5-82AB682D662F}"/>
              </a:ext>
            </a:extLst>
          </p:cNvPr>
          <p:cNvSpPr>
            <a:spLocks noGrp="1"/>
          </p:cNvSpPr>
          <p:nvPr>
            <p:ph type="title"/>
          </p:nvPr>
        </p:nvSpPr>
        <p:spPr>
          <a:xfrm>
            <a:off x="2013037" y="199142"/>
            <a:ext cx="7886700" cy="839104"/>
          </a:xfrm>
        </p:spPr>
        <p:txBody>
          <a:bodyPr>
            <a:normAutofit/>
          </a:bodyPr>
          <a:lstStyle/>
          <a:p>
            <a:r>
              <a:rPr lang="en-US" b="1" dirty="0">
                <a:solidFill>
                  <a:srgbClr val="C00000"/>
                </a:solidFill>
              </a:rPr>
              <a:t>DISASTER ACTION TEAM (DAT)</a:t>
            </a:r>
          </a:p>
        </p:txBody>
      </p:sp>
      <p:sp>
        <p:nvSpPr>
          <p:cNvPr id="7" name="TextBox 6">
            <a:extLst>
              <a:ext uri="{FF2B5EF4-FFF2-40B4-BE49-F238E27FC236}">
                <a16:creationId xmlns:a16="http://schemas.microsoft.com/office/drawing/2014/main" id="{AA1183B6-3943-4486-86AD-252873E0A286}"/>
              </a:ext>
            </a:extLst>
          </p:cNvPr>
          <p:cNvSpPr txBox="1"/>
          <p:nvPr/>
        </p:nvSpPr>
        <p:spPr>
          <a:xfrm>
            <a:off x="1173795" y="1053627"/>
            <a:ext cx="8619334" cy="461665"/>
          </a:xfrm>
          <a:prstGeom prst="rect">
            <a:avLst/>
          </a:prstGeom>
          <a:noFill/>
        </p:spPr>
        <p:txBody>
          <a:bodyPr wrap="square" rtlCol="0">
            <a:spAutoFit/>
          </a:bodyPr>
          <a:lstStyle/>
          <a:p>
            <a:pPr algn="ctr"/>
            <a:r>
              <a:rPr lang="en-US" sz="2400" b="1" i="1" dirty="0">
                <a:solidFill>
                  <a:srgbClr val="C00000"/>
                </a:solidFill>
                <a:latin typeface="Calibri Light" panose="020F0302020204030204" pitchFamily="34" charset="0"/>
              </a:rPr>
              <a:t>Every call begins here</a:t>
            </a:r>
            <a:endParaRPr lang="en-US" sz="2400" b="1" i="1" dirty="0"/>
          </a:p>
        </p:txBody>
      </p:sp>
      <p:pic>
        <p:nvPicPr>
          <p:cNvPr id="2050" name="Picture 2">
            <a:extLst>
              <a:ext uri="{FF2B5EF4-FFF2-40B4-BE49-F238E27FC236}">
                <a16:creationId xmlns:a16="http://schemas.microsoft.com/office/drawing/2014/main" id="{7DF585D6-1E7B-4B95-AECB-AAE0B4296A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729" y="2040356"/>
            <a:ext cx="4026233" cy="301967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671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2EF18C-1924-D8FD-DBB1-680BBAEDBDD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The Client Care Program (CCP) </a:t>
            </a:r>
          </a:p>
        </p:txBody>
      </p:sp>
      <p:pic>
        <p:nvPicPr>
          <p:cNvPr id="4" name="Content Placeholder 3" descr="Graphical user interface, application&#10;&#10;Description automatically generated">
            <a:extLst>
              <a:ext uri="{FF2B5EF4-FFF2-40B4-BE49-F238E27FC236}">
                <a16:creationId xmlns:a16="http://schemas.microsoft.com/office/drawing/2014/main" id="{609A508F-6F3C-89C0-A0A8-CAD7FF613D11}"/>
              </a:ext>
            </a:extLst>
          </p:cNvPr>
          <p:cNvPicPr>
            <a:picLocks noGrp="1" noChangeAspect="1"/>
          </p:cNvPicPr>
          <p:nvPr>
            <p:ph idx="1"/>
          </p:nvPr>
        </p:nvPicPr>
        <p:blipFill rotWithShape="1">
          <a:blip r:embed="rId3" cstate="screen">
            <a:extLst>
              <a:ext uri="{28A0092B-C50C-407E-A947-70E740481C1C}">
                <a14:useLocalDpi xmlns:a14="http://schemas.microsoft.com/office/drawing/2010/main"/>
              </a:ext>
            </a:extLst>
          </a:blip>
          <a:stretch/>
        </p:blipFill>
        <p:spPr bwMode="auto">
          <a:xfrm>
            <a:off x="1371055" y="1675227"/>
            <a:ext cx="9449889" cy="4394199"/>
          </a:xfrm>
          <a:prstGeom prst="rect">
            <a:avLst/>
          </a:prstGeom>
          <a:extLst>
            <a:ext uri="{53640926-AAD7-44D8-BBD7-CCE9431645EC}">
              <a14:shadowObscured xmlns:a14="http://schemas.microsoft.com/office/drawing/2010/main"/>
            </a:ext>
          </a:extLst>
        </p:spPr>
      </p:pic>
      <p:sp>
        <p:nvSpPr>
          <p:cNvPr id="3" name="Slide Number Placeholder 2">
            <a:extLst>
              <a:ext uri="{FF2B5EF4-FFF2-40B4-BE49-F238E27FC236}">
                <a16:creationId xmlns:a16="http://schemas.microsoft.com/office/drawing/2014/main" id="{A7DFD332-5DA0-FAA2-AC2F-54183F16CBAC}"/>
              </a:ext>
            </a:extLst>
          </p:cNvPr>
          <p:cNvSpPr>
            <a:spLocks noGrp="1"/>
          </p:cNvSpPr>
          <p:nvPr>
            <p:ph type="sldNum" sz="quarter" idx="11"/>
          </p:nvPr>
        </p:nvSpPr>
        <p:spPr>
          <a:xfrm>
            <a:off x="8610600" y="6356350"/>
            <a:ext cx="2743200" cy="365125"/>
          </a:xfrm>
        </p:spPr>
        <p:txBody>
          <a:bodyPr vert="horz" lIns="91440" tIns="45720" rIns="91440" bIns="45720" rtlCol="0" anchor="ctr">
            <a:normAutofit/>
          </a:bodyPr>
          <a:lstStyle/>
          <a:p>
            <a:pPr algn="r">
              <a:spcAft>
                <a:spcPts val="600"/>
              </a:spcAft>
            </a:pPr>
            <a:fld id="{28651880-CFEA-4FF5-84E7-8DA858A2CABC}" type="slidenum">
              <a:rPr lang="en-US" smtClean="0">
                <a:solidFill>
                  <a:schemeClr val="tx1">
                    <a:tint val="75000"/>
                  </a:schemeClr>
                </a:solidFill>
              </a:rPr>
              <a:pPr algn="r">
                <a:spcAft>
                  <a:spcPts val="600"/>
                </a:spcAft>
              </a:pPr>
              <a:t>8</a:t>
            </a:fld>
            <a:endParaRPr lang="en-US">
              <a:solidFill>
                <a:schemeClr val="tx1">
                  <a:tint val="75000"/>
                </a:schemeClr>
              </a:solidFill>
            </a:endParaRPr>
          </a:p>
        </p:txBody>
      </p:sp>
    </p:spTree>
    <p:extLst>
      <p:ext uri="{BB962C8B-B14F-4D97-AF65-F5344CB8AC3E}">
        <p14:creationId xmlns:p14="http://schemas.microsoft.com/office/powerpoint/2010/main" val="3105676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18ED5A-B3A7-0738-F5DE-514C6AEFFCD7}"/>
            </a:ext>
          </a:extLst>
        </p:cNvPr>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FA69AAE0-49D5-4C8B-8BA2-55898C00E0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American Red Cross Central Valley: DAT Fire Call">
            <a:extLst>
              <a:ext uri="{FF2B5EF4-FFF2-40B4-BE49-F238E27FC236}">
                <a16:creationId xmlns:a16="http://schemas.microsoft.com/office/drawing/2014/main" id="{F80EDECA-0C80-C7DA-BBC0-2B4719A34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0" r="13987"/>
          <a:stretch>
            <a:fillRect/>
          </a:stretch>
        </p:blipFill>
        <p:spPr bwMode="auto">
          <a:xfrm>
            <a:off x="-4" y="-4"/>
            <a:ext cx="7534640" cy="6857984"/>
          </a:xfrm>
          <a:custGeom>
            <a:avLst/>
            <a:gdLst/>
            <a:ahLst/>
            <a:cxnLst/>
            <a:rect l="l" t="t" r="r" b="b"/>
            <a:pathLst>
              <a:path w="7534640" h="6857984">
                <a:moveTo>
                  <a:pt x="0" y="0"/>
                </a:moveTo>
                <a:lnTo>
                  <a:pt x="7534640" y="0"/>
                </a:lnTo>
                <a:lnTo>
                  <a:pt x="7534640" y="3832811"/>
                </a:lnTo>
                <a:lnTo>
                  <a:pt x="7344853" y="3826712"/>
                </a:lnTo>
                <a:cubicBezTo>
                  <a:pt x="7344853" y="3826712"/>
                  <a:pt x="7341511" y="3826712"/>
                  <a:pt x="7341511" y="3826712"/>
                </a:cubicBezTo>
                <a:cubicBezTo>
                  <a:pt x="7274667" y="3823370"/>
                  <a:pt x="7211169" y="3823370"/>
                  <a:pt x="7144324" y="3820027"/>
                </a:cubicBezTo>
                <a:cubicBezTo>
                  <a:pt x="6913719" y="3820027"/>
                  <a:pt x="6683113" y="3820027"/>
                  <a:pt x="6455848" y="3820027"/>
                </a:cubicBezTo>
                <a:cubicBezTo>
                  <a:pt x="6231926" y="3910265"/>
                  <a:pt x="5987951" y="3833396"/>
                  <a:pt x="5767372" y="3903581"/>
                </a:cubicBezTo>
                <a:cubicBezTo>
                  <a:pt x="5533423" y="3900239"/>
                  <a:pt x="5312845" y="3970423"/>
                  <a:pt x="5082238" y="4000503"/>
                </a:cubicBezTo>
                <a:cubicBezTo>
                  <a:pt x="4908446" y="4013871"/>
                  <a:pt x="4731314" y="3997160"/>
                  <a:pt x="4570892" y="4067345"/>
                </a:cubicBezTo>
                <a:cubicBezTo>
                  <a:pt x="4447233" y="4124161"/>
                  <a:pt x="4350312" y="4197688"/>
                  <a:pt x="4483996" y="4348083"/>
                </a:cubicBezTo>
                <a:cubicBezTo>
                  <a:pt x="4644419" y="4344742"/>
                  <a:pt x="4627708" y="4598742"/>
                  <a:pt x="4788129" y="4561979"/>
                </a:cubicBezTo>
                <a:cubicBezTo>
                  <a:pt x="4754709" y="4678954"/>
                  <a:pt x="4641076" y="4618795"/>
                  <a:pt x="4600971" y="4705690"/>
                </a:cubicBezTo>
                <a:cubicBezTo>
                  <a:pt x="4684524" y="4779217"/>
                  <a:pt x="4844945" y="4725744"/>
                  <a:pt x="4871683" y="4879480"/>
                </a:cubicBezTo>
                <a:cubicBezTo>
                  <a:pt x="4838262" y="5039902"/>
                  <a:pt x="4945210" y="5019849"/>
                  <a:pt x="5032105" y="5029876"/>
                </a:cubicBezTo>
                <a:cubicBezTo>
                  <a:pt x="5239317" y="5049930"/>
                  <a:pt x="5439843" y="5063297"/>
                  <a:pt x="5643713" y="5096719"/>
                </a:cubicBezTo>
                <a:cubicBezTo>
                  <a:pt x="5693844" y="5106745"/>
                  <a:pt x="5810819" y="5083350"/>
                  <a:pt x="5800794" y="5186956"/>
                </a:cubicBezTo>
                <a:cubicBezTo>
                  <a:pt x="5790767" y="5270508"/>
                  <a:pt x="5700529" y="5240431"/>
                  <a:pt x="5643713" y="5243772"/>
                </a:cubicBezTo>
                <a:cubicBezTo>
                  <a:pt x="5329553" y="5283879"/>
                  <a:pt x="5012052" y="5220378"/>
                  <a:pt x="4701235" y="5223719"/>
                </a:cubicBezTo>
                <a:cubicBezTo>
                  <a:pt x="4664472" y="5223719"/>
                  <a:pt x="4657787" y="5334009"/>
                  <a:pt x="4577576" y="5297246"/>
                </a:cubicBezTo>
                <a:cubicBezTo>
                  <a:pt x="4788129" y="5397510"/>
                  <a:pt x="5767372" y="5424248"/>
                  <a:pt x="6094900" y="5477721"/>
                </a:cubicBezTo>
                <a:cubicBezTo>
                  <a:pt x="5754004" y="5858724"/>
                  <a:pt x="5429817" y="5628117"/>
                  <a:pt x="5159105" y="5842012"/>
                </a:cubicBezTo>
                <a:cubicBezTo>
                  <a:pt x="5159105" y="5842012"/>
                  <a:pt x="5212580" y="5842012"/>
                  <a:pt x="5443187" y="5912197"/>
                </a:cubicBezTo>
                <a:cubicBezTo>
                  <a:pt x="5627002" y="5969012"/>
                  <a:pt x="5536765" y="6049223"/>
                  <a:pt x="6001321" y="6202962"/>
                </a:cubicBezTo>
                <a:cubicBezTo>
                  <a:pt x="5824188" y="6253093"/>
                  <a:pt x="5593581" y="6156172"/>
                  <a:pt x="5506685" y="6416857"/>
                </a:cubicBezTo>
                <a:cubicBezTo>
                  <a:pt x="5643713" y="6463648"/>
                  <a:pt x="5807477" y="6420200"/>
                  <a:pt x="5904398" y="6543858"/>
                </a:cubicBezTo>
                <a:cubicBezTo>
                  <a:pt x="5934478" y="6580622"/>
                  <a:pt x="5964557" y="6604017"/>
                  <a:pt x="6001321" y="6624068"/>
                </a:cubicBezTo>
                <a:cubicBezTo>
                  <a:pt x="5984612" y="6630754"/>
                  <a:pt x="5964557" y="6637437"/>
                  <a:pt x="5951188" y="6644121"/>
                </a:cubicBezTo>
                <a:cubicBezTo>
                  <a:pt x="5977925" y="6667518"/>
                  <a:pt x="6663060" y="6794517"/>
                  <a:pt x="6836850" y="6797860"/>
                </a:cubicBezTo>
                <a:cubicBezTo>
                  <a:pt x="6761652" y="6822926"/>
                  <a:pt x="6636845" y="6844075"/>
                  <a:pt x="6553814" y="6856412"/>
                </a:cubicBezTo>
                <a:lnTo>
                  <a:pt x="6542822" y="6857984"/>
                </a:lnTo>
                <a:lnTo>
                  <a:pt x="0" y="6857984"/>
                </a:lnTo>
                <a:close/>
              </a:path>
            </a:pathLst>
          </a:custGeom>
          <a:noFill/>
          <a:extLst>
            <a:ext uri="{909E8E84-426E-40DD-AFC4-6F175D3DCCD1}">
              <a14:hiddenFill xmlns:a14="http://schemas.microsoft.com/office/drawing/2010/main">
                <a:solidFill>
                  <a:srgbClr val="FFFFFF"/>
                </a:solidFill>
              </a14:hiddenFill>
            </a:ext>
          </a:extLst>
        </p:spPr>
      </p:pic>
      <p:sp>
        <p:nvSpPr>
          <p:cNvPr id="6" name="Take Care of Yourself">
            <a:extLst>
              <a:ext uri="{FF2B5EF4-FFF2-40B4-BE49-F238E27FC236}">
                <a16:creationId xmlns:a16="http://schemas.microsoft.com/office/drawing/2014/main" id="{F0F263A0-170B-BF23-4B59-683218603A3C}"/>
              </a:ext>
            </a:extLst>
          </p:cNvPr>
          <p:cNvSpPr txBox="1"/>
          <p:nvPr/>
        </p:nvSpPr>
        <p:spPr>
          <a:xfrm>
            <a:off x="6343650" y="3962400"/>
            <a:ext cx="5505814" cy="1690409"/>
          </a:xfrm>
          <a:prstGeom prst="rect">
            <a:avLst/>
          </a:prstGeom>
          <a:extLst>
            <a:ext uri="{C572A759-6A51-4108-AA02-DFA0A04FC94B}">
              <ma14:wrappingTextBoxFlag xmlns="" xmlns:ma14="http://schemas.microsoft.com/office/mac/drawingml/2011/main" val="1"/>
            </a:ext>
          </a:extLst>
        </p:spPr>
        <p:txBody>
          <a:bodyPr vert="horz" lIns="91440" tIns="45720" rIns="91440" bIns="45720" rtlCol="0" anchor="b">
            <a:normAutofit/>
          </a:bodyPr>
          <a:lstStyle>
            <a:lvl1pPr>
              <a:defRPr sz="2400">
                <a:solidFill>
                  <a:schemeClr val="accent1">
                    <a:satOff val="-5820"/>
                    <a:lumOff val="-10352"/>
                  </a:schemeClr>
                </a:solidFill>
                <a:latin typeface="Arial Black"/>
                <a:ea typeface="Arial Black"/>
                <a:cs typeface="Arial Black"/>
                <a:sym typeface="Arial Black"/>
              </a:defRPr>
            </a:lvl1pPr>
          </a:lstStyle>
          <a:p>
            <a:pPr>
              <a:lnSpc>
                <a:spcPct val="90000"/>
              </a:lnSpc>
              <a:spcBef>
                <a:spcPct val="0"/>
              </a:spcBef>
              <a:spcAft>
                <a:spcPts val="600"/>
              </a:spcAft>
            </a:pPr>
            <a:r>
              <a:rPr lang="en-US" sz="3700" kern="1200">
                <a:solidFill>
                  <a:schemeClr val="tx1"/>
                </a:solidFill>
                <a:latin typeface="+mj-lt"/>
                <a:ea typeface="+mj-ea"/>
                <a:cs typeface="+mj-cs"/>
              </a:rPr>
              <a:t>TRANSITION FROM DAT RESPONSE TO MASS CARE EVENT</a:t>
            </a:r>
          </a:p>
        </p:txBody>
      </p:sp>
      <p:pic>
        <p:nvPicPr>
          <p:cNvPr id="9220" name="Picture 4" descr="Dozens displaced following fire at Destin apartment complex | WKRG.com">
            <a:extLst>
              <a:ext uri="{FF2B5EF4-FFF2-40B4-BE49-F238E27FC236}">
                <a16:creationId xmlns:a16="http://schemas.microsoft.com/office/drawing/2014/main" id="{207BDFDD-8FA0-C51F-E744-27830E223B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7453" r="-1" b="18473"/>
          <a:stretch>
            <a:fillRect/>
          </a:stretch>
        </p:blipFill>
        <p:spPr bwMode="auto">
          <a:xfrm>
            <a:off x="7653541" y="6"/>
            <a:ext cx="4538463" cy="3877247"/>
          </a:xfrm>
          <a:custGeom>
            <a:avLst/>
            <a:gdLst/>
            <a:ahLst/>
            <a:cxnLst/>
            <a:rect l="l" t="t" r="r" b="b"/>
            <a:pathLst>
              <a:path w="4538463" h="3877247">
                <a:moveTo>
                  <a:pt x="0" y="0"/>
                </a:moveTo>
                <a:lnTo>
                  <a:pt x="4538463" y="0"/>
                </a:lnTo>
                <a:lnTo>
                  <a:pt x="4538463" y="3437173"/>
                </a:lnTo>
                <a:lnTo>
                  <a:pt x="4530710" y="3429000"/>
                </a:lnTo>
                <a:cubicBezTo>
                  <a:pt x="4370289" y="3495842"/>
                  <a:pt x="4239946" y="3686344"/>
                  <a:pt x="4056129" y="3636211"/>
                </a:cubicBezTo>
                <a:cubicBezTo>
                  <a:pt x="3872313" y="3589422"/>
                  <a:pt x="3788760" y="3830055"/>
                  <a:pt x="3618310" y="3756528"/>
                </a:cubicBezTo>
                <a:cubicBezTo>
                  <a:pt x="3394389" y="3823371"/>
                  <a:pt x="3163783" y="3823371"/>
                  <a:pt x="2933176" y="3810002"/>
                </a:cubicBezTo>
                <a:cubicBezTo>
                  <a:pt x="2702570" y="3840081"/>
                  <a:pt x="2471962" y="3873503"/>
                  <a:pt x="2238015" y="3850107"/>
                </a:cubicBezTo>
                <a:cubicBezTo>
                  <a:pt x="2007408" y="3870161"/>
                  <a:pt x="1783486" y="3883529"/>
                  <a:pt x="1552880" y="3863476"/>
                </a:cubicBezTo>
                <a:cubicBezTo>
                  <a:pt x="1322274" y="3886870"/>
                  <a:pt x="1091667" y="3876844"/>
                  <a:pt x="864402" y="3860134"/>
                </a:cubicBezTo>
                <a:cubicBezTo>
                  <a:pt x="757455" y="3860134"/>
                  <a:pt x="653849" y="3856792"/>
                  <a:pt x="546902" y="3856792"/>
                </a:cubicBezTo>
                <a:cubicBezTo>
                  <a:pt x="404861" y="3850108"/>
                  <a:pt x="262821" y="3845095"/>
                  <a:pt x="120363" y="3840499"/>
                </a:cubicBezTo>
                <a:lnTo>
                  <a:pt x="0" y="3836632"/>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7147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8ED5A-B3A7-0738-F5DE-514C6AEFFCD7}"/>
            </a:ext>
          </a:extLst>
        </p:cNvPr>
        <p:cNvGrpSpPr/>
        <p:nvPr/>
      </p:nvGrpSpPr>
      <p:grpSpPr>
        <a:xfrm>
          <a:off x="0" y="0"/>
          <a:ext cx="0" cy="0"/>
          <a:chOff x="0" y="0"/>
          <a:chExt cx="0" cy="0"/>
        </a:xfrm>
      </p:grpSpPr>
      <p:sp>
        <p:nvSpPr>
          <p:cNvPr id="141" name="Our Principles">
            <a:extLst>
              <a:ext uri="{FF2B5EF4-FFF2-40B4-BE49-F238E27FC236}">
                <a16:creationId xmlns:a16="http://schemas.microsoft.com/office/drawing/2014/main" id="{0ECA3E6F-28DC-CD2A-2E42-46730BAC0ED9}"/>
              </a:ext>
            </a:extLst>
          </p:cNvPr>
          <p:cNvSpPr txBox="1"/>
          <p:nvPr/>
        </p:nvSpPr>
        <p:spPr>
          <a:xfrm>
            <a:off x="8014757" y="483462"/>
            <a:ext cx="2594289" cy="369332"/>
          </a:xfrm>
          <a:prstGeom prst="rect">
            <a:avLst/>
          </a:prstGeom>
          <a:ln w="12700">
            <a:miter lim="400000"/>
          </a:ln>
          <a:extLst>
            <a:ext uri="{C572A759-6A51-4108-AA02-DFA0A04FC94B}">
              <ma14:wrappingTextBoxFlag xmlns="" xmlns:ma14="http://schemas.microsoft.com/office/mac/drawingml/2011/main" val="1"/>
            </a:ext>
          </a:extLst>
        </p:spPr>
        <p:txBody>
          <a:bodyPr lIns="45719" rIns="45719">
            <a:spAutoFit/>
          </a:bodyPr>
          <a:lstStyle>
            <a:lvl1pPr algn="ctr">
              <a:defRPr>
                <a:solidFill>
                  <a:srgbClr val="FFFFFF"/>
                </a:solidFill>
                <a:latin typeface="Arial Black"/>
                <a:ea typeface="Arial Black"/>
                <a:cs typeface="Arial Black"/>
                <a:sym typeface="Arial Black"/>
              </a:defRPr>
            </a:lvl1pPr>
          </a:lstStyle>
          <a:p>
            <a:r>
              <a:rPr dirty="0"/>
              <a:t>Our Principles</a:t>
            </a:r>
          </a:p>
        </p:txBody>
      </p:sp>
      <p:pic>
        <p:nvPicPr>
          <p:cNvPr id="142" name="pasted-image.tiff" descr="pasted-image.tiff">
            <a:extLst>
              <a:ext uri="{FF2B5EF4-FFF2-40B4-BE49-F238E27FC236}">
                <a16:creationId xmlns:a16="http://schemas.microsoft.com/office/drawing/2014/main" id="{50BD313E-95A1-2F08-DB85-0299B2967F0B}"/>
              </a:ext>
            </a:extLst>
          </p:cNvPr>
          <p:cNvPicPr>
            <a:picLocks noChangeAspect="1"/>
          </p:cNvPicPr>
          <p:nvPr/>
        </p:nvPicPr>
        <p:blipFill>
          <a:blip r:embed="rId3" cstate="print"/>
          <a:stretch>
            <a:fillRect/>
          </a:stretch>
        </p:blipFill>
        <p:spPr>
          <a:xfrm>
            <a:off x="8695923" y="2896524"/>
            <a:ext cx="3154593" cy="2368899"/>
          </a:xfrm>
          <a:prstGeom prst="rect">
            <a:avLst/>
          </a:prstGeom>
          <a:ln w="12700">
            <a:miter lim="400000"/>
          </a:ln>
        </p:spPr>
      </p:pic>
      <p:sp>
        <p:nvSpPr>
          <p:cNvPr id="6" name="Take Care of Yourself">
            <a:extLst>
              <a:ext uri="{FF2B5EF4-FFF2-40B4-BE49-F238E27FC236}">
                <a16:creationId xmlns:a16="http://schemas.microsoft.com/office/drawing/2014/main" id="{F0F263A0-170B-BF23-4B59-683218603A3C}"/>
              </a:ext>
            </a:extLst>
          </p:cNvPr>
          <p:cNvSpPr txBox="1"/>
          <p:nvPr/>
        </p:nvSpPr>
        <p:spPr>
          <a:xfrm>
            <a:off x="237993" y="652739"/>
            <a:ext cx="11160691" cy="461665"/>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lvl1pPr>
              <a:defRPr sz="2400">
                <a:solidFill>
                  <a:schemeClr val="accent1">
                    <a:satOff val="-5820"/>
                    <a:lumOff val="-10352"/>
                  </a:schemeClr>
                </a:solidFill>
                <a:latin typeface="Arial Black"/>
                <a:ea typeface="Arial Black"/>
                <a:cs typeface="Arial Black"/>
                <a:sym typeface="Arial Black"/>
              </a:defRPr>
            </a:lvl1pPr>
          </a:lstStyle>
          <a:p>
            <a:pPr algn="ctr"/>
            <a:r>
              <a:rPr lang="en-US" dirty="0">
                <a:solidFill>
                  <a:srgbClr val="C00000"/>
                </a:solidFill>
              </a:rPr>
              <a:t>Mass Care Escalation</a:t>
            </a:r>
            <a:endParaRPr dirty="0">
              <a:solidFill>
                <a:srgbClr val="C00000"/>
              </a:solidFill>
            </a:endParaRPr>
          </a:p>
        </p:txBody>
      </p:sp>
      <p:sp>
        <p:nvSpPr>
          <p:cNvPr id="2" name="TextBox 1">
            <a:extLst>
              <a:ext uri="{FF2B5EF4-FFF2-40B4-BE49-F238E27FC236}">
                <a16:creationId xmlns:a16="http://schemas.microsoft.com/office/drawing/2014/main" id="{810F19D6-C403-1B2D-7314-76410E78F899}"/>
              </a:ext>
            </a:extLst>
          </p:cNvPr>
          <p:cNvSpPr txBox="1"/>
          <p:nvPr/>
        </p:nvSpPr>
        <p:spPr>
          <a:xfrm>
            <a:off x="617289" y="1592577"/>
            <a:ext cx="8078634" cy="4585871"/>
          </a:xfrm>
          <a:prstGeom prst="rect">
            <a:avLst/>
          </a:prstGeom>
          <a:noFill/>
        </p:spPr>
        <p:txBody>
          <a:bodyPr wrap="square" rtlCol="0">
            <a:spAutoFit/>
          </a:bodyPr>
          <a:lstStyle/>
          <a:p>
            <a:r>
              <a:rPr lang="en-US" sz="2000" u="sng" dirty="0"/>
              <a:t>Some triggers:</a:t>
            </a:r>
          </a:p>
          <a:p>
            <a:endParaRPr lang="en-US" u="sng" dirty="0"/>
          </a:p>
          <a:p>
            <a:pPr marL="285750" indent="-285750">
              <a:buFont typeface="Arial" panose="020B0604020202020204" pitchFamily="34" charset="0"/>
              <a:buChar char="•"/>
            </a:pPr>
            <a:r>
              <a:rPr lang="en-US" dirty="0"/>
              <a:t>A situation where there may be more than 10 separate cases or over $10,000 in financial aid given</a:t>
            </a:r>
          </a:p>
          <a:p>
            <a:pPr marL="285750" indent="-285750">
              <a:buFont typeface="Arial" panose="020B0604020202020204" pitchFamily="34" charset="0"/>
              <a:buChar char="•"/>
            </a:pPr>
            <a:r>
              <a:rPr lang="en-US" dirty="0"/>
              <a:t>A situation involving prolonged power outages or other critical service interruptions</a:t>
            </a:r>
          </a:p>
          <a:p>
            <a:pPr marL="285750" indent="-285750">
              <a:buFont typeface="Arial" panose="020B0604020202020204" pitchFamily="34" charset="0"/>
              <a:buChar char="•"/>
            </a:pPr>
            <a:r>
              <a:rPr lang="en-US" dirty="0"/>
              <a:t>A direct support request from a partner agency</a:t>
            </a:r>
          </a:p>
          <a:p>
            <a:pPr marL="285750" indent="-285750">
              <a:buFont typeface="Arial" panose="020B0604020202020204" pitchFamily="34" charset="0"/>
              <a:buChar char="•"/>
            </a:pPr>
            <a:endParaRPr lang="en-US" dirty="0"/>
          </a:p>
          <a:p>
            <a:r>
              <a:rPr lang="en-US" sz="2000" u="sng" dirty="0"/>
              <a:t>Different teams, different training:</a:t>
            </a:r>
          </a:p>
          <a:p>
            <a:endParaRPr lang="en-US" u="sng" dirty="0"/>
          </a:p>
          <a:p>
            <a:pPr marL="285750" indent="-285750">
              <a:buFont typeface="Arial" panose="020B0604020202020204" pitchFamily="34" charset="0"/>
              <a:buChar char="•"/>
            </a:pPr>
            <a:r>
              <a:rPr lang="en-US" dirty="0">
                <a:solidFill>
                  <a:schemeClr val="accent2">
                    <a:lumMod val="75000"/>
                  </a:schemeClr>
                </a:solidFill>
              </a:rPr>
              <a:t>DAT</a:t>
            </a:r>
            <a:r>
              <a:rPr lang="en-US" dirty="0"/>
              <a:t> is for immediate response to get a client through the next 48 hours and connect them with recovery services they will pursue individually. Operate in teams of two direct to the site of a disaster</a:t>
            </a:r>
          </a:p>
          <a:p>
            <a:pPr marL="285750" indent="-285750">
              <a:buFont typeface="Arial" panose="020B0604020202020204" pitchFamily="34" charset="0"/>
              <a:buChar char="•"/>
            </a:pPr>
            <a:r>
              <a:rPr lang="en-US" dirty="0">
                <a:solidFill>
                  <a:schemeClr val="tx2">
                    <a:lumMod val="75000"/>
                    <a:lumOff val="25000"/>
                  </a:schemeClr>
                </a:solidFill>
              </a:rPr>
              <a:t>Mass Care </a:t>
            </a:r>
            <a:r>
              <a:rPr lang="en-US" dirty="0"/>
              <a:t>is for open ended displacement and broader long term recovery options. It requires multiple interlocking teams and services and does not respond to the scene of a disaster but to a predetermined off site location.</a:t>
            </a:r>
          </a:p>
        </p:txBody>
      </p:sp>
    </p:spTree>
    <p:extLst>
      <p:ext uri="{BB962C8B-B14F-4D97-AF65-F5344CB8AC3E}">
        <p14:creationId xmlns:p14="http://schemas.microsoft.com/office/powerpoint/2010/main" val="1446345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7997C94-6FB9-E327-F901-B30C8C0D337A}"/>
              </a:ext>
            </a:extLst>
          </p:cNvPr>
          <p:cNvPicPr>
            <a:picLocks noChangeAspect="1"/>
          </p:cNvPicPr>
          <p:nvPr/>
        </p:nvPicPr>
        <p:blipFill>
          <a:blip r:embed="rId3">
            <a:duotone>
              <a:prstClr val="black"/>
              <a:schemeClr val="tx2">
                <a:tint val="45000"/>
                <a:satMod val="400000"/>
              </a:schemeClr>
            </a:duotone>
            <a:alphaModFix amt="25000"/>
          </a:blip>
          <a:srcRect b="15730"/>
          <a:stretch>
            <a:fillRect/>
          </a:stretch>
        </p:blipFill>
        <p:spPr>
          <a:xfrm>
            <a:off x="20" y="10"/>
            <a:ext cx="12191980" cy="6857990"/>
          </a:xfrm>
          <a:prstGeom prst="rect">
            <a:avLst/>
          </a:prstGeom>
        </p:spPr>
      </p:pic>
      <p:sp>
        <p:nvSpPr>
          <p:cNvPr id="4" name="Title 1"/>
          <p:cNvSpPr txBox="1">
            <a:spLocks/>
          </p:cNvSpPr>
          <p:nvPr/>
        </p:nvSpPr>
        <p:spPr>
          <a:xfrm>
            <a:off x="838200" y="365125"/>
            <a:ext cx="10515600" cy="1325563"/>
          </a:xfrm>
          <a:prstGeom prst="round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lvl="0" algn="ctr">
              <a:lnSpc>
                <a:spcPct val="90000"/>
              </a:lnSpc>
              <a:spcBef>
                <a:spcPct val="0"/>
              </a:spcBef>
              <a:spcAft>
                <a:spcPts val="600"/>
              </a:spcAft>
              <a:defRPr/>
            </a:pPr>
            <a:r>
              <a:rPr lang="en-US" sz="4400" b="1">
                <a:solidFill>
                  <a:srgbClr val="C00000"/>
                </a:solidFill>
                <a:latin typeface="+mj-lt"/>
                <a:ea typeface="+mj-ea"/>
                <a:cs typeface="+mj-cs"/>
              </a:rPr>
              <a:t>MASS CARE TEAMS</a:t>
            </a:r>
            <a:endParaRPr lang="en-US" sz="4400" b="1" dirty="0">
              <a:solidFill>
                <a:srgbClr val="C00000"/>
              </a:solidFill>
              <a:latin typeface="+mj-lt"/>
              <a:ea typeface="+mj-ea"/>
              <a:cs typeface="+mj-cs"/>
            </a:endParaRPr>
          </a:p>
        </p:txBody>
      </p:sp>
      <p:sp>
        <p:nvSpPr>
          <p:cNvPr id="6" name="Footer Placeholder 3">
            <a:extLst>
              <a:ext uri="{FF2B5EF4-FFF2-40B4-BE49-F238E27FC236}">
                <a16:creationId xmlns:a16="http://schemas.microsoft.com/office/drawing/2014/main" id="{21C1D141-0CC7-4D5A-897E-C2A0949FAE68}"/>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700" kern="1200">
                <a:solidFill>
                  <a:schemeClr val="tx1"/>
                </a:solidFill>
                <a:latin typeface="Calibri" panose="020F0502020204030204"/>
                <a:ea typeface="+mn-ea"/>
                <a:cs typeface="+mn-cs"/>
              </a:rPr>
              <a:t>Mass Care: An Overview</a:t>
            </a:r>
          </a:p>
          <a:p>
            <a:pPr>
              <a:lnSpc>
                <a:spcPct val="90000"/>
              </a:lnSpc>
              <a:spcAft>
                <a:spcPts val="600"/>
              </a:spcAft>
              <a:defRPr/>
            </a:pPr>
            <a:r>
              <a:rPr lang="en-US" sz="700" kern="1200">
                <a:solidFill>
                  <a:schemeClr val="tx1"/>
                </a:solidFill>
                <a:latin typeface="Calibri" panose="020F0502020204030204"/>
                <a:ea typeface="+mn-ea"/>
                <a:cs typeface="+mn-cs"/>
              </a:rPr>
              <a:t>Copyright © The American Red Cross Disaster Cycle Services</a:t>
            </a:r>
          </a:p>
        </p:txBody>
      </p:sp>
      <p:sp>
        <p:nvSpPr>
          <p:cNvPr id="5" name="Slide Number Placeholder 5"/>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bg1"/>
                </a:solidFill>
                <a:latin typeface="Verdana" pitchFamily="34" charset="0"/>
                <a:ea typeface="Verdana" pitchFamily="34" charset="0"/>
                <a:cs typeface="Verdana" pitchFamily="34" charset="0"/>
              </a:defRPr>
            </a:lvl1pPr>
          </a:lstStyle>
          <a:p>
            <a:pPr>
              <a:spcAft>
                <a:spcPts val="600"/>
              </a:spcAft>
              <a:defRPr/>
            </a:pPr>
            <a:r>
              <a:rPr lang="en-US">
                <a:solidFill>
                  <a:schemeClr val="tx1"/>
                </a:solidFill>
                <a:latin typeface="Calibri" panose="020F0502020204030204"/>
                <a:ea typeface="+mn-ea"/>
                <a:cs typeface="+mn-cs"/>
              </a:rPr>
              <a:t>Slide </a:t>
            </a:r>
            <a:fld id="{40D68374-D3CE-43C2-A4C1-D0C5CE619EEF}" type="slidenum">
              <a:rPr lang="en-US">
                <a:solidFill>
                  <a:schemeClr val="tx1"/>
                </a:solidFill>
                <a:latin typeface="Calibri" panose="020F0502020204030204"/>
                <a:ea typeface="+mn-ea"/>
                <a:cs typeface="+mn-cs"/>
              </a:rPr>
              <a:pPr>
                <a:spcAft>
                  <a:spcPts val="600"/>
                </a:spcAft>
                <a:defRPr/>
              </a:pPr>
              <a:t>11</a:t>
            </a:fld>
            <a:r>
              <a:rPr lang="en-US">
                <a:solidFill>
                  <a:schemeClr val="tx1"/>
                </a:solidFill>
                <a:latin typeface="Calibri" panose="020F0502020204030204"/>
                <a:ea typeface="+mn-ea"/>
                <a:cs typeface="+mn-cs"/>
              </a:rPr>
              <a:t> of 67</a:t>
            </a:r>
          </a:p>
        </p:txBody>
      </p:sp>
      <p:graphicFrame>
        <p:nvGraphicFramePr>
          <p:cNvPr id="8" name="Content Placeholder 2">
            <a:extLst>
              <a:ext uri="{FF2B5EF4-FFF2-40B4-BE49-F238E27FC236}">
                <a16:creationId xmlns:a16="http://schemas.microsoft.com/office/drawing/2014/main" id="{2D1312AD-832F-B0F1-4BCA-360B6C8046C8}"/>
              </a:ext>
            </a:extLst>
          </p:cNvPr>
          <p:cNvGraphicFramePr>
            <a:graphicFrameLocks noGrp="1"/>
          </p:cNvGraphicFramePr>
          <p:nvPr>
            <p:ph idx="1"/>
            <p:extLst>
              <p:ext uri="{D42A27DB-BD31-4B8C-83A1-F6EECF244321}">
                <p14:modId xmlns:p14="http://schemas.microsoft.com/office/powerpoint/2010/main" val="232576165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317694354"/>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E3F077-B447-8BC2-0344-C351D3D2861D}"/>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Corporations, Foundations and Organizations Pledge $65M Annually to ...">
            <a:extLst>
              <a:ext uri="{FF2B5EF4-FFF2-40B4-BE49-F238E27FC236}">
                <a16:creationId xmlns:a16="http://schemas.microsoft.com/office/drawing/2014/main" id="{669EF3BE-2B77-B8A2-6FAF-672D3ECB4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882" b="-1"/>
          <a:stretch>
            <a:fillRect/>
          </a:stretch>
        </p:blipFill>
        <p:spPr bwMode="auto">
          <a:xfrm>
            <a:off x="1"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3081" name="Rectangle 308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8551B472-3386-FBD0-E9C8-0716DFD9172C}"/>
              </a:ext>
            </a:extLst>
          </p:cNvPr>
          <p:cNvSpPr txBox="1">
            <a:spLocks/>
          </p:cNvSpPr>
          <p:nvPr/>
        </p:nvSpPr>
        <p:spPr>
          <a:xfrm>
            <a:off x="7949184" y="267145"/>
            <a:ext cx="3822189" cy="1899912"/>
          </a:xfrm>
          <a:prstGeom prst="roundRect">
            <a:avLst/>
          </a:prstGeom>
          <a:noFill/>
        </p:spPr>
        <p:style>
          <a:lnRef idx="2">
            <a:schemeClr val="accent1"/>
          </a:lnRef>
          <a:fillRef idx="1">
            <a:schemeClr val="lt1"/>
          </a:fillRef>
          <a:effectRef idx="0">
            <a:schemeClr val="accent1"/>
          </a:effectRef>
          <a:fontRef idx="minor">
            <a:schemeClr val="dk1"/>
          </a:fontRef>
        </p:style>
        <p:txBody>
          <a:bodyPr vert="horz" lIns="91440" tIns="45720" rIns="91440" bIns="45720" rtlCol="0" anchor="ctr">
            <a:normAutofit/>
          </a:bodyPr>
          <a:lstStyle/>
          <a:p>
            <a:pPr lvl="0" algn="ctr">
              <a:lnSpc>
                <a:spcPct val="90000"/>
              </a:lnSpc>
              <a:spcBef>
                <a:spcPct val="0"/>
              </a:spcBef>
              <a:spcAft>
                <a:spcPts val="600"/>
              </a:spcAft>
              <a:defRPr/>
            </a:pPr>
            <a:r>
              <a:rPr lang="en-US" sz="4000" dirty="0">
                <a:solidFill>
                  <a:srgbClr val="C00000"/>
                </a:solidFill>
                <a:latin typeface="+mj-lt"/>
                <a:ea typeface="+mj-ea"/>
                <a:cs typeface="+mj-cs"/>
              </a:rPr>
              <a:t>SHELTERING</a:t>
            </a:r>
            <a:endParaRPr lang="en-US" sz="4000" b="1" dirty="0">
              <a:solidFill>
                <a:srgbClr val="C00000"/>
              </a:solidFill>
              <a:latin typeface="+mj-lt"/>
              <a:ea typeface="+mj-ea"/>
              <a:cs typeface="+mj-cs"/>
            </a:endParaRPr>
          </a:p>
        </p:txBody>
      </p:sp>
      <p:sp>
        <p:nvSpPr>
          <p:cNvPr id="3" name="Content Placeholder 2">
            <a:extLst>
              <a:ext uri="{FF2B5EF4-FFF2-40B4-BE49-F238E27FC236}">
                <a16:creationId xmlns:a16="http://schemas.microsoft.com/office/drawing/2014/main" id="{B0780924-D241-B574-2BA1-C87BE7B3C13D}"/>
              </a:ext>
            </a:extLst>
          </p:cNvPr>
          <p:cNvSpPr>
            <a:spLocks noGrp="1"/>
          </p:cNvSpPr>
          <p:nvPr>
            <p:ph idx="1"/>
          </p:nvPr>
        </p:nvSpPr>
        <p:spPr>
          <a:xfrm>
            <a:off x="7531609" y="2434201"/>
            <a:ext cx="4657341" cy="3742762"/>
          </a:xfrm>
        </p:spPr>
        <p:txBody>
          <a:bodyPr vert="horz" lIns="91440" tIns="45720" rIns="91440" bIns="45720" rtlCol="0">
            <a:normAutofit/>
          </a:bodyPr>
          <a:lstStyle/>
          <a:p>
            <a:r>
              <a:rPr lang="en-US" sz="2000" dirty="0"/>
              <a:t>Safe havens where people can come for food, shelter, emergency supplies, information and connections with recovery services</a:t>
            </a:r>
          </a:p>
          <a:p>
            <a:r>
              <a:rPr lang="en-US" sz="2000" dirty="0"/>
              <a:t>Community hubs for reorganization, inspiration and healing</a:t>
            </a:r>
          </a:p>
          <a:p>
            <a:r>
              <a:rPr lang="en-US" sz="2000" dirty="0"/>
              <a:t>Refuges ahead of the storm; anticipatory rather than reactive</a:t>
            </a:r>
          </a:p>
          <a:p>
            <a:r>
              <a:rPr lang="en-US" sz="2000" dirty="0"/>
              <a:t>Information and planning centers for relief organizations like FEMA and PEMA</a:t>
            </a:r>
          </a:p>
        </p:txBody>
      </p:sp>
      <p:sp>
        <p:nvSpPr>
          <p:cNvPr id="6" name="Footer Placeholder 3">
            <a:extLst>
              <a:ext uri="{FF2B5EF4-FFF2-40B4-BE49-F238E27FC236}">
                <a16:creationId xmlns:a16="http://schemas.microsoft.com/office/drawing/2014/main" id="{D9D6D65A-6877-4054-4462-EB91C055D99F}"/>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lnSpc>
                <a:spcPct val="90000"/>
              </a:lnSpc>
              <a:spcAft>
                <a:spcPts val="600"/>
              </a:spcAft>
              <a:defRPr/>
            </a:pPr>
            <a:r>
              <a:rPr lang="en-US" sz="700" kern="1200">
                <a:solidFill>
                  <a:srgbClr val="FFFFFF"/>
                </a:solidFill>
                <a:latin typeface="Calibri" panose="020F0502020204030204"/>
                <a:ea typeface="+mn-ea"/>
                <a:cs typeface="+mn-cs"/>
              </a:rPr>
              <a:t>Mass Care: An Overview</a:t>
            </a:r>
          </a:p>
          <a:p>
            <a:pPr>
              <a:lnSpc>
                <a:spcPct val="90000"/>
              </a:lnSpc>
              <a:spcAft>
                <a:spcPts val="600"/>
              </a:spcAft>
              <a:defRPr/>
            </a:pPr>
            <a:r>
              <a:rPr lang="en-US" sz="700" kern="1200">
                <a:solidFill>
                  <a:srgbClr val="FFFFFF"/>
                </a:solidFill>
                <a:latin typeface="Calibri" panose="020F0502020204030204"/>
                <a:ea typeface="+mn-ea"/>
                <a:cs typeface="+mn-cs"/>
              </a:rPr>
              <a:t>Copyright © The American Red Cross Disaster Cycle Services</a:t>
            </a:r>
          </a:p>
        </p:txBody>
      </p:sp>
      <p:sp>
        <p:nvSpPr>
          <p:cNvPr id="5" name="Slide Number Placeholder 5">
            <a:extLst>
              <a:ext uri="{FF2B5EF4-FFF2-40B4-BE49-F238E27FC236}">
                <a16:creationId xmlns:a16="http://schemas.microsoft.com/office/drawing/2014/main" id="{B2A4B3A9-C323-E93C-8408-A5C005909048}"/>
              </a:ext>
            </a:extLst>
          </p:cNvPr>
          <p:cNvSpPr>
            <a:spLocks noGrp="1"/>
          </p:cNvSpPr>
          <p:nvPr>
            <p:ph type="sldNum" sz="quarter" idx="4294967295"/>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bg1"/>
                </a:solidFill>
                <a:latin typeface="Verdana" pitchFamily="34" charset="0"/>
                <a:ea typeface="Verdana" pitchFamily="34" charset="0"/>
                <a:cs typeface="Verdana" pitchFamily="34" charset="0"/>
              </a:defRPr>
            </a:lvl1pPr>
          </a:lstStyle>
          <a:p>
            <a:pPr>
              <a:spcAft>
                <a:spcPts val="600"/>
              </a:spcAft>
              <a:defRPr/>
            </a:pPr>
            <a:r>
              <a:rPr lang="en-US">
                <a:solidFill>
                  <a:prstClr val="black">
                    <a:tint val="75000"/>
                  </a:prstClr>
                </a:solidFill>
                <a:latin typeface="Calibri" panose="020F0502020204030204"/>
                <a:ea typeface="+mn-ea"/>
                <a:cs typeface="+mn-cs"/>
              </a:rPr>
              <a:t>Slide </a:t>
            </a:r>
            <a:fld id="{40D68374-D3CE-43C2-A4C1-D0C5CE619EEF}" type="slidenum">
              <a:rPr lang="en-US" smtClean="0">
                <a:solidFill>
                  <a:prstClr val="black">
                    <a:tint val="75000"/>
                  </a:prstClr>
                </a:solidFill>
                <a:latin typeface="Calibri" panose="020F0502020204030204"/>
                <a:ea typeface="+mn-ea"/>
                <a:cs typeface="+mn-cs"/>
              </a:rPr>
              <a:pPr>
                <a:spcAft>
                  <a:spcPts val="600"/>
                </a:spcAft>
                <a:defRPr/>
              </a:pPr>
              <a:t>12</a:t>
            </a:fld>
            <a:r>
              <a:rPr lang="en-US">
                <a:solidFill>
                  <a:prstClr val="black">
                    <a:tint val="75000"/>
                  </a:prstClr>
                </a:solidFill>
                <a:latin typeface="Calibri" panose="020F0502020204030204"/>
                <a:ea typeface="+mn-ea"/>
                <a:cs typeface="+mn-cs"/>
              </a:rPr>
              <a:t> of 67</a:t>
            </a:r>
          </a:p>
        </p:txBody>
      </p:sp>
    </p:spTree>
    <p:custDataLst>
      <p:tags r:id="rId1"/>
    </p:custDataLst>
    <p:extLst>
      <p:ext uri="{BB962C8B-B14F-4D97-AF65-F5344CB8AC3E}">
        <p14:creationId xmlns:p14="http://schemas.microsoft.com/office/powerpoint/2010/main" val="1006623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BAAAC41-C9E0-D3E1-F0A0-68B85B3141B8}"/>
              </a:ext>
            </a:extLst>
          </p:cNvPr>
          <p:cNvSpPr txBox="1"/>
          <p:nvPr/>
        </p:nvSpPr>
        <p:spPr>
          <a:xfrm>
            <a:off x="4271376" y="1177445"/>
            <a:ext cx="7008311" cy="5232202"/>
          </a:xfrm>
          <a:prstGeom prst="rect">
            <a:avLst/>
          </a:prstGeom>
          <a:noFill/>
        </p:spPr>
        <p:txBody>
          <a:bodyPr wrap="square">
            <a:spAutoFit/>
          </a:bodyPr>
          <a:lstStyle/>
          <a:p>
            <a:pPr algn="ctr"/>
            <a:r>
              <a:rPr lang="en-US" sz="2800" b="1" dirty="0">
                <a:solidFill>
                  <a:srgbClr val="C00000"/>
                </a:solidFill>
              </a:rPr>
              <a:t>Everyone is Welcome</a:t>
            </a:r>
          </a:p>
          <a:p>
            <a:pPr algn="ctr"/>
            <a:endParaRPr lang="en-US" b="1" dirty="0">
              <a:solidFill>
                <a:srgbClr val="C00000"/>
              </a:solidFill>
            </a:endParaRPr>
          </a:p>
          <a:p>
            <a:pPr marL="342900" indent="-342900">
              <a:buFont typeface="Arial" panose="020B0604020202020204" pitchFamily="34" charset="0"/>
              <a:buChar char="•"/>
            </a:pPr>
            <a:r>
              <a:rPr lang="en-US" b="1" dirty="0"/>
              <a:t>All affected people </a:t>
            </a:r>
            <a:r>
              <a:rPr lang="en-US" dirty="0"/>
              <a:t>regardless of race, color, national origin, religion, gender identity, age, disability, sexual orientation, citizenship, veteran status or pre-disaster housing situations are welcome in our shelter</a:t>
            </a:r>
            <a:endParaRPr lang="en-US" u="sng"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 work with individuals with access and functional needs, visual or hearing impairments, or any other issue to ensure their physical and mental health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 accommodate pets and service animals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 work with community partners to serve our clients to the best of our abilities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Red Cross sheltering activities do not finish until all client’s needs are met to the best of our abilities</a:t>
            </a:r>
          </a:p>
        </p:txBody>
      </p:sp>
      <p:sp>
        <p:nvSpPr>
          <p:cNvPr id="8" name="TextBox 7">
            <a:extLst>
              <a:ext uri="{FF2B5EF4-FFF2-40B4-BE49-F238E27FC236}">
                <a16:creationId xmlns:a16="http://schemas.microsoft.com/office/drawing/2014/main" id="{6F808340-88BE-DB07-14E8-DA017E37262C}"/>
              </a:ext>
            </a:extLst>
          </p:cNvPr>
          <p:cNvSpPr txBox="1"/>
          <p:nvPr/>
        </p:nvSpPr>
        <p:spPr>
          <a:xfrm>
            <a:off x="3371489" y="299467"/>
            <a:ext cx="8646213" cy="707886"/>
          </a:xfrm>
          <a:prstGeom prst="rect">
            <a:avLst/>
          </a:prstGeom>
          <a:solidFill>
            <a:srgbClr val="C00000"/>
          </a:solidFill>
        </p:spPr>
        <p:txBody>
          <a:bodyPr wrap="none" rtlCol="0">
            <a:spAutoFit/>
          </a:bodyPr>
          <a:lstStyle/>
          <a:p>
            <a:r>
              <a:rPr lang="en-US" sz="4000" dirty="0">
                <a:solidFill>
                  <a:schemeClr val="bg1"/>
                </a:solidFill>
                <a:latin typeface="Aptos" panose="020B0004020202020204" pitchFamily="34" charset="0"/>
              </a:rPr>
              <a:t>RED CROSS SHELTERING PRINCIPLES</a:t>
            </a:r>
          </a:p>
        </p:txBody>
      </p:sp>
      <p:pic>
        <p:nvPicPr>
          <p:cNvPr id="1028" name="Picture 4" descr="Jamie Beauvais">
            <a:extLst>
              <a:ext uri="{FF2B5EF4-FFF2-40B4-BE49-F238E27FC236}">
                <a16:creationId xmlns:a16="http://schemas.microsoft.com/office/drawing/2014/main" id="{6F176E92-F879-DDB3-E179-C37A01D5D6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240" y="1502712"/>
            <a:ext cx="3588487" cy="35901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6213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C23AC-9189-4A5D-9E7E-D2CC1853A097}"/>
              </a:ext>
            </a:extLst>
          </p:cNvPr>
          <p:cNvSpPr>
            <a:spLocks noGrp="1"/>
          </p:cNvSpPr>
          <p:nvPr>
            <p:ph type="title"/>
          </p:nvPr>
        </p:nvSpPr>
        <p:spPr>
          <a:xfrm>
            <a:off x="5297762" y="329184"/>
            <a:ext cx="6251110" cy="1783080"/>
          </a:xfrm>
        </p:spPr>
        <p:txBody>
          <a:bodyPr vert="horz" lIns="91440" tIns="45720" rIns="91440" bIns="45720" rtlCol="0" anchor="b">
            <a:normAutofit/>
          </a:bodyPr>
          <a:lstStyle/>
          <a:p>
            <a:r>
              <a:rPr lang="en-US" sz="5400"/>
              <a:t>CLIENT FIRST SHELTERING</a:t>
            </a:r>
          </a:p>
        </p:txBody>
      </p:sp>
      <p:pic>
        <p:nvPicPr>
          <p:cNvPr id="1026" name="Picture 2">
            <a:extLst>
              <a:ext uri="{FF2B5EF4-FFF2-40B4-BE49-F238E27FC236}">
                <a16:creationId xmlns:a16="http://schemas.microsoft.com/office/drawing/2014/main" id="{E7001666-0246-4EC4-A743-2ADC14082E5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9779" r="14990" b="-2"/>
          <a:stretch>
            <a:fillRect/>
          </a:stretch>
        </p:blipFill>
        <p:spPr bwMode="auto">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62092AC-AFBC-435A-8B72-020D05F7298D}"/>
              </a:ext>
            </a:extLst>
          </p:cNvPr>
          <p:cNvSpPr>
            <a:spLocks noGrp="1"/>
          </p:cNvSpPr>
          <p:nvPr>
            <p:ph type="body" sz="quarter" idx="12"/>
          </p:nvPr>
        </p:nvSpPr>
        <p:spPr>
          <a:xfrm>
            <a:off x="5297762" y="2706624"/>
            <a:ext cx="6251110" cy="3483864"/>
          </a:xfrm>
        </p:spPr>
        <p:txBody>
          <a:bodyPr vert="horz" lIns="91440" tIns="45720" rIns="91440" bIns="45720" rtlCol="0">
            <a:normAutofit/>
          </a:bodyPr>
          <a:lstStyle/>
          <a:p>
            <a:r>
              <a:rPr lang="en-US" sz="2200"/>
              <a:t>Sheltering is not about facilities, processes and rules, but about supporting people who need our help.</a:t>
            </a:r>
          </a:p>
          <a:p>
            <a:r>
              <a:rPr lang="en-US" sz="2200"/>
              <a:t>We show compassion and make each person feel they are important.</a:t>
            </a:r>
          </a:p>
          <a:p>
            <a:r>
              <a:rPr lang="en-US" sz="2200"/>
              <a:t>We work to understand and meet individual needs.</a:t>
            </a:r>
          </a:p>
          <a:p>
            <a:r>
              <a:rPr lang="en-US" sz="2200"/>
              <a:t>Our aim to help each person move toward a more sustainable location for their recovery.</a:t>
            </a:r>
            <a:endParaRPr lang="en-US" sz="2200" dirty="0"/>
          </a:p>
        </p:txBody>
      </p:sp>
      <p:sp>
        <p:nvSpPr>
          <p:cNvPr id="6" name="Slide Number Placeholder 5">
            <a:extLst>
              <a:ext uri="{FF2B5EF4-FFF2-40B4-BE49-F238E27FC236}">
                <a16:creationId xmlns:a16="http://schemas.microsoft.com/office/drawing/2014/main" id="{92918625-644D-4E57-A23B-DC6639D95BF9}"/>
              </a:ext>
            </a:extLst>
          </p:cNvPr>
          <p:cNvSpPr>
            <a:spLocks noGrp="1"/>
          </p:cNvSpPr>
          <p:nvPr>
            <p:ph type="sldNum" sz="quarter" idx="14"/>
          </p:nvPr>
        </p:nvSpPr>
        <p:spPr>
          <a:xfrm>
            <a:off x="10052978" y="6356350"/>
            <a:ext cx="1300821" cy="365125"/>
          </a:xfrm>
        </p:spPr>
        <p:txBody>
          <a:bodyPr vert="horz" lIns="91440" tIns="45720" rIns="91440" bIns="45720" rtlCol="0" anchor="ctr">
            <a:normAutofit/>
          </a:bodyPr>
          <a:lstStyle/>
          <a:p>
            <a:pPr>
              <a:spcAft>
                <a:spcPts val="600"/>
              </a:spcAft>
              <a:defRPr/>
            </a:pPr>
            <a:fld id="{76CD969B-21DB-4471-94E4-DB6C49D9E9BE}" type="slidenum">
              <a:rPr lang="en-US" altLang="en-US" smtClean="0">
                <a:solidFill>
                  <a:prstClr val="black">
                    <a:tint val="75000"/>
                  </a:prstClr>
                </a:solidFill>
                <a:latin typeface="Calibri" panose="020F0502020204030204"/>
              </a:rPr>
              <a:pPr>
                <a:spcAft>
                  <a:spcPts val="600"/>
                </a:spcAft>
                <a:defRPr/>
              </a:pPr>
              <a:t>14</a:t>
            </a:fld>
            <a:endParaRPr lang="en-US" altLang="en-US">
              <a:solidFill>
                <a:prstClr val="black">
                  <a:tint val="75000"/>
                </a:prstClr>
              </a:solidFill>
              <a:latin typeface="Calibri" panose="020F0502020204030204"/>
            </a:endParaRPr>
          </a:p>
        </p:txBody>
      </p:sp>
    </p:spTree>
    <p:custDataLst>
      <p:tags r:id="rId1"/>
    </p:custDataLst>
    <p:extLst>
      <p:ext uri="{BB962C8B-B14F-4D97-AF65-F5344CB8AC3E}">
        <p14:creationId xmlns:p14="http://schemas.microsoft.com/office/powerpoint/2010/main" val="2593617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E99521-6DB9-4ECF-8452-C5793F0C2266}"/>
              </a:ext>
            </a:extLst>
          </p:cNvPr>
          <p:cNvSpPr>
            <a:spLocks noGrp="1"/>
          </p:cNvSpPr>
          <p:nvPr>
            <p:ph type="title"/>
          </p:nvPr>
        </p:nvSpPr>
        <p:spPr>
          <a:xfrm>
            <a:off x="1578206" y="344543"/>
            <a:ext cx="5099137" cy="828776"/>
          </a:xfrm>
          <a:noFill/>
        </p:spPr>
        <p:txBody>
          <a:bodyPr>
            <a:normAutofit/>
          </a:bodyPr>
          <a:lstStyle/>
          <a:p>
            <a:r>
              <a:rPr lang="en-US" sz="2800" dirty="0">
                <a:solidFill>
                  <a:srgbClr val="C00000"/>
                </a:solidFill>
              </a:rPr>
              <a:t>YOU ARE ALWAYS SUPPORTED</a:t>
            </a:r>
          </a:p>
        </p:txBody>
      </p:sp>
      <p:sp>
        <p:nvSpPr>
          <p:cNvPr id="3" name="Slide Number Placeholder 2">
            <a:extLst>
              <a:ext uri="{FF2B5EF4-FFF2-40B4-BE49-F238E27FC236}">
                <a16:creationId xmlns:a16="http://schemas.microsoft.com/office/drawing/2014/main" id="{2D53ADC9-9774-4D85-88F2-F680737AAB93}"/>
              </a:ext>
            </a:extLst>
          </p:cNvPr>
          <p:cNvSpPr>
            <a:spLocks noGrp="1"/>
          </p:cNvSpPr>
          <p:nvPr>
            <p:ph type="sldNum" sz="quarter" idx="11"/>
          </p:nvPr>
        </p:nvSpPr>
        <p:spPr/>
        <p:txBody>
          <a:bodyPr/>
          <a:lstStyle/>
          <a:p>
            <a:fld id="{76CD969B-21DB-4471-94E4-DB6C49D9E9BE}" type="slidenum">
              <a:rPr lang="en-US" altLang="en-US" smtClean="0"/>
              <a:pPr/>
              <a:t>15</a:t>
            </a:fld>
            <a:endParaRPr lang="en-US" altLang="en-US" dirty="0"/>
          </a:p>
        </p:txBody>
      </p:sp>
      <p:sp>
        <p:nvSpPr>
          <p:cNvPr id="6" name="TextBox 5">
            <a:extLst>
              <a:ext uri="{FF2B5EF4-FFF2-40B4-BE49-F238E27FC236}">
                <a16:creationId xmlns:a16="http://schemas.microsoft.com/office/drawing/2014/main" id="{95312EAA-A667-4D4B-B2FA-D7141212074E}"/>
              </a:ext>
            </a:extLst>
          </p:cNvPr>
          <p:cNvSpPr txBox="1"/>
          <p:nvPr/>
        </p:nvSpPr>
        <p:spPr>
          <a:xfrm>
            <a:off x="1617421" y="2310627"/>
            <a:ext cx="4575121" cy="369332"/>
          </a:xfrm>
          <a:prstGeom prst="rect">
            <a:avLst/>
          </a:prstGeom>
          <a:noFill/>
          <a:ln>
            <a:solidFill>
              <a:schemeClr val="tx1"/>
            </a:solidFill>
          </a:ln>
        </p:spPr>
        <p:txBody>
          <a:bodyPr wrap="square" rtlCol="0">
            <a:spAutoFit/>
          </a:bodyPr>
          <a:lstStyle/>
          <a:p>
            <a:pPr algn="ctr"/>
            <a:r>
              <a:rPr lang="en-US" dirty="0"/>
              <a:t>Shelter Manager/ Site Supervisor</a:t>
            </a:r>
          </a:p>
        </p:txBody>
      </p:sp>
      <p:sp>
        <p:nvSpPr>
          <p:cNvPr id="9" name="TextBox 8">
            <a:extLst>
              <a:ext uri="{FF2B5EF4-FFF2-40B4-BE49-F238E27FC236}">
                <a16:creationId xmlns:a16="http://schemas.microsoft.com/office/drawing/2014/main" id="{EE5819E0-538A-4D97-9A46-AD138254B62C}"/>
              </a:ext>
            </a:extLst>
          </p:cNvPr>
          <p:cNvSpPr txBox="1"/>
          <p:nvPr/>
        </p:nvSpPr>
        <p:spPr>
          <a:xfrm>
            <a:off x="1617421" y="3236880"/>
            <a:ext cx="4575121" cy="369332"/>
          </a:xfrm>
          <a:prstGeom prst="rect">
            <a:avLst/>
          </a:prstGeom>
          <a:noFill/>
          <a:ln>
            <a:solidFill>
              <a:schemeClr val="tx1"/>
            </a:solidFill>
          </a:ln>
        </p:spPr>
        <p:txBody>
          <a:bodyPr wrap="square" rtlCol="0">
            <a:spAutoFit/>
          </a:bodyPr>
          <a:lstStyle/>
          <a:p>
            <a:pPr algn="ctr"/>
            <a:r>
              <a:rPr lang="en-US" dirty="0"/>
              <a:t>Shift Supervisor </a:t>
            </a:r>
            <a:r>
              <a:rPr lang="en-US" sz="1400" dirty="0"/>
              <a:t>(day shift; night shift)</a:t>
            </a:r>
          </a:p>
        </p:txBody>
      </p:sp>
      <p:sp>
        <p:nvSpPr>
          <p:cNvPr id="10" name="TextBox 9">
            <a:extLst>
              <a:ext uri="{FF2B5EF4-FFF2-40B4-BE49-F238E27FC236}">
                <a16:creationId xmlns:a16="http://schemas.microsoft.com/office/drawing/2014/main" id="{7B082A54-757F-4688-92CF-7A7C35413D7E}"/>
              </a:ext>
            </a:extLst>
          </p:cNvPr>
          <p:cNvSpPr txBox="1"/>
          <p:nvPr/>
        </p:nvSpPr>
        <p:spPr>
          <a:xfrm>
            <a:off x="1617421" y="4301823"/>
            <a:ext cx="4575121" cy="584775"/>
          </a:xfrm>
          <a:prstGeom prst="rect">
            <a:avLst/>
          </a:prstGeom>
          <a:noFill/>
          <a:ln>
            <a:solidFill>
              <a:schemeClr val="tx1"/>
            </a:solidFill>
          </a:ln>
        </p:spPr>
        <p:txBody>
          <a:bodyPr wrap="square" rtlCol="0">
            <a:spAutoFit/>
          </a:bodyPr>
          <a:lstStyle/>
          <a:p>
            <a:pPr algn="ctr"/>
            <a:r>
              <a:rPr lang="en-US" dirty="0"/>
              <a:t>Function Supervisors</a:t>
            </a:r>
          </a:p>
          <a:p>
            <a:pPr algn="ctr"/>
            <a:r>
              <a:rPr lang="en-US" sz="1400" dirty="0"/>
              <a:t>(reception/registration; dormitory; feeding, services, etc.)</a:t>
            </a:r>
          </a:p>
        </p:txBody>
      </p:sp>
      <p:sp>
        <p:nvSpPr>
          <p:cNvPr id="11" name="TextBox 10">
            <a:extLst>
              <a:ext uri="{FF2B5EF4-FFF2-40B4-BE49-F238E27FC236}">
                <a16:creationId xmlns:a16="http://schemas.microsoft.com/office/drawing/2014/main" id="{76402960-4CD5-4BE3-8819-5DAD47F23506}"/>
              </a:ext>
            </a:extLst>
          </p:cNvPr>
          <p:cNvSpPr txBox="1"/>
          <p:nvPr/>
        </p:nvSpPr>
        <p:spPr>
          <a:xfrm>
            <a:off x="1617421" y="5582209"/>
            <a:ext cx="4575121" cy="584775"/>
          </a:xfrm>
          <a:prstGeom prst="rect">
            <a:avLst/>
          </a:prstGeom>
          <a:noFill/>
          <a:ln>
            <a:solidFill>
              <a:schemeClr val="tx1"/>
            </a:solidFill>
          </a:ln>
        </p:spPr>
        <p:txBody>
          <a:bodyPr wrap="square" rtlCol="0">
            <a:spAutoFit/>
          </a:bodyPr>
          <a:lstStyle/>
          <a:p>
            <a:pPr algn="ctr"/>
            <a:r>
              <a:rPr lang="en-US" dirty="0"/>
              <a:t>Shelter Service Workers</a:t>
            </a:r>
          </a:p>
          <a:p>
            <a:pPr algn="ctr"/>
            <a:r>
              <a:rPr lang="en-US" sz="1400" dirty="0"/>
              <a:t>(Red Cross; event-based volunteers; others)</a:t>
            </a:r>
          </a:p>
        </p:txBody>
      </p:sp>
      <p:pic>
        <p:nvPicPr>
          <p:cNvPr id="3076" name="Picture 4">
            <a:extLst>
              <a:ext uri="{FF2B5EF4-FFF2-40B4-BE49-F238E27FC236}">
                <a16:creationId xmlns:a16="http://schemas.microsoft.com/office/drawing/2014/main" id="{FD00ABC5-2BA6-4A96-848B-0E25102E3D8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74579" y="4000675"/>
            <a:ext cx="1262881" cy="18369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group of people standing around a table&#10;&#10;Description automatically generated">
            <a:extLst>
              <a:ext uri="{FF2B5EF4-FFF2-40B4-BE49-F238E27FC236}">
                <a16:creationId xmlns:a16="http://schemas.microsoft.com/office/drawing/2014/main" id="{A801BEE5-78BB-4AAF-92E3-171849EB6F9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45580" y="1457910"/>
            <a:ext cx="1609905" cy="1074611"/>
          </a:xfrm>
          <a:prstGeom prst="rect">
            <a:avLst/>
          </a:prstGeom>
        </p:spPr>
      </p:pic>
      <p:pic>
        <p:nvPicPr>
          <p:cNvPr id="3078" name="Picture 6">
            <a:extLst>
              <a:ext uri="{FF2B5EF4-FFF2-40B4-BE49-F238E27FC236}">
                <a16:creationId xmlns:a16="http://schemas.microsoft.com/office/drawing/2014/main" id="{B18A32D2-349A-4903-A89A-DC1DAAC69F2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0800000" flipV="1">
            <a:off x="9339608" y="1480523"/>
            <a:ext cx="1613491" cy="107461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C7E1A789-D8E4-4A66-978E-93F548BB67F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352312" y="3951037"/>
            <a:ext cx="2907133" cy="1936195"/>
          </a:xfrm>
          <a:prstGeom prst="rect">
            <a:avLst/>
          </a:prstGeom>
          <a:noFill/>
          <a:extLst>
            <a:ext uri="{909E8E84-426E-40DD-AFC4-6F175D3DCCD1}">
              <a14:hiddenFill xmlns:a14="http://schemas.microsoft.com/office/drawing/2010/main">
                <a:solidFill>
                  <a:srgbClr val="FFFFFF"/>
                </a:solidFill>
              </a14:hiddenFill>
            </a:ext>
          </a:extLst>
        </p:spPr>
      </p:pic>
      <p:sp>
        <p:nvSpPr>
          <p:cNvPr id="2" name="Down Arrow 1">
            <a:extLst>
              <a:ext uri="{FF2B5EF4-FFF2-40B4-BE49-F238E27FC236}">
                <a16:creationId xmlns:a16="http://schemas.microsoft.com/office/drawing/2014/main" id="{6E61B3BE-86A7-FA5B-5802-CDCBC49C9470}"/>
              </a:ext>
            </a:extLst>
          </p:cNvPr>
          <p:cNvSpPr/>
          <p:nvPr/>
        </p:nvSpPr>
        <p:spPr>
          <a:xfrm>
            <a:off x="3275691" y="3824028"/>
            <a:ext cx="576888" cy="3860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6">
            <a:extLst>
              <a:ext uri="{FF2B5EF4-FFF2-40B4-BE49-F238E27FC236}">
                <a16:creationId xmlns:a16="http://schemas.microsoft.com/office/drawing/2014/main" id="{1DC753EA-875F-3750-5CDE-9F9E22ED63C3}"/>
              </a:ext>
            </a:extLst>
          </p:cNvPr>
          <p:cNvSpPr/>
          <p:nvPr/>
        </p:nvSpPr>
        <p:spPr>
          <a:xfrm>
            <a:off x="3328094" y="5188589"/>
            <a:ext cx="576888" cy="3860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wn Arrow 7">
            <a:extLst>
              <a:ext uri="{FF2B5EF4-FFF2-40B4-BE49-F238E27FC236}">
                <a16:creationId xmlns:a16="http://schemas.microsoft.com/office/drawing/2014/main" id="{B9CCABEB-1DB1-9536-8176-4491E6708041}"/>
              </a:ext>
            </a:extLst>
          </p:cNvPr>
          <p:cNvSpPr/>
          <p:nvPr/>
        </p:nvSpPr>
        <p:spPr>
          <a:xfrm>
            <a:off x="3254493" y="2772443"/>
            <a:ext cx="576888" cy="3860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2AF38F7-AD5F-4A01-41E6-8A8EB8B8D4D1}"/>
              </a:ext>
            </a:extLst>
          </p:cNvPr>
          <p:cNvSpPr txBox="1"/>
          <p:nvPr/>
        </p:nvSpPr>
        <p:spPr>
          <a:xfrm>
            <a:off x="1617421" y="1383267"/>
            <a:ext cx="4575121" cy="369332"/>
          </a:xfrm>
          <a:prstGeom prst="rect">
            <a:avLst/>
          </a:prstGeom>
          <a:noFill/>
          <a:ln>
            <a:solidFill>
              <a:schemeClr val="tx1"/>
            </a:solidFill>
          </a:ln>
        </p:spPr>
        <p:txBody>
          <a:bodyPr wrap="square" rtlCol="0">
            <a:spAutoFit/>
          </a:bodyPr>
          <a:lstStyle/>
          <a:p>
            <a:pPr algn="ctr"/>
            <a:r>
              <a:rPr lang="en-US" dirty="0"/>
              <a:t>Red Cross Leadership/ Emergency Services</a:t>
            </a:r>
          </a:p>
        </p:txBody>
      </p:sp>
      <p:sp>
        <p:nvSpPr>
          <p:cNvPr id="13" name="Down Arrow 12">
            <a:extLst>
              <a:ext uri="{FF2B5EF4-FFF2-40B4-BE49-F238E27FC236}">
                <a16:creationId xmlns:a16="http://schemas.microsoft.com/office/drawing/2014/main" id="{551416D8-D046-4183-3C98-429B8DA5F088}"/>
              </a:ext>
            </a:extLst>
          </p:cNvPr>
          <p:cNvSpPr/>
          <p:nvPr/>
        </p:nvSpPr>
        <p:spPr>
          <a:xfrm>
            <a:off x="3284733" y="1814295"/>
            <a:ext cx="576888" cy="38608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B4D46AF-5BB4-74EF-C116-58B33AD600DD}"/>
              </a:ext>
            </a:extLst>
          </p:cNvPr>
          <p:cNvSpPr txBox="1"/>
          <p:nvPr/>
        </p:nvSpPr>
        <p:spPr>
          <a:xfrm>
            <a:off x="6923128" y="2891896"/>
            <a:ext cx="4744684" cy="553998"/>
          </a:xfrm>
          <a:prstGeom prst="rect">
            <a:avLst/>
          </a:prstGeom>
          <a:noFill/>
          <a:ln>
            <a:solidFill>
              <a:schemeClr val="tx1"/>
            </a:solidFill>
          </a:ln>
        </p:spPr>
        <p:txBody>
          <a:bodyPr wrap="square" rtlCol="0">
            <a:spAutoFit/>
          </a:bodyPr>
          <a:lstStyle/>
          <a:p>
            <a:pPr algn="ctr"/>
            <a:r>
              <a:rPr lang="en-US" dirty="0"/>
              <a:t>Specialty Teams</a:t>
            </a:r>
            <a:endParaRPr lang="en-US" sz="1200" dirty="0"/>
          </a:p>
          <a:p>
            <a:pPr algn="ctr"/>
            <a:r>
              <a:rPr lang="en-US" sz="1200" dirty="0"/>
              <a:t>(DHS, DMH, DSC, Recovery)</a:t>
            </a:r>
          </a:p>
        </p:txBody>
      </p:sp>
      <p:sp>
        <p:nvSpPr>
          <p:cNvPr id="16" name="Right Brace 15">
            <a:extLst>
              <a:ext uri="{FF2B5EF4-FFF2-40B4-BE49-F238E27FC236}">
                <a16:creationId xmlns:a16="http://schemas.microsoft.com/office/drawing/2014/main" id="{13075F89-CBD1-06A5-B8A5-A3CBC3C9DC58}"/>
              </a:ext>
            </a:extLst>
          </p:cNvPr>
          <p:cNvSpPr/>
          <p:nvPr/>
        </p:nvSpPr>
        <p:spPr>
          <a:xfrm>
            <a:off x="6292651" y="2429151"/>
            <a:ext cx="630477" cy="133568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134683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3861D59D-0BCE-46C5-8194-0B28EF24C817}"/>
              </a:ext>
            </a:extLst>
          </p:cNvPr>
          <p:cNvSpPr>
            <a:spLocks noGrp="1"/>
          </p:cNvSpPr>
          <p:nvPr>
            <p:ph type="title"/>
          </p:nvPr>
        </p:nvSpPr>
        <p:spPr>
          <a:xfrm>
            <a:off x="556532" y="643467"/>
            <a:ext cx="11210925" cy="744836"/>
          </a:xfrm>
        </p:spPr>
        <p:txBody>
          <a:bodyPr>
            <a:normAutofit/>
          </a:bodyPr>
          <a:lstStyle/>
          <a:p>
            <a:pPr algn="ctr"/>
            <a:r>
              <a:rPr lang="en-US" sz="3200">
                <a:solidFill>
                  <a:schemeClr val="bg1"/>
                </a:solidFill>
              </a:rPr>
              <a:t>FUNCTIONAL AREAS</a:t>
            </a:r>
          </a:p>
        </p:txBody>
      </p:sp>
      <p:sp>
        <p:nvSpPr>
          <p:cNvPr id="3" name="Slide Number Placeholder 2">
            <a:extLst>
              <a:ext uri="{FF2B5EF4-FFF2-40B4-BE49-F238E27FC236}">
                <a16:creationId xmlns:a16="http://schemas.microsoft.com/office/drawing/2014/main" id="{8C277F91-A2E0-496B-9CD9-45F05C74661D}"/>
              </a:ext>
            </a:extLst>
          </p:cNvPr>
          <p:cNvSpPr>
            <a:spLocks noGrp="1"/>
          </p:cNvSpPr>
          <p:nvPr>
            <p:ph type="sldNum" sz="quarter" idx="11"/>
          </p:nvPr>
        </p:nvSpPr>
        <p:spPr>
          <a:xfrm>
            <a:off x="8610600" y="6356350"/>
            <a:ext cx="2743200" cy="365125"/>
          </a:xfrm>
        </p:spPr>
        <p:txBody>
          <a:bodyPr>
            <a:normAutofit/>
          </a:bodyPr>
          <a:lstStyle/>
          <a:p>
            <a:pPr>
              <a:spcAft>
                <a:spcPts val="600"/>
              </a:spcAft>
            </a:pPr>
            <a:fld id="{76CD969B-21DB-4471-94E4-DB6C49D9E9BE}" type="slidenum">
              <a:rPr lang="en-US" altLang="en-US" smtClean="0"/>
              <a:pPr>
                <a:spcAft>
                  <a:spcPts val="600"/>
                </a:spcAft>
              </a:pPr>
              <a:t>16</a:t>
            </a:fld>
            <a:endParaRPr lang="en-US" altLang="en-US"/>
          </a:p>
        </p:txBody>
      </p:sp>
      <p:graphicFrame>
        <p:nvGraphicFramePr>
          <p:cNvPr id="2" name="Table 4">
            <a:extLst>
              <a:ext uri="{FF2B5EF4-FFF2-40B4-BE49-F238E27FC236}">
                <a16:creationId xmlns:a16="http://schemas.microsoft.com/office/drawing/2014/main" id="{06F49371-2B4E-4A45-A5E8-FC14BB4F546C}"/>
              </a:ext>
            </a:extLst>
          </p:cNvPr>
          <p:cNvGraphicFramePr>
            <a:graphicFrameLocks noGrp="1"/>
          </p:cNvGraphicFramePr>
          <p:nvPr>
            <p:extLst>
              <p:ext uri="{D42A27DB-BD31-4B8C-83A1-F6EECF244321}">
                <p14:modId xmlns:p14="http://schemas.microsoft.com/office/powerpoint/2010/main" val="3856964016"/>
              </p:ext>
            </p:extLst>
          </p:nvPr>
        </p:nvGraphicFramePr>
        <p:xfrm>
          <a:off x="719509" y="1675227"/>
          <a:ext cx="10752984" cy="4394201"/>
        </p:xfrm>
        <a:graphic>
          <a:graphicData uri="http://schemas.openxmlformats.org/drawingml/2006/table">
            <a:tbl>
              <a:tblPr firstRow="1" bandRow="1">
                <a:tableStyleId>{5C22544A-7EE6-4342-B048-85BDC9FD1C3A}</a:tableStyleId>
              </a:tblPr>
              <a:tblGrid>
                <a:gridCol w="2629508">
                  <a:extLst>
                    <a:ext uri="{9D8B030D-6E8A-4147-A177-3AD203B41FA5}">
                      <a16:colId xmlns:a16="http://schemas.microsoft.com/office/drawing/2014/main" val="711355473"/>
                    </a:ext>
                  </a:extLst>
                </a:gridCol>
                <a:gridCol w="2747998">
                  <a:extLst>
                    <a:ext uri="{9D8B030D-6E8A-4147-A177-3AD203B41FA5}">
                      <a16:colId xmlns:a16="http://schemas.microsoft.com/office/drawing/2014/main" val="1567369062"/>
                    </a:ext>
                  </a:extLst>
                </a:gridCol>
                <a:gridCol w="2745970">
                  <a:extLst>
                    <a:ext uri="{9D8B030D-6E8A-4147-A177-3AD203B41FA5}">
                      <a16:colId xmlns:a16="http://schemas.microsoft.com/office/drawing/2014/main" val="3747253272"/>
                    </a:ext>
                  </a:extLst>
                </a:gridCol>
                <a:gridCol w="2629508">
                  <a:extLst>
                    <a:ext uri="{9D8B030D-6E8A-4147-A177-3AD203B41FA5}">
                      <a16:colId xmlns:a16="http://schemas.microsoft.com/office/drawing/2014/main" val="3914660618"/>
                    </a:ext>
                  </a:extLst>
                </a:gridCol>
              </a:tblGrid>
              <a:tr h="475260">
                <a:tc>
                  <a:txBody>
                    <a:bodyPr/>
                    <a:lstStyle/>
                    <a:p>
                      <a:pPr algn="ctr"/>
                      <a:r>
                        <a:rPr lang="en-US" sz="2000">
                          <a:solidFill>
                            <a:schemeClr val="bg1"/>
                          </a:solidFill>
                          <a:latin typeface="Arial" panose="020B0604020202020204" pitchFamily="34" charset="0"/>
                          <a:cs typeface="Arial" panose="020B0604020202020204" pitchFamily="34" charset="0"/>
                        </a:rPr>
                        <a:t>Lobby</a:t>
                      </a:r>
                    </a:p>
                  </a:txBody>
                  <a:tcPr marL="116867" marR="116867" marT="58433" marB="58433"/>
                </a:tc>
                <a:tc>
                  <a:txBody>
                    <a:bodyPr/>
                    <a:lstStyle/>
                    <a:p>
                      <a:pPr algn="ctr"/>
                      <a:r>
                        <a:rPr lang="en-US" sz="2000">
                          <a:latin typeface="Arial" panose="020B0604020202020204" pitchFamily="34" charset="0"/>
                          <a:cs typeface="Arial" panose="020B0604020202020204" pitchFamily="34" charset="0"/>
                        </a:rPr>
                        <a:t>Dormitory</a:t>
                      </a:r>
                    </a:p>
                  </a:txBody>
                  <a:tcPr marL="116867" marR="116867" marT="58433" marB="58433"/>
                </a:tc>
                <a:tc>
                  <a:txBody>
                    <a:bodyPr/>
                    <a:lstStyle/>
                    <a:p>
                      <a:pPr algn="ctr"/>
                      <a:r>
                        <a:rPr lang="en-US" sz="2000">
                          <a:latin typeface="Arial" panose="020B0604020202020204" pitchFamily="34" charset="0"/>
                          <a:cs typeface="Arial" panose="020B0604020202020204" pitchFamily="34" charset="0"/>
                        </a:rPr>
                        <a:t>Dining</a:t>
                      </a:r>
                    </a:p>
                  </a:txBody>
                  <a:tcPr marL="116867" marR="116867" marT="58433" marB="58433"/>
                </a:tc>
                <a:tc>
                  <a:txBody>
                    <a:bodyPr/>
                    <a:lstStyle/>
                    <a:p>
                      <a:pPr algn="ctr"/>
                      <a:r>
                        <a:rPr lang="en-US" sz="2000">
                          <a:latin typeface="Arial" panose="020B0604020202020204" pitchFamily="34" charset="0"/>
                          <a:cs typeface="Arial" panose="020B0604020202020204" pitchFamily="34" charset="0"/>
                        </a:rPr>
                        <a:t>Recreation</a:t>
                      </a:r>
                    </a:p>
                  </a:txBody>
                  <a:tcPr marL="116867" marR="116867" marT="58433" marB="58433"/>
                </a:tc>
                <a:extLst>
                  <a:ext uri="{0D108BD9-81ED-4DB2-BD59-A6C34878D82A}">
                    <a16:rowId xmlns:a16="http://schemas.microsoft.com/office/drawing/2014/main" val="4221375432"/>
                  </a:ext>
                </a:extLst>
              </a:tr>
              <a:tr h="1098550">
                <a:tc>
                  <a:txBody>
                    <a:bodyPr/>
                    <a:lstStyle/>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Reception</a:t>
                      </a:r>
                    </a:p>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Registration</a:t>
                      </a:r>
                    </a:p>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Information</a:t>
                      </a:r>
                    </a:p>
                  </a:txBody>
                  <a:tcPr marL="116867" marR="116867" marT="58433" marB="58433"/>
                </a:tc>
                <a:tc>
                  <a:txBody>
                    <a:bodyPr/>
                    <a:lstStyle/>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Sleeping/Living area for residential clients</a:t>
                      </a:r>
                    </a:p>
                  </a:txBody>
                  <a:tcPr marL="116867" marR="116867" marT="58433" marB="58433"/>
                </a:tc>
                <a:tc>
                  <a:txBody>
                    <a:bodyPr/>
                    <a:lstStyle/>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Meals</a:t>
                      </a:r>
                    </a:p>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Snacks</a:t>
                      </a:r>
                    </a:p>
                    <a:p>
                      <a:endParaRPr lang="en-US" sz="2000">
                        <a:latin typeface="Arial" panose="020B0604020202020204" pitchFamily="34" charset="0"/>
                        <a:cs typeface="Arial" panose="020B0604020202020204" pitchFamily="34" charset="0"/>
                      </a:endParaRPr>
                    </a:p>
                  </a:txBody>
                  <a:tcPr marL="116867" marR="116867" marT="58433" marB="58433"/>
                </a:tc>
                <a:tc>
                  <a:txBody>
                    <a:bodyPr/>
                    <a:lstStyle/>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Television</a:t>
                      </a:r>
                    </a:p>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Books</a:t>
                      </a:r>
                    </a:p>
                    <a:p>
                      <a:pPr marL="285750" indent="-285750">
                        <a:buFont typeface="Arial" panose="020B0604020202020204" pitchFamily="34" charset="0"/>
                        <a:buChar char="•"/>
                      </a:pPr>
                      <a:r>
                        <a:rPr lang="en-US" sz="2000">
                          <a:latin typeface="Arial" panose="020B0604020202020204" pitchFamily="34" charset="0"/>
                          <a:cs typeface="Arial" panose="020B0604020202020204" pitchFamily="34" charset="0"/>
                        </a:rPr>
                        <a:t>Games</a:t>
                      </a:r>
                    </a:p>
                  </a:txBody>
                  <a:tcPr marL="116867" marR="116867" marT="58433" marB="58433"/>
                </a:tc>
                <a:extLst>
                  <a:ext uri="{0D108BD9-81ED-4DB2-BD59-A6C34878D82A}">
                    <a16:rowId xmlns:a16="http://schemas.microsoft.com/office/drawing/2014/main" val="3436169391"/>
                  </a:ext>
                </a:extLst>
              </a:tr>
              <a:tr h="786905">
                <a:tc>
                  <a:txBody>
                    <a:bodyPr/>
                    <a:lstStyle/>
                    <a:p>
                      <a:pPr algn="ctr"/>
                      <a:r>
                        <a:rPr lang="en-US" sz="2000" b="1">
                          <a:solidFill>
                            <a:schemeClr val="bg1"/>
                          </a:solidFill>
                          <a:latin typeface="Arial" panose="020B0604020202020204" pitchFamily="34" charset="0"/>
                          <a:cs typeface="Arial" panose="020B0604020202020204" pitchFamily="34" charset="0"/>
                        </a:rPr>
                        <a:t>Red Cross Services</a:t>
                      </a:r>
                    </a:p>
                  </a:txBody>
                  <a:tcPr marL="116867" marR="116867" marT="58433" marB="58433">
                    <a:solidFill>
                      <a:schemeClr val="accent1"/>
                    </a:solidFill>
                  </a:tcPr>
                </a:tc>
                <a:tc>
                  <a:txBody>
                    <a:bodyPr/>
                    <a:lstStyle/>
                    <a:p>
                      <a:pPr algn="ctr"/>
                      <a:r>
                        <a:rPr lang="en-US" sz="2000" b="1">
                          <a:solidFill>
                            <a:schemeClr val="bg1"/>
                          </a:solidFill>
                          <a:latin typeface="Arial" panose="020B0604020202020204" pitchFamily="34" charset="0"/>
                          <a:cs typeface="Arial" panose="020B0604020202020204" pitchFamily="34" charset="0"/>
                        </a:rPr>
                        <a:t>Government Services</a:t>
                      </a:r>
                    </a:p>
                  </a:txBody>
                  <a:tcPr marL="116867" marR="116867" marT="58433" marB="58433">
                    <a:solidFill>
                      <a:schemeClr val="accent1"/>
                    </a:solidFill>
                  </a:tcPr>
                </a:tc>
                <a:tc>
                  <a:txBody>
                    <a:bodyPr/>
                    <a:lstStyle/>
                    <a:p>
                      <a:pPr algn="ctr"/>
                      <a:r>
                        <a:rPr lang="en-US" sz="2000" b="1">
                          <a:solidFill>
                            <a:schemeClr val="bg1"/>
                          </a:solidFill>
                          <a:latin typeface="Arial" panose="020B0604020202020204" pitchFamily="34" charset="0"/>
                          <a:cs typeface="Arial" panose="020B0604020202020204" pitchFamily="34" charset="0"/>
                        </a:rPr>
                        <a:t>Storage</a:t>
                      </a:r>
                    </a:p>
                  </a:txBody>
                  <a:tcPr marL="116867" marR="116867" marT="58433" marB="58433">
                    <a:solidFill>
                      <a:schemeClr val="accent1"/>
                    </a:solidFill>
                  </a:tcPr>
                </a:tc>
                <a:tc>
                  <a:txBody>
                    <a:bodyPr/>
                    <a:lstStyle/>
                    <a:p>
                      <a:pPr algn="ctr"/>
                      <a:r>
                        <a:rPr lang="en-US" sz="2000" b="1">
                          <a:solidFill>
                            <a:schemeClr val="bg1"/>
                          </a:solidFill>
                          <a:latin typeface="Arial" panose="020B0604020202020204" pitchFamily="34" charset="0"/>
                          <a:cs typeface="Arial" panose="020B0604020202020204" pitchFamily="34" charset="0"/>
                        </a:rPr>
                        <a:t>Toilets and Showers</a:t>
                      </a:r>
                    </a:p>
                  </a:txBody>
                  <a:tcPr marL="116867" marR="116867" marT="58433" marB="58433">
                    <a:solidFill>
                      <a:schemeClr val="accent1"/>
                    </a:solidFill>
                  </a:tcPr>
                </a:tc>
                <a:extLst>
                  <a:ext uri="{0D108BD9-81ED-4DB2-BD59-A6C34878D82A}">
                    <a16:rowId xmlns:a16="http://schemas.microsoft.com/office/drawing/2014/main" val="1687783232"/>
                  </a:ext>
                </a:extLst>
              </a:tr>
              <a:tr h="2033486">
                <a:tc>
                  <a:txBody>
                    <a:bodyPr/>
                    <a:lstStyle/>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Disaster Health Services</a:t>
                      </a:r>
                    </a:p>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Disaster Mental Health/Disaster Spiritual Care</a:t>
                      </a:r>
                    </a:p>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Casework</a:t>
                      </a:r>
                    </a:p>
                  </a:txBody>
                  <a:tcPr marL="116867" marR="116867" marT="58433" marB="58433"/>
                </a:tc>
                <a:tc>
                  <a:txBody>
                    <a:bodyPr/>
                    <a:lstStyle/>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FEMA</a:t>
                      </a:r>
                    </a:p>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Housing</a:t>
                      </a:r>
                    </a:p>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Veterans</a:t>
                      </a:r>
                    </a:p>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Social Services</a:t>
                      </a:r>
                    </a:p>
                    <a:p>
                      <a:endParaRPr lang="en-US" sz="2000">
                        <a:latin typeface="Arial" panose="020B0604020202020204" pitchFamily="34" charset="0"/>
                        <a:cs typeface="Arial" panose="020B0604020202020204" pitchFamily="34" charset="0"/>
                      </a:endParaRPr>
                    </a:p>
                  </a:txBody>
                  <a:tcPr marL="116867" marR="116867" marT="58433" marB="58433"/>
                </a:tc>
                <a:tc>
                  <a:txBody>
                    <a:bodyPr/>
                    <a:lstStyle/>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Red Cross supplies</a:t>
                      </a:r>
                    </a:p>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Client belongings</a:t>
                      </a:r>
                    </a:p>
                    <a:p>
                      <a:endParaRPr lang="en-US" sz="2000">
                        <a:latin typeface="Arial" panose="020B0604020202020204" pitchFamily="34" charset="0"/>
                        <a:cs typeface="Arial" panose="020B0604020202020204" pitchFamily="34" charset="0"/>
                      </a:endParaRPr>
                    </a:p>
                  </a:txBody>
                  <a:tcPr marL="116867" marR="116867" marT="58433" marB="58433"/>
                </a:tc>
                <a:tc>
                  <a:txBody>
                    <a:bodyPr/>
                    <a:lstStyle/>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Inside</a:t>
                      </a:r>
                    </a:p>
                    <a:p>
                      <a:pPr marL="285750" lvl="0" indent="-285750">
                        <a:buFont typeface="Arial" panose="020B0604020202020204" pitchFamily="34" charset="0"/>
                        <a:buChar char="•"/>
                      </a:pPr>
                      <a:r>
                        <a:rPr lang="en-US" sz="2000">
                          <a:latin typeface="Arial" panose="020B0604020202020204" pitchFamily="34" charset="0"/>
                          <a:cs typeface="Arial" panose="020B0604020202020204" pitchFamily="34" charset="0"/>
                        </a:rPr>
                        <a:t>Additional portable units outside</a:t>
                      </a:r>
                    </a:p>
                    <a:p>
                      <a:endParaRPr lang="en-US" sz="2000">
                        <a:latin typeface="Arial" panose="020B0604020202020204" pitchFamily="34" charset="0"/>
                        <a:cs typeface="Arial" panose="020B0604020202020204" pitchFamily="34" charset="0"/>
                      </a:endParaRPr>
                    </a:p>
                  </a:txBody>
                  <a:tcPr marL="116867" marR="116867" marT="58433" marB="58433"/>
                </a:tc>
                <a:extLst>
                  <a:ext uri="{0D108BD9-81ED-4DB2-BD59-A6C34878D82A}">
                    <a16:rowId xmlns:a16="http://schemas.microsoft.com/office/drawing/2014/main" val="525421295"/>
                  </a:ext>
                </a:extLst>
              </a:tr>
            </a:tbl>
          </a:graphicData>
        </a:graphic>
      </p:graphicFrame>
    </p:spTree>
    <p:custDataLst>
      <p:tags r:id="rId1"/>
    </p:custDataLst>
    <p:extLst>
      <p:ext uri="{BB962C8B-B14F-4D97-AF65-F5344CB8AC3E}">
        <p14:creationId xmlns:p14="http://schemas.microsoft.com/office/powerpoint/2010/main" val="1680270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2F6A32-1DDF-BBA6-9290-984888352B5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204C5A2-0BFC-E60D-A2AC-533CD9700D1E}"/>
              </a:ext>
            </a:extLst>
          </p:cNvPr>
          <p:cNvSpPr txBox="1"/>
          <p:nvPr/>
        </p:nvSpPr>
        <p:spPr>
          <a:xfrm>
            <a:off x="7320466" y="609600"/>
            <a:ext cx="4140014" cy="1330839"/>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400" dirty="0">
                <a:latin typeface="+mj-lt"/>
                <a:ea typeface="+mj-ea"/>
                <a:cs typeface="+mj-cs"/>
              </a:rPr>
              <a:t>FEEDING</a:t>
            </a:r>
          </a:p>
        </p:txBody>
      </p:sp>
      <p:pic>
        <p:nvPicPr>
          <p:cNvPr id="2" name="Picture 2" descr="Hurricane Harvey - How the Red Cross is Spending Your Donations">
            <a:extLst>
              <a:ext uri="{FF2B5EF4-FFF2-40B4-BE49-F238E27FC236}">
                <a16:creationId xmlns:a16="http://schemas.microsoft.com/office/drawing/2014/main" id="{FB6049A2-40FD-2392-0E26-FB84437D0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779" r="4787" b="-1"/>
          <a:stretch>
            <a:fillRect/>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3009DCD-B713-FACC-1AAC-4050A92C7C7B}"/>
              </a:ext>
            </a:extLst>
          </p:cNvPr>
          <p:cNvSpPr txBox="1"/>
          <p:nvPr/>
        </p:nvSpPr>
        <p:spPr>
          <a:xfrm>
            <a:off x="6563638" y="1880952"/>
            <a:ext cx="5498925" cy="3908586"/>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endParaRPr lang="en-US" b="1" dirty="0"/>
          </a:p>
          <a:p>
            <a:pPr marL="342900" indent="-228600">
              <a:lnSpc>
                <a:spcPct val="90000"/>
              </a:lnSpc>
              <a:spcAft>
                <a:spcPts val="600"/>
              </a:spcAft>
              <a:buFont typeface="Arial" panose="020B0604020202020204" pitchFamily="34" charset="0"/>
              <a:buChar char="•"/>
            </a:pPr>
            <a:r>
              <a:rPr lang="en-US" dirty="0"/>
              <a:t>Three meals a day and 24/7 availability of snacks</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r>
              <a:rPr lang="en-US" dirty="0"/>
              <a:t>Meals will accommodate dietary and cultural needs</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r>
              <a:rPr lang="en-US" dirty="0"/>
              <a:t>Strict regulation of food safety best practices</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r>
              <a:rPr lang="en-US" dirty="0"/>
              <a:t>Meals served will be tracked for information and planning purposes</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r>
              <a:rPr lang="en-US" dirty="0"/>
              <a:t>Feeding is often done in partnership with third parties</a:t>
            </a:r>
          </a:p>
        </p:txBody>
      </p:sp>
    </p:spTree>
    <p:extLst>
      <p:ext uri="{BB962C8B-B14F-4D97-AF65-F5344CB8AC3E}">
        <p14:creationId xmlns:p14="http://schemas.microsoft.com/office/powerpoint/2010/main" val="1475452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F90296-5EA5-2E1B-E410-4584C3378CAE}"/>
            </a:ext>
          </a:extLst>
        </p:cNvPr>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5693A9D-A76A-B401-541B-01BFC0F2E176}"/>
              </a:ext>
            </a:extLst>
          </p:cNvPr>
          <p:cNvSpPr txBox="1"/>
          <p:nvPr/>
        </p:nvSpPr>
        <p:spPr>
          <a:xfrm>
            <a:off x="1137033" y="670559"/>
            <a:ext cx="4683321" cy="2148841"/>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400">
                <a:latin typeface="+mj-lt"/>
                <a:ea typeface="+mj-ea"/>
                <a:cs typeface="+mj-cs"/>
              </a:rPr>
              <a:t>Logistics, Recovery &amp; Operations</a:t>
            </a:r>
          </a:p>
        </p:txBody>
      </p:sp>
      <p:pic>
        <p:nvPicPr>
          <p:cNvPr id="6148" name="Picture 4" descr="Red Cross LA Opens Two Shelters for Residents Evacuating Getty Fire">
            <a:extLst>
              <a:ext uri="{FF2B5EF4-FFF2-40B4-BE49-F238E27FC236}">
                <a16:creationId xmlns:a16="http://schemas.microsoft.com/office/drawing/2014/main" id="{9475DB8B-7B43-4FB0-060D-B6DC7051C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571" b="-3"/>
          <a:stretch>
            <a:fillRect/>
          </a:stretch>
        </p:blipFill>
        <p:spPr bwMode="auto">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09E3B4C-E256-5402-9EFE-A8F1643822C0}"/>
              </a:ext>
            </a:extLst>
          </p:cNvPr>
          <p:cNvSpPr txBox="1"/>
          <p:nvPr/>
        </p:nvSpPr>
        <p:spPr>
          <a:xfrm>
            <a:off x="6200384" y="808346"/>
            <a:ext cx="5812077" cy="5445076"/>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endParaRPr lang="en-US" b="1" dirty="0"/>
          </a:p>
          <a:p>
            <a:pPr marL="342900" indent="-228600">
              <a:lnSpc>
                <a:spcPct val="90000"/>
              </a:lnSpc>
              <a:spcAft>
                <a:spcPts val="600"/>
              </a:spcAft>
              <a:buFont typeface="Arial" panose="020B0604020202020204" pitchFamily="34" charset="0"/>
              <a:buChar char="•"/>
            </a:pPr>
            <a:r>
              <a:rPr lang="en-US" dirty="0"/>
              <a:t>Pre-loaded trailers and a central warehouse</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r>
              <a:rPr lang="en-US" dirty="0"/>
              <a:t>Daily requestions of needed supplies including non-standard requests</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r>
              <a:rPr lang="en-US" dirty="0"/>
              <a:t>Ongoing support to identify client recovery needs and aid in their short and long term planning</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r>
              <a:rPr lang="en-US" dirty="0"/>
              <a:t>Reunification teams to connect clients with others and with concerned outside parties </a:t>
            </a:r>
            <a:r>
              <a:rPr lang="en-US" u="sng" dirty="0"/>
              <a:t>with client consent</a:t>
            </a:r>
          </a:p>
          <a:p>
            <a:pPr indent="-228600">
              <a:lnSpc>
                <a:spcPct val="90000"/>
              </a:lnSpc>
              <a:spcAft>
                <a:spcPts val="600"/>
              </a:spcAft>
              <a:buFont typeface="Arial" panose="020B0604020202020204" pitchFamily="34" charset="0"/>
              <a:buChar char="•"/>
            </a:pPr>
            <a:endParaRPr lang="en-US" u="sng" dirty="0"/>
          </a:p>
          <a:p>
            <a:pPr marL="342900" indent="-228600">
              <a:lnSpc>
                <a:spcPct val="90000"/>
              </a:lnSpc>
              <a:spcAft>
                <a:spcPts val="600"/>
              </a:spcAft>
              <a:buFont typeface="Arial" panose="020B0604020202020204" pitchFamily="34" charset="0"/>
              <a:buChar char="•"/>
            </a:pPr>
            <a:r>
              <a:rPr lang="en-US" dirty="0"/>
              <a:t>Constant interfacing with local EMS, the owners of the physical shelter, media federal agencies and others</a:t>
            </a:r>
          </a:p>
          <a:p>
            <a:pPr marL="342900" indent="-228600">
              <a:lnSpc>
                <a:spcPct val="90000"/>
              </a:lnSpc>
              <a:spcAft>
                <a:spcPts val="600"/>
              </a:spcAft>
              <a:buFont typeface="Arial" panose="020B0604020202020204" pitchFamily="34" charset="0"/>
              <a:buChar char="•"/>
            </a:pPr>
            <a:endParaRPr lang="en-US" dirty="0"/>
          </a:p>
          <a:p>
            <a:pPr marL="342900" indent="-228600">
              <a:lnSpc>
                <a:spcPct val="90000"/>
              </a:lnSpc>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17139525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F383CB-F5CB-EE49-839C-D08E9C8B5B51}"/>
              </a:ext>
            </a:extLst>
          </p:cNvPr>
          <p:cNvSpPr>
            <a:spLocks noGrp="1"/>
          </p:cNvSpPr>
          <p:nvPr>
            <p:ph type="title"/>
          </p:nvPr>
        </p:nvSpPr>
        <p:spPr>
          <a:xfrm>
            <a:off x="640080" y="325369"/>
            <a:ext cx="4368602" cy="1956841"/>
          </a:xfrm>
        </p:spPr>
        <p:txBody>
          <a:bodyPr vert="horz" lIns="91440" tIns="45720" rIns="91440" bIns="45720" rtlCol="0" anchor="b">
            <a:normAutofit/>
          </a:bodyPr>
          <a:lstStyle/>
          <a:p>
            <a:pPr algn="l"/>
            <a:r>
              <a:rPr lang="en-US" sz="5400">
                <a:solidFill>
                  <a:schemeClr val="tx1"/>
                </a:solidFill>
                <a:latin typeface="+mj-lt"/>
                <a:cs typeface="+mj-cs"/>
              </a:rPr>
              <a:t>Contact Information</a:t>
            </a:r>
          </a:p>
        </p:txBody>
      </p:sp>
      <p:sp>
        <p:nvSpPr>
          <p:cNvPr id="2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CD5E304-424A-FF40-BA08-AA5ACAC823A4}"/>
              </a:ext>
            </a:extLst>
          </p:cNvPr>
          <p:cNvSpPr>
            <a:spLocks noGrp="1"/>
          </p:cNvSpPr>
          <p:nvPr>
            <p:ph type="body" sz="quarter" idx="15"/>
          </p:nvPr>
        </p:nvSpPr>
        <p:spPr>
          <a:xfrm>
            <a:off x="640079" y="2872899"/>
            <a:ext cx="7877619" cy="3320668"/>
          </a:xfrm>
        </p:spPr>
        <p:txBody>
          <a:bodyPr vert="horz" lIns="91440" tIns="45720" rIns="91440" bIns="45720" rtlCol="0">
            <a:normAutofit/>
          </a:bodyPr>
          <a:lstStyle/>
          <a:p>
            <a:pPr indent="-228600" algn="l">
              <a:buFont typeface="Arial" panose="020B0604020202020204" pitchFamily="34" charset="0"/>
              <a:buChar char="•"/>
            </a:pPr>
            <a:r>
              <a:rPr lang="en-US" sz="3600" b="1" dirty="0"/>
              <a:t>Heather Gale</a:t>
            </a:r>
          </a:p>
          <a:p>
            <a:pPr indent="-228600" algn="l">
              <a:buFont typeface="Arial" panose="020B0604020202020204" pitchFamily="34" charset="0"/>
              <a:buChar char="•"/>
            </a:pPr>
            <a:r>
              <a:rPr lang="en-US" sz="3200" dirty="0" err="1"/>
              <a:t>Heather.gale@redcross.org</a:t>
            </a:r>
            <a:endParaRPr lang="en-US" sz="3200" dirty="0"/>
          </a:p>
          <a:p>
            <a:pPr indent="-228600" algn="l">
              <a:buFont typeface="Arial" panose="020B0604020202020204" pitchFamily="34" charset="0"/>
              <a:buChar char="•"/>
            </a:pPr>
            <a:r>
              <a:rPr lang="en-US" sz="3200" dirty="0"/>
              <a:t>(267) 542-9827</a:t>
            </a:r>
          </a:p>
          <a:p>
            <a:pPr indent="-228600" algn="l">
              <a:buFont typeface="Arial" panose="020B0604020202020204" pitchFamily="34" charset="0"/>
              <a:buChar char="•"/>
            </a:pPr>
            <a:r>
              <a:rPr lang="en-US" sz="3200" dirty="0">
                <a:hlinkClick r:id="rId2"/>
              </a:rPr>
              <a:t>https://www.redcross.org/volunteer</a:t>
            </a:r>
            <a:endParaRPr lang="en-US" sz="3200" dirty="0"/>
          </a:p>
          <a:p>
            <a:pPr indent="-228600" algn="l">
              <a:buFont typeface="Arial" panose="020B0604020202020204" pitchFamily="34" charset="0"/>
              <a:buChar char="•"/>
            </a:pPr>
            <a:endParaRPr lang="en-US" sz="2200" dirty="0"/>
          </a:p>
          <a:p>
            <a:pPr indent="-228600" algn="l">
              <a:buFont typeface="Arial" panose="020B0604020202020204" pitchFamily="34" charset="0"/>
              <a:buChar char="•"/>
            </a:pPr>
            <a:endParaRPr lang="en-US" sz="2200" dirty="0"/>
          </a:p>
          <a:p>
            <a:pPr indent="-228600" algn="l">
              <a:buFont typeface="Arial" panose="020B0604020202020204" pitchFamily="34" charset="0"/>
              <a:buChar char="•"/>
            </a:pPr>
            <a:endParaRPr lang="en-US" sz="2200" dirty="0"/>
          </a:p>
        </p:txBody>
      </p:sp>
      <p:pic>
        <p:nvPicPr>
          <p:cNvPr id="5" name="pasted-image.tiff" descr="pasted-image.tiff">
            <a:extLst>
              <a:ext uri="{FF2B5EF4-FFF2-40B4-BE49-F238E27FC236}">
                <a16:creationId xmlns:a16="http://schemas.microsoft.com/office/drawing/2014/main" id="{914BB5CA-E897-3C95-5918-50C481850553}"/>
              </a:ext>
            </a:extLst>
          </p:cNvPr>
          <p:cNvPicPr>
            <a:picLocks noChangeAspect="1"/>
          </p:cNvPicPr>
          <p:nvPr/>
        </p:nvPicPr>
        <p:blipFill>
          <a:blip r:embed="rId3" cstate="print"/>
          <a:srcRect l="14715" r="10058"/>
          <a:stretch>
            <a:fillRect/>
          </a:stretch>
        </p:blipFill>
        <p:spPr>
          <a:xfrm>
            <a:off x="7587650" y="1669468"/>
            <a:ext cx="3766150" cy="375477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3" name="Slide Number Placeholder 2">
            <a:extLst>
              <a:ext uri="{FF2B5EF4-FFF2-40B4-BE49-F238E27FC236}">
                <a16:creationId xmlns:a16="http://schemas.microsoft.com/office/drawing/2014/main" id="{8828F944-E668-6D4C-BB21-E408EEAE3DD7}"/>
              </a:ext>
            </a:extLst>
          </p:cNvPr>
          <p:cNvSpPr>
            <a:spLocks noGrp="1"/>
          </p:cNvSpPr>
          <p:nvPr>
            <p:ph type="sldNum" sz="quarter" idx="14"/>
          </p:nvPr>
        </p:nvSpPr>
        <p:spPr>
          <a:xfrm>
            <a:off x="10439400" y="6356350"/>
            <a:ext cx="914400" cy="365125"/>
          </a:xfrm>
        </p:spPr>
        <p:txBody>
          <a:bodyPr vert="horz" lIns="91440" tIns="45720" rIns="91440" bIns="45720" rtlCol="0" anchor="ctr">
            <a:normAutofit/>
          </a:bodyPr>
          <a:lstStyle/>
          <a:p>
            <a:pPr>
              <a:spcAft>
                <a:spcPts val="600"/>
              </a:spcAft>
              <a:defRPr/>
            </a:pPr>
            <a:fld id="{C602A7E9-85B4-EB4A-8CED-A3527A5FD66A}" type="slidenum">
              <a:rPr lang="en-US" altLang="en-US">
                <a:solidFill>
                  <a:srgbClr val="FFFFFF"/>
                </a:solidFill>
                <a:latin typeface="Calibri" panose="020F0502020204030204"/>
              </a:rPr>
              <a:pPr>
                <a:spcAft>
                  <a:spcPts val="600"/>
                </a:spcAft>
                <a:defRPr/>
              </a:pPr>
              <a:t>19</a:t>
            </a:fld>
            <a:r>
              <a:rPr lang="en-US" altLang="en-US">
                <a:solidFill>
                  <a:srgbClr val="FFFFFF"/>
                </a:solidFill>
                <a:latin typeface="Calibri" panose="020F0502020204030204"/>
              </a:rPr>
              <a:t> </a:t>
            </a:r>
          </a:p>
        </p:txBody>
      </p:sp>
    </p:spTree>
    <p:extLst>
      <p:ext uri="{BB962C8B-B14F-4D97-AF65-F5344CB8AC3E}">
        <p14:creationId xmlns:p14="http://schemas.microsoft.com/office/powerpoint/2010/main" val="3927035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1C70FB-7A12-8245-AEC3-8D1B3D2B527B}"/>
              </a:ext>
            </a:extLst>
          </p:cNvPr>
          <p:cNvSpPr>
            <a:spLocks noGrp="1"/>
          </p:cNvSpPr>
          <p:nvPr>
            <p:ph type="sldNum" sz="quarter" idx="14"/>
          </p:nvPr>
        </p:nvSpPr>
        <p:spPr/>
        <p:txBody>
          <a:bodyPr/>
          <a:lstStyle/>
          <a:p>
            <a:fld id="{C602A7E9-85B4-EB4A-8CED-A3527A5FD66A}" type="slidenum">
              <a:rPr lang="en-US" altLang="en-US" smtClean="0"/>
              <a:pPr/>
              <a:t>20</a:t>
            </a:fld>
            <a:r>
              <a:rPr lang="en-US" altLang="en-US"/>
              <a:t> </a:t>
            </a:r>
            <a:endParaRPr lang="en-US" altLang="en-US" dirty="0"/>
          </a:p>
        </p:txBody>
      </p:sp>
    </p:spTree>
    <p:extLst>
      <p:ext uri="{BB962C8B-B14F-4D97-AF65-F5344CB8AC3E}">
        <p14:creationId xmlns:p14="http://schemas.microsoft.com/office/powerpoint/2010/main" val="26880644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EFE0FBC03247B4B905B7B9E047DB519" ma:contentTypeVersion="7" ma:contentTypeDescription="Create a new document." ma:contentTypeScope="" ma:versionID="2c3431a34ffe6c3788a809b918f3eca2">
  <xsd:schema xmlns:xsd="http://www.w3.org/2001/XMLSchema" xmlns:xs="http://www.w3.org/2001/XMLSchema" xmlns:p="http://schemas.microsoft.com/office/2006/metadata/properties" xmlns:ns2="df07d063-04fc-4c3c-8eb9-4acd1148917c" targetNamespace="http://schemas.microsoft.com/office/2006/metadata/properties" ma:root="true" ma:fieldsID="c5e650c65bbf82a67b09b6457738d53b" ns2:_="">
    <xsd:import namespace="df07d063-04fc-4c3c-8eb9-4acd1148917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07d063-04fc-4c3c-8eb9-4acd114891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69DB28-C94D-406E-A2E4-530257ABF5BF}"/>
</file>

<file path=customXml/itemProps2.xml><?xml version="1.0" encoding="utf-8"?>
<ds:datastoreItem xmlns:ds="http://schemas.openxmlformats.org/officeDocument/2006/customXml" ds:itemID="{75F7DB61-C743-40A6-9621-3F33556B1260}"/>
</file>

<file path=customXml/itemProps3.xml><?xml version="1.0" encoding="utf-8"?>
<ds:datastoreItem xmlns:ds="http://schemas.openxmlformats.org/officeDocument/2006/customXml" ds:itemID="{C55EDC9B-631B-48CA-9623-1181A498A0E9}"/>
</file>

<file path=docProps/app.xml><?xml version="1.0" encoding="utf-8"?>
<Properties xmlns="http://schemas.openxmlformats.org/officeDocument/2006/extended-properties" xmlns:vt="http://schemas.openxmlformats.org/officeDocument/2006/docPropsVTypes">
  <TotalTime>193</TotalTime>
  <Words>2308</Words>
  <Application>Microsoft Macintosh PowerPoint</Application>
  <PresentationFormat>Widescreen</PresentationFormat>
  <Paragraphs>257</Paragraphs>
  <Slides>20</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Display</vt:lpstr>
      <vt:lpstr>Arial</vt:lpstr>
      <vt:lpstr>Calibri</vt:lpstr>
      <vt:lpstr>Calibri Light</vt:lpstr>
      <vt:lpstr>Georgia</vt:lpstr>
      <vt:lpstr>Office Theme</vt:lpstr>
      <vt:lpstr>PowerPoint Presentation</vt:lpstr>
      <vt:lpstr>The American Red Cross prevents and alleviates human suffering in the face of emergencies by mobilizing the power of volunteers and the generosity of donors</vt:lpstr>
      <vt:lpstr> SOUTHEASTERN  PA REGION</vt:lpstr>
      <vt:lpstr>PowerPoint Presentation</vt:lpstr>
      <vt:lpstr>DISASTER CYCLE SERVICES (DCS)</vt:lpstr>
      <vt:lpstr>Organizational Preparedness:</vt:lpstr>
      <vt:lpstr>DISASTER ACTION TEAM (DAT)</vt:lpstr>
      <vt:lpstr>The Client Care Program (CCP) </vt:lpstr>
      <vt:lpstr>PowerPoint Presentation</vt:lpstr>
      <vt:lpstr>PowerPoint Presentation</vt:lpstr>
      <vt:lpstr>PowerPoint Presentation</vt:lpstr>
      <vt:lpstr>PowerPoint Presentation</vt:lpstr>
      <vt:lpstr>PowerPoint Presentation</vt:lpstr>
      <vt:lpstr>CLIENT FIRST SHELTERING</vt:lpstr>
      <vt:lpstr>YOU ARE ALWAYS SUPPORTED</vt:lpstr>
      <vt:lpstr>FUNCTIONAL AREAS</vt:lpstr>
      <vt:lpstr>PowerPoint Presentation</vt:lpstr>
      <vt:lpstr>PowerPoint Presentation</vt:lpstr>
      <vt:lpstr>Contact Information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Snyder, Sean</dc:creator>
  <cp:lastModifiedBy>Snyder, Sean</cp:lastModifiedBy>
  <cp:revision>11</cp:revision>
  <dcterms:created xsi:type="dcterms:W3CDTF">2026-03-23T17:29:44Z</dcterms:created>
  <dcterms:modified xsi:type="dcterms:W3CDTF">2026-03-24T04:55:06Z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0x0101000EFE0FBC03247B4B905B7B9E047DB519</vt:lpwstr>
  </property>
</Properties>
</file>